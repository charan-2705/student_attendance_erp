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8"/>
  </p:notesMasterIdLst>
  <p:sldIdLst>
    <p:sldId id="328" r:id="rId2"/>
    <p:sldId id="330" r:id="rId3"/>
    <p:sldId id="331" r:id="rId4"/>
    <p:sldId id="332" r:id="rId5"/>
    <p:sldId id="333" r:id="rId6"/>
    <p:sldId id="334" r:id="rId7"/>
    <p:sldId id="256" r:id="rId8"/>
    <p:sldId id="257" r:id="rId9"/>
    <p:sldId id="258" r:id="rId10"/>
    <p:sldId id="259" r:id="rId11"/>
    <p:sldId id="260" r:id="rId12"/>
    <p:sldId id="261" r:id="rId13"/>
    <p:sldId id="264" r:id="rId14"/>
    <p:sldId id="265" r:id="rId15"/>
    <p:sldId id="266" r:id="rId16"/>
    <p:sldId id="269" r:id="rId17"/>
    <p:sldId id="267" r:id="rId18"/>
    <p:sldId id="268" r:id="rId19"/>
    <p:sldId id="271" r:id="rId20"/>
    <p:sldId id="272" r:id="rId21"/>
    <p:sldId id="273" r:id="rId22"/>
    <p:sldId id="292" r:id="rId23"/>
    <p:sldId id="293" r:id="rId24"/>
    <p:sldId id="294" r:id="rId25"/>
    <p:sldId id="295" r:id="rId26"/>
    <p:sldId id="296" r:id="rId27"/>
    <p:sldId id="297" r:id="rId28"/>
    <p:sldId id="298" r:id="rId29"/>
    <p:sldId id="307" r:id="rId30"/>
    <p:sldId id="313" r:id="rId31"/>
    <p:sldId id="314" r:id="rId32"/>
    <p:sldId id="310" r:id="rId33"/>
    <p:sldId id="274" r:id="rId34"/>
    <p:sldId id="275" r:id="rId35"/>
    <p:sldId id="276" r:id="rId36"/>
    <p:sldId id="278" r:id="rId37"/>
    <p:sldId id="279" r:id="rId38"/>
    <p:sldId id="277" r:id="rId39"/>
    <p:sldId id="358" r:id="rId40"/>
    <p:sldId id="315" r:id="rId41"/>
    <p:sldId id="316" r:id="rId42"/>
    <p:sldId id="317" r:id="rId43"/>
    <p:sldId id="318" r:id="rId44"/>
    <p:sldId id="320" r:id="rId45"/>
    <p:sldId id="357" r:id="rId46"/>
    <p:sldId id="282" r:id="rId47"/>
    <p:sldId id="311" r:id="rId48"/>
    <p:sldId id="283" r:id="rId49"/>
    <p:sldId id="284" r:id="rId50"/>
    <p:sldId id="285" r:id="rId51"/>
    <p:sldId id="286" r:id="rId52"/>
    <p:sldId id="321" r:id="rId53"/>
    <p:sldId id="322" r:id="rId54"/>
    <p:sldId id="323" r:id="rId55"/>
    <p:sldId id="324" r:id="rId56"/>
    <p:sldId id="325" r:id="rId57"/>
    <p:sldId id="335" r:id="rId58"/>
    <p:sldId id="337" r:id="rId59"/>
    <p:sldId id="338" r:id="rId60"/>
    <p:sldId id="339" r:id="rId61"/>
    <p:sldId id="356" r:id="rId62"/>
    <p:sldId id="341" r:id="rId63"/>
    <p:sldId id="359" r:id="rId64"/>
    <p:sldId id="342" r:id="rId65"/>
    <p:sldId id="360" r:id="rId66"/>
    <p:sldId id="344" r:id="rId67"/>
    <p:sldId id="361" r:id="rId68"/>
    <p:sldId id="346" r:id="rId69"/>
    <p:sldId id="362" r:id="rId70"/>
    <p:sldId id="347" r:id="rId71"/>
    <p:sldId id="363" r:id="rId72"/>
    <p:sldId id="348" r:id="rId73"/>
    <p:sldId id="365" r:id="rId74"/>
    <p:sldId id="349" r:id="rId75"/>
    <p:sldId id="366" r:id="rId76"/>
    <p:sldId id="355" r:id="rId77"/>
    <p:sldId id="367" r:id="rId78"/>
    <p:sldId id="368" r:id="rId79"/>
    <p:sldId id="353" r:id="rId80"/>
    <p:sldId id="354" r:id="rId81"/>
    <p:sldId id="369" r:id="rId82"/>
    <p:sldId id="370" r:id="rId83"/>
    <p:sldId id="371" r:id="rId84"/>
    <p:sldId id="372" r:id="rId85"/>
    <p:sldId id="373" r:id="rId86"/>
    <p:sldId id="374" r:id="rId87"/>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A3FAAC-06FB-431C-B414-7B1BF867640D}" v="14" dt="2025-07-03T14:49:32.86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94673" autoAdjust="0"/>
  </p:normalViewPr>
  <p:slideViewPr>
    <p:cSldViewPr>
      <p:cViewPr varScale="1">
        <p:scale>
          <a:sx n="91" d="100"/>
          <a:sy n="91" d="100"/>
        </p:scale>
        <p:origin x="1229" y="58"/>
      </p:cViewPr>
      <p:guideLst>
        <p:guide orient="horz" pos="2880"/>
        <p:guide pos="2160"/>
      </p:guideLst>
    </p:cSldViewPr>
  </p:slideViewPr>
  <p:outlineViewPr>
    <p:cViewPr>
      <p:scale>
        <a:sx n="33" d="100"/>
        <a:sy n="33" d="100"/>
      </p:scale>
      <p:origin x="67" y="22882"/>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7D6B968F-F932-4739-8A8B-2BEF7E99606B}" type="datetimeFigureOut">
              <a:rPr lang="en-US" smtClean="0"/>
              <a:pPr/>
              <a:t>7/3/2025</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D68EF9B8-FF75-4A55-A9F2-9FFF5618C97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en.wikipedia.org/wiki/Electrical_connector" TargetMode="External"/><Relationship Id="rId2" Type="http://schemas.openxmlformats.org/officeDocument/2006/relationships/slide" Target="../slides/slide62.xml"/><Relationship Id="rId1" Type="http://schemas.openxmlformats.org/officeDocument/2006/relationships/notesMaster" Target="../notesMasters/notesMaster1.xml"/><Relationship Id="rId5" Type="http://schemas.openxmlformats.org/officeDocument/2006/relationships/hyperlink" Target="http://en.wikipedia.org/wiki/Transmission_medium" TargetMode="External"/><Relationship Id="rId4" Type="http://schemas.openxmlformats.org/officeDocument/2006/relationships/hyperlink" Target="http://en.wikipedia.org/wiki/Communication"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p:spPr>
      </p:sp>
      <p:sp>
        <p:nvSpPr>
          <p:cNvPr id="29699" name="Notes Placeholder 2"/>
          <p:cNvSpPr>
            <a:spLocks noGrp="1"/>
          </p:cNvSpPr>
          <p:nvPr>
            <p:ph type="body" idx="1"/>
          </p:nvPr>
        </p:nvSpPr>
        <p:spPr bwMode="auto">
          <a:noFill/>
        </p:spPr>
        <p:txBody>
          <a:bodyPr/>
          <a:lstStyle/>
          <a:p>
            <a:pPr eaLnBrk="1" hangingPunct="1">
              <a:spcBef>
                <a:spcPct val="0"/>
              </a:spcBef>
            </a:pPr>
            <a:endParaRPr lang="zh-TW" altLang="en-US"/>
          </a:p>
        </p:txBody>
      </p:sp>
      <p:sp>
        <p:nvSpPr>
          <p:cNvPr id="29700" name="Slide Number Placeholder 3"/>
          <p:cNvSpPr>
            <a:spLocks noGrp="1"/>
          </p:cNvSpPr>
          <p:nvPr>
            <p:ph type="sldNum" sz="quarter" idx="5"/>
          </p:nvPr>
        </p:nvSpPr>
        <p:spPr bwMode="auto">
          <a:noFill/>
          <a:ln>
            <a:miter lim="800000"/>
            <a:headEnd/>
            <a:tailEnd/>
          </a:ln>
        </p:spPr>
        <p:txBody>
          <a:bodyPr/>
          <a:lstStyle/>
          <a:p>
            <a:fld id="{0E502312-B0BE-456C-B512-139279E2DC78}" type="slidenum">
              <a:rPr lang="zh-TW" altLang="en-US" smtClean="0"/>
              <a:pPr/>
              <a:t>58</a:t>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p:spPr>
      </p:sp>
      <p:sp>
        <p:nvSpPr>
          <p:cNvPr id="30723" name="Notes Placeholder 2"/>
          <p:cNvSpPr>
            <a:spLocks noGrp="1"/>
          </p:cNvSpPr>
          <p:nvPr>
            <p:ph type="body" idx="1"/>
          </p:nvPr>
        </p:nvSpPr>
        <p:spPr bwMode="auto">
          <a:noFill/>
        </p:spPr>
        <p:txBody>
          <a:bodyPr/>
          <a:lstStyle/>
          <a:p>
            <a:pPr eaLnBrk="1" hangingPunct="1">
              <a:spcBef>
                <a:spcPct val="0"/>
              </a:spcBef>
            </a:pPr>
            <a:endParaRPr lang="zh-TW" altLang="en-US"/>
          </a:p>
        </p:txBody>
      </p:sp>
      <p:sp>
        <p:nvSpPr>
          <p:cNvPr id="30724" name="Slide Number Placeholder 3"/>
          <p:cNvSpPr>
            <a:spLocks noGrp="1"/>
          </p:cNvSpPr>
          <p:nvPr>
            <p:ph type="sldNum" sz="quarter" idx="5"/>
          </p:nvPr>
        </p:nvSpPr>
        <p:spPr bwMode="auto">
          <a:noFill/>
          <a:ln>
            <a:miter lim="800000"/>
            <a:headEnd/>
            <a:tailEnd/>
          </a:ln>
        </p:spPr>
        <p:txBody>
          <a:bodyPr/>
          <a:lstStyle/>
          <a:p>
            <a:fld id="{533945FA-28A9-40EA-BE87-E40046E6B65A}" type="slidenum">
              <a:rPr lang="zh-TW" altLang="en-US" smtClean="0"/>
              <a:pPr/>
              <a:t>59</a:t>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p:spPr>
      </p:sp>
      <p:sp>
        <p:nvSpPr>
          <p:cNvPr id="31747" name="Notes Placeholder 2"/>
          <p:cNvSpPr>
            <a:spLocks noGrp="1"/>
          </p:cNvSpPr>
          <p:nvPr>
            <p:ph type="body" idx="1"/>
          </p:nvPr>
        </p:nvSpPr>
        <p:spPr bwMode="auto">
          <a:noFill/>
        </p:spPr>
        <p:txBody>
          <a:bodyPr/>
          <a:lstStyle/>
          <a:p>
            <a:pPr eaLnBrk="1" hangingPunct="1">
              <a:spcBef>
                <a:spcPct val="0"/>
              </a:spcBef>
            </a:pPr>
            <a:endParaRPr lang="zh-TW" altLang="en-US"/>
          </a:p>
        </p:txBody>
      </p:sp>
      <p:sp>
        <p:nvSpPr>
          <p:cNvPr id="31748" name="Slide Number Placeholder 3"/>
          <p:cNvSpPr>
            <a:spLocks noGrp="1"/>
          </p:cNvSpPr>
          <p:nvPr>
            <p:ph type="sldNum" sz="quarter" idx="5"/>
          </p:nvPr>
        </p:nvSpPr>
        <p:spPr bwMode="auto">
          <a:noFill/>
          <a:ln>
            <a:miter lim="800000"/>
            <a:headEnd/>
            <a:tailEnd/>
          </a:ln>
        </p:spPr>
        <p:txBody>
          <a:bodyPr/>
          <a:lstStyle/>
          <a:p>
            <a:fld id="{DF872E83-F989-4C14-93AB-BF5000C471E8}" type="slidenum">
              <a:rPr lang="zh-TW" altLang="en-US" smtClean="0"/>
              <a:pPr/>
              <a:t>60</a:t>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p:spPr>
      </p:sp>
      <p:sp>
        <p:nvSpPr>
          <p:cNvPr id="33795" name="Notes Placeholder 2"/>
          <p:cNvSpPr>
            <a:spLocks noGrp="1"/>
          </p:cNvSpPr>
          <p:nvPr>
            <p:ph type="body" idx="1"/>
          </p:nvPr>
        </p:nvSpPr>
        <p:spPr bwMode="auto">
          <a:noFill/>
        </p:spPr>
        <p:txBody>
          <a:bodyPr/>
          <a:lstStyle/>
          <a:p>
            <a:pPr eaLnBrk="1" hangingPunct="1">
              <a:spcBef>
                <a:spcPct val="0"/>
              </a:spcBef>
            </a:pPr>
            <a:r>
              <a:rPr lang="en-US" altLang="zh-TW"/>
              <a:t>Establishment and termination of a </a:t>
            </a:r>
            <a:r>
              <a:rPr lang="en-US" altLang="zh-TW">
                <a:hlinkClick r:id="rId3" action="ppaction://hlinkfile" tooltip="Electrical connector"/>
              </a:rPr>
              <a:t>connection</a:t>
            </a:r>
            <a:r>
              <a:rPr lang="en-US" altLang="zh-TW"/>
              <a:t> to a </a:t>
            </a:r>
            <a:r>
              <a:rPr lang="en-US" altLang="zh-TW">
                <a:hlinkClick r:id="rId4" action="ppaction://hlinkfile" tooltip="Communication"/>
              </a:rPr>
              <a:t>communications</a:t>
            </a:r>
            <a:r>
              <a:rPr lang="en-US" altLang="zh-TW"/>
              <a:t> </a:t>
            </a:r>
            <a:r>
              <a:rPr lang="en-US" altLang="zh-TW">
                <a:hlinkClick r:id="rId5" action="ppaction://hlinkfile" tooltip="Transmission medium"/>
              </a:rPr>
              <a:t>medium</a:t>
            </a:r>
            <a:r>
              <a:rPr lang="en-US" altLang="zh-TW"/>
              <a:t>.</a:t>
            </a:r>
            <a:endParaRPr lang="zh-TW" altLang="en-US"/>
          </a:p>
        </p:txBody>
      </p:sp>
      <p:sp>
        <p:nvSpPr>
          <p:cNvPr id="33796" name="Slide Number Placeholder 3"/>
          <p:cNvSpPr>
            <a:spLocks noGrp="1"/>
          </p:cNvSpPr>
          <p:nvPr>
            <p:ph type="sldNum" sz="quarter" idx="5"/>
          </p:nvPr>
        </p:nvSpPr>
        <p:spPr bwMode="auto">
          <a:noFill/>
          <a:ln>
            <a:miter lim="800000"/>
            <a:headEnd/>
            <a:tailEnd/>
          </a:ln>
        </p:spPr>
        <p:txBody>
          <a:bodyPr/>
          <a:lstStyle/>
          <a:p>
            <a:fld id="{CEDC3DF1-BC60-4CFE-8E02-3DCBD758448C}" type="slidenum">
              <a:rPr lang="zh-TW" altLang="en-US" smtClean="0"/>
              <a:pPr/>
              <a:t>62</a:t>
            </a:fld>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a:lstStyle/>
          <a:p>
            <a:pPr eaLnBrk="1" hangingPunct="1">
              <a:spcBef>
                <a:spcPct val="0"/>
              </a:spcBef>
            </a:pPr>
            <a:endParaRPr lang="zh-TW" altLang="en-US"/>
          </a:p>
        </p:txBody>
      </p:sp>
      <p:sp>
        <p:nvSpPr>
          <p:cNvPr id="34820" name="Slide Number Placeholder 3"/>
          <p:cNvSpPr>
            <a:spLocks noGrp="1"/>
          </p:cNvSpPr>
          <p:nvPr>
            <p:ph type="sldNum" sz="quarter" idx="5"/>
          </p:nvPr>
        </p:nvSpPr>
        <p:spPr bwMode="auto">
          <a:noFill/>
          <a:ln>
            <a:miter lim="800000"/>
            <a:headEnd/>
            <a:tailEnd/>
          </a:ln>
        </p:spPr>
        <p:txBody>
          <a:bodyPr/>
          <a:lstStyle/>
          <a:p>
            <a:fld id="{2A4EC877-99FD-4F1F-8FEC-9B3EF194457D}" type="slidenum">
              <a:rPr lang="zh-TW" altLang="en-US" smtClean="0"/>
              <a:pPr/>
              <a:t>64</a:t>
            </a:fld>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p:spPr>
      </p:sp>
      <p:sp>
        <p:nvSpPr>
          <p:cNvPr id="36867" name="Notes Placeholder 2"/>
          <p:cNvSpPr>
            <a:spLocks noGrp="1"/>
          </p:cNvSpPr>
          <p:nvPr>
            <p:ph type="body" idx="1"/>
          </p:nvPr>
        </p:nvSpPr>
        <p:spPr bwMode="auto">
          <a:noFill/>
        </p:spPr>
        <p:txBody>
          <a:bodyPr/>
          <a:lstStyle/>
          <a:p>
            <a:pPr eaLnBrk="1" hangingPunct="1">
              <a:spcBef>
                <a:spcPct val="0"/>
              </a:spcBef>
            </a:pPr>
            <a:endParaRPr lang="zh-TW" altLang="en-US"/>
          </a:p>
        </p:txBody>
      </p:sp>
      <p:sp>
        <p:nvSpPr>
          <p:cNvPr id="36868" name="Slide Number Placeholder 3"/>
          <p:cNvSpPr>
            <a:spLocks noGrp="1"/>
          </p:cNvSpPr>
          <p:nvPr>
            <p:ph type="sldNum" sz="quarter" idx="5"/>
          </p:nvPr>
        </p:nvSpPr>
        <p:spPr bwMode="auto">
          <a:noFill/>
          <a:ln>
            <a:miter lim="800000"/>
            <a:headEnd/>
            <a:tailEnd/>
          </a:ln>
        </p:spPr>
        <p:txBody>
          <a:bodyPr/>
          <a:lstStyle/>
          <a:p>
            <a:fld id="{3A1BB1E1-FF00-4503-937A-EA99C5A00E5C}" type="slidenum">
              <a:rPr lang="zh-TW" altLang="en-US" smtClean="0"/>
              <a:pPr/>
              <a:t>66</a:t>
            </a:fld>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a:lstStyle/>
          <a:p>
            <a:pPr eaLnBrk="1" hangingPunct="1">
              <a:spcBef>
                <a:spcPct val="0"/>
              </a:spcBef>
            </a:pPr>
            <a:endParaRPr lang="zh-TW" altLang="en-US"/>
          </a:p>
        </p:txBody>
      </p:sp>
      <p:sp>
        <p:nvSpPr>
          <p:cNvPr id="38916" name="Slide Number Placeholder 3"/>
          <p:cNvSpPr>
            <a:spLocks noGrp="1"/>
          </p:cNvSpPr>
          <p:nvPr>
            <p:ph type="sldNum" sz="quarter" idx="5"/>
          </p:nvPr>
        </p:nvSpPr>
        <p:spPr bwMode="auto">
          <a:noFill/>
          <a:ln>
            <a:miter lim="800000"/>
            <a:headEnd/>
            <a:tailEnd/>
          </a:ln>
        </p:spPr>
        <p:txBody>
          <a:bodyPr/>
          <a:lstStyle/>
          <a:p>
            <a:fld id="{25F46385-BFA5-4BFE-94CF-95CB2306F6A5}" type="slidenum">
              <a:rPr lang="zh-TW" altLang="en-US" smtClean="0"/>
              <a:pPr/>
              <a:t>68</a:t>
            </a:fld>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p:spPr>
      </p:sp>
      <p:sp>
        <p:nvSpPr>
          <p:cNvPr id="39939" name="Notes Placeholder 2"/>
          <p:cNvSpPr>
            <a:spLocks noGrp="1"/>
          </p:cNvSpPr>
          <p:nvPr>
            <p:ph type="body" idx="1"/>
          </p:nvPr>
        </p:nvSpPr>
        <p:spPr bwMode="auto">
          <a:noFill/>
        </p:spPr>
        <p:txBody>
          <a:bodyPr/>
          <a:lstStyle/>
          <a:p>
            <a:pPr eaLnBrk="1" hangingPunct="1">
              <a:spcBef>
                <a:spcPct val="0"/>
              </a:spcBef>
            </a:pPr>
            <a:endParaRPr lang="zh-TW" altLang="en-US"/>
          </a:p>
        </p:txBody>
      </p:sp>
      <p:sp>
        <p:nvSpPr>
          <p:cNvPr id="39940" name="Slide Number Placeholder 3"/>
          <p:cNvSpPr>
            <a:spLocks noGrp="1"/>
          </p:cNvSpPr>
          <p:nvPr>
            <p:ph type="sldNum" sz="quarter" idx="5"/>
          </p:nvPr>
        </p:nvSpPr>
        <p:spPr bwMode="auto">
          <a:noFill/>
          <a:ln>
            <a:miter lim="800000"/>
            <a:headEnd/>
            <a:tailEnd/>
          </a:ln>
        </p:spPr>
        <p:txBody>
          <a:bodyPr/>
          <a:lstStyle/>
          <a:p>
            <a:fld id="{2672135D-FE4B-4E0E-A634-AD8865CF1F80}" type="slidenum">
              <a:rPr lang="zh-TW" altLang="en-US" smtClean="0"/>
              <a:pPr/>
              <a:t>70</a:t>
            </a:fld>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p:spPr>
      </p:sp>
      <p:sp>
        <p:nvSpPr>
          <p:cNvPr id="40963" name="Notes Placeholder 2"/>
          <p:cNvSpPr>
            <a:spLocks noGrp="1"/>
          </p:cNvSpPr>
          <p:nvPr>
            <p:ph type="body" idx="1"/>
          </p:nvPr>
        </p:nvSpPr>
        <p:spPr bwMode="auto">
          <a:noFill/>
        </p:spPr>
        <p:txBody>
          <a:bodyPr/>
          <a:lstStyle/>
          <a:p>
            <a:pPr eaLnBrk="1" hangingPunct="1">
              <a:spcBef>
                <a:spcPct val="0"/>
              </a:spcBef>
            </a:pPr>
            <a:endParaRPr lang="zh-TW" altLang="en-US"/>
          </a:p>
        </p:txBody>
      </p:sp>
      <p:sp>
        <p:nvSpPr>
          <p:cNvPr id="40964" name="Slide Number Placeholder 3"/>
          <p:cNvSpPr>
            <a:spLocks noGrp="1"/>
          </p:cNvSpPr>
          <p:nvPr>
            <p:ph type="sldNum" sz="quarter" idx="5"/>
          </p:nvPr>
        </p:nvSpPr>
        <p:spPr bwMode="auto">
          <a:noFill/>
          <a:ln>
            <a:miter lim="800000"/>
            <a:headEnd/>
            <a:tailEnd/>
          </a:ln>
        </p:spPr>
        <p:txBody>
          <a:bodyPr/>
          <a:lstStyle/>
          <a:p>
            <a:fld id="{0B28970B-2E99-409F-BB9A-B35BE69AB128}" type="slidenum">
              <a:rPr lang="zh-TW" altLang="en-US" smtClean="0"/>
              <a:pPr/>
              <a:t>72</a:t>
            </a:fld>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p:spPr>
      </p:sp>
      <p:sp>
        <p:nvSpPr>
          <p:cNvPr id="41987" name="Notes Placeholder 2"/>
          <p:cNvSpPr>
            <a:spLocks noGrp="1"/>
          </p:cNvSpPr>
          <p:nvPr>
            <p:ph type="body" idx="1"/>
          </p:nvPr>
        </p:nvSpPr>
        <p:spPr bwMode="auto">
          <a:noFill/>
        </p:spPr>
        <p:txBody>
          <a:bodyPr/>
          <a:lstStyle/>
          <a:p>
            <a:pPr eaLnBrk="1" hangingPunct="1">
              <a:spcBef>
                <a:spcPct val="0"/>
              </a:spcBef>
            </a:pPr>
            <a:endParaRPr lang="zh-TW" altLang="en-US"/>
          </a:p>
        </p:txBody>
      </p:sp>
      <p:sp>
        <p:nvSpPr>
          <p:cNvPr id="41988" name="Slide Number Placeholder 3"/>
          <p:cNvSpPr>
            <a:spLocks noGrp="1"/>
          </p:cNvSpPr>
          <p:nvPr>
            <p:ph type="sldNum" sz="quarter" idx="5"/>
          </p:nvPr>
        </p:nvSpPr>
        <p:spPr bwMode="auto">
          <a:noFill/>
          <a:ln>
            <a:miter lim="800000"/>
            <a:headEnd/>
            <a:tailEnd/>
          </a:ln>
        </p:spPr>
        <p:txBody>
          <a:bodyPr/>
          <a:lstStyle/>
          <a:p>
            <a:fld id="{09AE2EE0-435D-4413-ACB9-A2880D6B2D31}" type="slidenum">
              <a:rPr lang="zh-TW" altLang="en-US" smtClean="0"/>
              <a:pPr/>
              <a:t>74</a:t>
            </a:fld>
            <a:endParaRPr lang="zh-TW"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p:spPr>
      </p:sp>
      <p:sp>
        <p:nvSpPr>
          <p:cNvPr id="46083" name="Notes Placeholder 2"/>
          <p:cNvSpPr>
            <a:spLocks noGrp="1"/>
          </p:cNvSpPr>
          <p:nvPr>
            <p:ph type="body" idx="1"/>
          </p:nvPr>
        </p:nvSpPr>
        <p:spPr bwMode="auto">
          <a:noFill/>
        </p:spPr>
        <p:txBody>
          <a:bodyPr/>
          <a:lstStyle/>
          <a:p>
            <a:pPr eaLnBrk="1" hangingPunct="1">
              <a:spcBef>
                <a:spcPct val="0"/>
              </a:spcBef>
            </a:pPr>
            <a:endParaRPr lang="zh-TW" altLang="en-US"/>
          </a:p>
        </p:txBody>
      </p:sp>
      <p:sp>
        <p:nvSpPr>
          <p:cNvPr id="46084" name="Slide Number Placeholder 3"/>
          <p:cNvSpPr>
            <a:spLocks noGrp="1"/>
          </p:cNvSpPr>
          <p:nvPr>
            <p:ph type="sldNum" sz="quarter" idx="5"/>
          </p:nvPr>
        </p:nvSpPr>
        <p:spPr bwMode="auto">
          <a:noFill/>
          <a:ln>
            <a:miter lim="800000"/>
            <a:headEnd/>
            <a:tailEnd/>
          </a:ln>
        </p:spPr>
        <p:txBody>
          <a:bodyPr/>
          <a:lstStyle/>
          <a:p>
            <a:fld id="{75075617-7DE5-4436-BB6B-BA474BF51CDB}" type="slidenum">
              <a:rPr lang="zh-TW" altLang="en-US" smtClean="0"/>
              <a:pPr/>
              <a:t>79</a:t>
            </a:fld>
            <a:endParaRPr lang="zh-TW"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47107" name="Notes Placeholder 2"/>
          <p:cNvSpPr>
            <a:spLocks noGrp="1"/>
          </p:cNvSpPr>
          <p:nvPr>
            <p:ph type="body" idx="1"/>
          </p:nvPr>
        </p:nvSpPr>
        <p:spPr bwMode="auto">
          <a:noFill/>
        </p:spPr>
        <p:txBody>
          <a:bodyPr/>
          <a:lstStyle/>
          <a:p>
            <a:pPr eaLnBrk="1" hangingPunct="1">
              <a:spcBef>
                <a:spcPct val="0"/>
              </a:spcBef>
            </a:pPr>
            <a:endParaRPr lang="zh-TW" altLang="en-US"/>
          </a:p>
        </p:txBody>
      </p:sp>
      <p:sp>
        <p:nvSpPr>
          <p:cNvPr id="47108" name="Slide Number Placeholder 3"/>
          <p:cNvSpPr>
            <a:spLocks noGrp="1"/>
          </p:cNvSpPr>
          <p:nvPr>
            <p:ph type="sldNum" sz="quarter" idx="5"/>
          </p:nvPr>
        </p:nvSpPr>
        <p:spPr bwMode="auto">
          <a:noFill/>
          <a:ln>
            <a:miter lim="800000"/>
            <a:headEnd/>
            <a:tailEnd/>
          </a:ln>
        </p:spPr>
        <p:txBody>
          <a:bodyPr/>
          <a:lstStyle/>
          <a:p>
            <a:fld id="{B1A84CA8-58DE-4DCB-8F0A-5574305EDBD4}" type="slidenum">
              <a:rPr lang="zh-TW" altLang="en-US" smtClean="0"/>
              <a:pPr/>
              <a:t>80</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464646"/>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80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464646"/>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997577" y="1539928"/>
            <a:ext cx="3358515" cy="4031615"/>
          </a:xfrm>
          <a:prstGeom prst="rect">
            <a:avLst/>
          </a:prstGeom>
        </p:spPr>
        <p:txBody>
          <a:bodyPr wrap="square" lIns="0" tIns="0" rIns="0" bIns="0">
            <a:spAutoFit/>
          </a:bodyPr>
          <a:lstStyle>
            <a:lvl1pPr>
              <a:defRPr sz="2900" b="1" i="0" u="heavy">
                <a:solidFill>
                  <a:schemeClr val="tx1"/>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464646"/>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280160"/>
            <a:ext cx="533400" cy="228600"/>
          </a:xfrm>
          <a:custGeom>
            <a:avLst/>
            <a:gdLst/>
            <a:ahLst/>
            <a:cxnLst/>
            <a:rect l="l" t="t" r="r" b="b"/>
            <a:pathLst>
              <a:path w="533400" h="228600">
                <a:moveTo>
                  <a:pt x="533400" y="0"/>
                </a:moveTo>
                <a:lnTo>
                  <a:pt x="0" y="0"/>
                </a:lnTo>
                <a:lnTo>
                  <a:pt x="0" y="228600"/>
                </a:lnTo>
                <a:lnTo>
                  <a:pt x="533400" y="228600"/>
                </a:lnTo>
                <a:lnTo>
                  <a:pt x="533400" y="0"/>
                </a:lnTo>
                <a:close/>
              </a:path>
            </a:pathLst>
          </a:custGeom>
          <a:solidFill>
            <a:srgbClr val="DA1F28"/>
          </a:solidFill>
        </p:spPr>
        <p:txBody>
          <a:bodyPr wrap="square" lIns="0" tIns="0" rIns="0" bIns="0" rtlCol="0"/>
          <a:lstStyle/>
          <a:p>
            <a:endParaRPr/>
          </a:p>
        </p:txBody>
      </p:sp>
      <p:sp>
        <p:nvSpPr>
          <p:cNvPr id="17" name="bg object 17"/>
          <p:cNvSpPr/>
          <p:nvPr/>
        </p:nvSpPr>
        <p:spPr>
          <a:xfrm>
            <a:off x="590550" y="1280160"/>
            <a:ext cx="8553450" cy="228600"/>
          </a:xfrm>
          <a:custGeom>
            <a:avLst/>
            <a:gdLst/>
            <a:ahLst/>
            <a:cxnLst/>
            <a:rect l="l" t="t" r="r" b="b"/>
            <a:pathLst>
              <a:path w="8553450" h="228600">
                <a:moveTo>
                  <a:pt x="8553450" y="0"/>
                </a:moveTo>
                <a:lnTo>
                  <a:pt x="0" y="0"/>
                </a:lnTo>
                <a:lnTo>
                  <a:pt x="0" y="228600"/>
                </a:lnTo>
                <a:lnTo>
                  <a:pt x="8553450" y="228600"/>
                </a:lnTo>
                <a:lnTo>
                  <a:pt x="8553450" y="0"/>
                </a:lnTo>
                <a:close/>
              </a:path>
            </a:pathLst>
          </a:custGeom>
          <a:solidFill>
            <a:srgbClr val="2CA1BE"/>
          </a:solidFill>
        </p:spPr>
        <p:txBody>
          <a:bodyPr wrap="square" lIns="0" tIns="0" rIns="0" bIns="0" rtlCol="0"/>
          <a:lstStyle/>
          <a:p>
            <a:endParaRPr/>
          </a:p>
        </p:txBody>
      </p:sp>
      <p:sp>
        <p:nvSpPr>
          <p:cNvPr id="2" name="Holder 2"/>
          <p:cNvSpPr>
            <a:spLocks noGrp="1"/>
          </p:cNvSpPr>
          <p:nvPr>
            <p:ph type="title"/>
          </p:nvPr>
        </p:nvSpPr>
        <p:spPr>
          <a:xfrm>
            <a:off x="678307" y="365201"/>
            <a:ext cx="7787385" cy="697230"/>
          </a:xfrm>
          <a:prstGeom prst="rect">
            <a:avLst/>
          </a:prstGeom>
        </p:spPr>
        <p:txBody>
          <a:bodyPr wrap="square" lIns="0" tIns="0" rIns="0" bIns="0">
            <a:spAutoFit/>
          </a:bodyPr>
          <a:lstStyle>
            <a:lvl1pPr>
              <a:defRPr sz="4400" b="1" i="0">
                <a:solidFill>
                  <a:srgbClr val="464646"/>
                </a:solidFill>
                <a:latin typeface="Arial"/>
                <a:cs typeface="Arial"/>
              </a:defRPr>
            </a:lvl1pPr>
          </a:lstStyle>
          <a:p>
            <a:endParaRPr/>
          </a:p>
        </p:txBody>
      </p:sp>
      <p:sp>
        <p:nvSpPr>
          <p:cNvPr id="3" name="Holder 3"/>
          <p:cNvSpPr>
            <a:spLocks noGrp="1"/>
          </p:cNvSpPr>
          <p:nvPr>
            <p:ph type="body" idx="1"/>
          </p:nvPr>
        </p:nvSpPr>
        <p:spPr>
          <a:xfrm>
            <a:off x="528980" y="1886838"/>
            <a:ext cx="8086039" cy="3969385"/>
          </a:xfrm>
          <a:prstGeom prst="rect">
            <a:avLst/>
          </a:prstGeom>
        </p:spPr>
        <p:txBody>
          <a:bodyPr wrap="square" lIns="0" tIns="0" rIns="0" bIns="0">
            <a:spAutoFit/>
          </a:bodyPr>
          <a:lstStyle>
            <a:lvl1pPr>
              <a:defRPr sz="2800" b="1" i="0">
                <a:solidFill>
                  <a:schemeClr val="tx1"/>
                </a:solidFill>
                <a:latin typeface="Arial"/>
                <a:cs typeface="Aria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7/3/2025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ransition>
    <p:wipe dir="r"/>
  </p:transition>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image" Target="../media/image23.jpeg"/></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slideLayout" Target="../slideLayouts/slideLayout2.xml"/><Relationship Id="rId1" Type="http://schemas.openxmlformats.org/officeDocument/2006/relationships/video" Target="file:///C:\Users\INTR\Downloads\WhatsApp%20Video%202024-08-08%20at%2010.56.10%20PM.mp4"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3.gi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 y="365201"/>
            <a:ext cx="9144000" cy="690574"/>
          </a:xfrm>
          <a:prstGeom prst="rect">
            <a:avLst/>
          </a:prstGeom>
        </p:spPr>
        <p:txBody>
          <a:bodyPr vert="horz" wrap="square" lIns="0" tIns="13335" rIns="0" bIns="0" rtlCol="0">
            <a:spAutoFit/>
          </a:bodyPr>
          <a:lstStyle/>
          <a:p>
            <a:pPr marL="12700" algn="ctr">
              <a:lnSpc>
                <a:spcPct val="100000"/>
              </a:lnSpc>
              <a:spcBef>
                <a:spcPts val="105"/>
              </a:spcBef>
            </a:pPr>
            <a:r>
              <a:rPr lang="en-US" spc="-90" dirty="0"/>
              <a:t>COMPUTER NETWORKS(A8519)</a:t>
            </a:r>
            <a:endParaRPr spc="-200" dirty="0"/>
          </a:p>
        </p:txBody>
      </p:sp>
      <p:sp>
        <p:nvSpPr>
          <p:cNvPr id="5" name="Rectangle 4"/>
          <p:cNvSpPr/>
          <p:nvPr/>
        </p:nvSpPr>
        <p:spPr>
          <a:xfrm>
            <a:off x="0" y="1859340"/>
            <a:ext cx="9144000" cy="4401205"/>
          </a:xfrm>
          <a:prstGeom prst="rect">
            <a:avLst/>
          </a:prstGeom>
        </p:spPr>
        <p:txBody>
          <a:bodyPr wrap="square">
            <a:spAutoFit/>
          </a:bodyPr>
          <a:lstStyle/>
          <a:p>
            <a:r>
              <a:rPr lang="en-US" sz="2800" b="1" dirty="0"/>
              <a:t>A8519.1.</a:t>
            </a:r>
            <a:r>
              <a:rPr lang="en-US" sz="2800" dirty="0"/>
              <a:t> Identify the Reference models and Physical connections for establishing network.</a:t>
            </a:r>
          </a:p>
          <a:p>
            <a:r>
              <a:rPr lang="en-US" sz="2800" dirty="0"/>
              <a:t> </a:t>
            </a:r>
            <a:r>
              <a:rPr lang="en-US" sz="2800" b="1" dirty="0"/>
              <a:t>A8519.2.</a:t>
            </a:r>
            <a:r>
              <a:rPr lang="en-US" sz="2800" dirty="0"/>
              <a:t> Choose access control and error handling techniques for data link layer.</a:t>
            </a:r>
          </a:p>
          <a:p>
            <a:r>
              <a:rPr lang="en-US" sz="2800" dirty="0"/>
              <a:t> </a:t>
            </a:r>
            <a:r>
              <a:rPr lang="en-US" sz="2800" b="1" dirty="0"/>
              <a:t>A8519.3. </a:t>
            </a:r>
            <a:r>
              <a:rPr lang="en-US" sz="2800" dirty="0"/>
              <a:t>Examine the various routing and congestion control algorithms for packet transmission. </a:t>
            </a:r>
          </a:p>
          <a:p>
            <a:r>
              <a:rPr lang="en-US" sz="2800" b="1" dirty="0"/>
              <a:t>A8519.4. </a:t>
            </a:r>
            <a:r>
              <a:rPr lang="en-US" sz="2800" dirty="0"/>
              <a:t>Choose a transport layer protocol to provide communication services.</a:t>
            </a:r>
          </a:p>
          <a:p>
            <a:r>
              <a:rPr lang="en-US" sz="2800" dirty="0"/>
              <a:t> </a:t>
            </a:r>
            <a:r>
              <a:rPr lang="en-US" sz="2800" b="1" dirty="0"/>
              <a:t>A8519.5. </a:t>
            </a:r>
            <a:r>
              <a:rPr lang="en-US" sz="2800" dirty="0"/>
              <a:t>Identify application layer protocol for interacting with user and user applications.</a:t>
            </a: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1 Syllabus</a:t>
            </a:r>
          </a:p>
        </p:txBody>
      </p:sp>
      <p:sp>
        <p:nvSpPr>
          <p:cNvPr id="3" name="Text Placeholder 2"/>
          <p:cNvSpPr>
            <a:spLocks noGrp="1"/>
          </p:cNvSpPr>
          <p:nvPr>
            <p:ph type="body" idx="1"/>
          </p:nvPr>
        </p:nvSpPr>
        <p:spPr>
          <a:xfrm>
            <a:off x="0" y="1886838"/>
            <a:ext cx="9144000" cy="3323987"/>
          </a:xfrm>
        </p:spPr>
        <p:txBody>
          <a:bodyPr/>
          <a:lstStyle/>
          <a:p>
            <a:pPr algn="ctr"/>
            <a:r>
              <a:rPr lang="en-US" sz="3600" dirty="0"/>
              <a:t>Introduction: Network hardware, Reference models: OSI, TCP/IP, Connection oriented network and connectionless network. The Physical Layer: Guided transmission media, </a:t>
            </a:r>
            <a:r>
              <a:rPr lang="en-US" sz="3600" dirty="0" err="1"/>
              <a:t>wireless</a:t>
            </a:r>
            <a:r>
              <a:rPr lang="en-US" sz="3600" dirty="0"/>
              <a:t> transmission media. </a:t>
            </a:r>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1524000"/>
            <a:ext cx="9144000" cy="4985980"/>
          </a:xfrm>
        </p:spPr>
        <p:txBody>
          <a:bodyPr/>
          <a:lstStyle/>
          <a:p>
            <a:r>
              <a:rPr lang="en-US" sz="2500" dirty="0">
                <a:solidFill>
                  <a:srgbClr val="FF0000"/>
                </a:solidFill>
              </a:rPr>
              <a:t>Introduction: Network Hardware</a:t>
            </a:r>
          </a:p>
          <a:p>
            <a:r>
              <a:rPr lang="en-US" sz="2500" b="0" dirty="0"/>
              <a:t>Network hardware includes devices like routers, switches, hubs, and network interface cards (NICs) that enable connectivity and data transfer. These devices are essential for creating and managing both wired and wireless networks.</a:t>
            </a:r>
          </a:p>
          <a:p>
            <a:endParaRPr lang="en-US" sz="2500" dirty="0"/>
          </a:p>
          <a:p>
            <a:r>
              <a:rPr lang="en-US" sz="2500" dirty="0">
                <a:solidFill>
                  <a:srgbClr val="FF0000"/>
                </a:solidFill>
              </a:rPr>
              <a:t>Reference Models(OSI Model</a:t>
            </a:r>
            <a:r>
              <a:rPr lang="en-US" sz="2500" dirty="0"/>
              <a:t>)(Open Systems Interconnection)</a:t>
            </a:r>
          </a:p>
          <a:p>
            <a:r>
              <a:rPr lang="en-US" sz="2500" b="0" dirty="0"/>
              <a:t>A 7-layer model that standardizes networking functions from physical transmission to application-level interaction.</a:t>
            </a:r>
          </a:p>
          <a:p>
            <a:r>
              <a:rPr lang="en-US" sz="2500" b="0" dirty="0"/>
              <a:t>Layers: Physical, Data Link, Network, Transport, Session, Presentation, Application.</a:t>
            </a:r>
          </a:p>
          <a:p>
            <a:endParaRPr lang="en-US" sz="2400" dirty="0"/>
          </a:p>
        </p:txBody>
      </p:sp>
      <p:sp>
        <p:nvSpPr>
          <p:cNvPr id="4" name="Title 1"/>
          <p:cNvSpPr>
            <a:spLocks noGrp="1"/>
          </p:cNvSpPr>
          <p:nvPr>
            <p:ph type="title"/>
          </p:nvPr>
        </p:nvSpPr>
        <p:spPr>
          <a:xfrm>
            <a:off x="678307" y="365201"/>
            <a:ext cx="7787385" cy="697230"/>
          </a:xfrm>
        </p:spPr>
        <p:txBody>
          <a:bodyPr/>
          <a:lstStyle/>
          <a:p>
            <a:r>
              <a:rPr lang="en-US" dirty="0"/>
              <a:t>Unit 1 Overview</a:t>
            </a:r>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Text Placeholder 2"/>
          <p:cNvSpPr>
            <a:spLocks noGrp="1"/>
          </p:cNvSpPr>
          <p:nvPr>
            <p:ph type="body" idx="1"/>
          </p:nvPr>
        </p:nvSpPr>
        <p:spPr>
          <a:xfrm>
            <a:off x="0" y="1600200"/>
            <a:ext cx="8991600" cy="4431983"/>
          </a:xfrm>
        </p:spPr>
        <p:txBody>
          <a:bodyPr/>
          <a:lstStyle/>
          <a:p>
            <a:r>
              <a:rPr lang="en-US" dirty="0">
                <a:solidFill>
                  <a:srgbClr val="FF0000"/>
                </a:solidFill>
              </a:rPr>
              <a:t> </a:t>
            </a:r>
            <a:r>
              <a:rPr lang="en-US" sz="3200" dirty="0">
                <a:solidFill>
                  <a:srgbClr val="FF0000"/>
                </a:solidFill>
              </a:rPr>
              <a:t>TCP/IP Model</a:t>
            </a:r>
          </a:p>
          <a:p>
            <a:r>
              <a:rPr lang="en-US" sz="3200" b="0" dirty="0"/>
              <a:t>A 4-layer protocol suite used in the Internet: Link, Internet, Transport, Application.</a:t>
            </a:r>
          </a:p>
          <a:p>
            <a:r>
              <a:rPr lang="en-US" sz="3200" b="0" dirty="0"/>
              <a:t>It is a practical and widely adopted model for real-world networking.</a:t>
            </a:r>
          </a:p>
          <a:p>
            <a:r>
              <a:rPr lang="en-US" sz="3200" dirty="0">
                <a:solidFill>
                  <a:srgbClr val="FF0000"/>
                </a:solidFill>
              </a:rPr>
              <a:t>Connection-Oriented Network</a:t>
            </a:r>
          </a:p>
          <a:p>
            <a:r>
              <a:rPr lang="en-US" sz="3200" b="0" dirty="0"/>
              <a:t>Establishes a dedicated path between sender and receiver before data transfer (e.g., TCP).</a:t>
            </a:r>
          </a:p>
          <a:p>
            <a:r>
              <a:rPr lang="en-US" sz="3200" b="0" dirty="0"/>
              <a:t>Ensures reliable and ordered delivery of data.</a:t>
            </a:r>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Text Placeholder 2"/>
          <p:cNvSpPr>
            <a:spLocks noGrp="1"/>
          </p:cNvSpPr>
          <p:nvPr>
            <p:ph type="body" idx="1"/>
          </p:nvPr>
        </p:nvSpPr>
        <p:spPr>
          <a:xfrm>
            <a:off x="0" y="1524000"/>
            <a:ext cx="9144000" cy="4862870"/>
          </a:xfrm>
        </p:spPr>
        <p:txBody>
          <a:bodyPr/>
          <a:lstStyle/>
          <a:p>
            <a:r>
              <a:rPr lang="en-US" sz="3200" dirty="0">
                <a:solidFill>
                  <a:srgbClr val="FF0000"/>
                </a:solidFill>
              </a:rPr>
              <a:t>Connectionless Network</a:t>
            </a:r>
          </a:p>
          <a:p>
            <a:r>
              <a:rPr lang="en-US" sz="3200" b="0" dirty="0"/>
              <a:t>No dedicated path is established; packets are sent independently (e.g., UDP).</a:t>
            </a:r>
          </a:p>
          <a:p>
            <a:r>
              <a:rPr lang="en-US" sz="3200" b="0" dirty="0"/>
              <a:t>Faster but does not guarantee delivery or order.</a:t>
            </a:r>
          </a:p>
          <a:p>
            <a:r>
              <a:rPr lang="en-US" sz="3200" dirty="0">
                <a:solidFill>
                  <a:srgbClr val="FF0000"/>
                </a:solidFill>
              </a:rPr>
              <a:t>The Physical Layer</a:t>
            </a:r>
          </a:p>
          <a:p>
            <a:r>
              <a:rPr lang="en-US" sz="3200" b="0" dirty="0"/>
              <a:t>Deals with the transmission of raw bits over a communication channel.</a:t>
            </a:r>
          </a:p>
          <a:p>
            <a:r>
              <a:rPr lang="en-US" sz="3200" b="0" dirty="0"/>
              <a:t>Defines hardware specifications, transmission techniques, and data rates</a:t>
            </a:r>
            <a:r>
              <a:rPr lang="en-US" sz="3200" dirty="0"/>
              <a:t>.</a:t>
            </a:r>
          </a:p>
          <a:p>
            <a:endParaRPr lang="en-US" dirty="0"/>
          </a:p>
        </p:txBody>
      </p: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3" name="Text Placeholder 2"/>
          <p:cNvSpPr>
            <a:spLocks noGrp="1"/>
          </p:cNvSpPr>
          <p:nvPr>
            <p:ph type="body" idx="1"/>
          </p:nvPr>
        </p:nvSpPr>
        <p:spPr>
          <a:xfrm>
            <a:off x="0" y="1524000"/>
            <a:ext cx="9144000" cy="6001643"/>
          </a:xfrm>
        </p:spPr>
        <p:txBody>
          <a:bodyPr/>
          <a:lstStyle/>
          <a:p>
            <a:r>
              <a:rPr lang="en-US" sz="3000" dirty="0">
                <a:solidFill>
                  <a:srgbClr val="FF0000"/>
                </a:solidFill>
              </a:rPr>
              <a:t>Guided Transmission Media</a:t>
            </a:r>
          </a:p>
          <a:p>
            <a:r>
              <a:rPr lang="en-US" sz="3000" b="0" dirty="0"/>
              <a:t>Data travels through a physical path such as twisted-pair cables, coaxial cables, or optical fiber. Offers higher security and reduced interference.</a:t>
            </a:r>
          </a:p>
          <a:p>
            <a:r>
              <a:rPr lang="en-US" sz="3000" dirty="0">
                <a:solidFill>
                  <a:srgbClr val="FF0000"/>
                </a:solidFill>
              </a:rPr>
              <a:t>Wireless Transmission Media</a:t>
            </a:r>
          </a:p>
          <a:p>
            <a:r>
              <a:rPr lang="en-US" sz="3000" b="0" dirty="0"/>
              <a:t>Data is transmitted without physical conductors using radio waves, microwaves, or infrared.</a:t>
            </a:r>
          </a:p>
          <a:p>
            <a:r>
              <a:rPr lang="en-US" sz="3000" b="0" dirty="0"/>
              <a:t>Enables mobile and flexible communication but may suffer from interference and limited range.</a:t>
            </a:r>
          </a:p>
          <a:p>
            <a:endParaRPr lang="en-US" sz="3000" dirty="0"/>
          </a:p>
          <a:p>
            <a:endParaRPr lang="en-US" sz="3000" dirty="0"/>
          </a:p>
          <a:p>
            <a:endParaRPr lang="en-US" sz="3000" dirty="0"/>
          </a:p>
          <a:p>
            <a:endParaRPr lang="en-US" sz="3000" dirty="0"/>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971540"/>
          </a:xfrm>
          <a:custGeom>
            <a:avLst/>
            <a:gdLst/>
            <a:ahLst/>
            <a:cxnLst/>
            <a:rect l="l" t="t" r="r" b="b"/>
            <a:pathLst>
              <a:path w="9144000" h="5971540">
                <a:moveTo>
                  <a:pt x="0" y="5971032"/>
                </a:moveTo>
                <a:lnTo>
                  <a:pt x="9144000" y="5971032"/>
                </a:lnTo>
                <a:lnTo>
                  <a:pt x="9144000" y="0"/>
                </a:lnTo>
                <a:lnTo>
                  <a:pt x="0" y="0"/>
                </a:lnTo>
                <a:lnTo>
                  <a:pt x="0" y="5971032"/>
                </a:lnTo>
                <a:close/>
              </a:path>
            </a:pathLst>
          </a:custGeom>
          <a:solidFill>
            <a:srgbClr val="464646"/>
          </a:solidFill>
        </p:spPr>
        <p:txBody>
          <a:bodyPr wrap="square" lIns="0" tIns="0" rIns="0" bIns="0" rtlCol="0"/>
          <a:lstStyle/>
          <a:p>
            <a:endParaRPr/>
          </a:p>
        </p:txBody>
      </p:sp>
      <p:grpSp>
        <p:nvGrpSpPr>
          <p:cNvPr id="3" name="object 3"/>
          <p:cNvGrpSpPr/>
          <p:nvPr/>
        </p:nvGrpSpPr>
        <p:grpSpPr>
          <a:xfrm>
            <a:off x="0" y="5971032"/>
            <a:ext cx="9144000" cy="887094"/>
            <a:chOff x="0" y="5971032"/>
            <a:chExt cx="9144000" cy="887094"/>
          </a:xfrm>
        </p:grpSpPr>
        <p:sp>
          <p:nvSpPr>
            <p:cNvPr id="4" name="object 4"/>
            <p:cNvSpPr/>
            <p:nvPr/>
          </p:nvSpPr>
          <p:spPr>
            <a:xfrm>
              <a:off x="0" y="5971032"/>
              <a:ext cx="9144000" cy="887094"/>
            </a:xfrm>
            <a:custGeom>
              <a:avLst/>
              <a:gdLst/>
              <a:ahLst/>
              <a:cxnLst/>
              <a:rect l="l" t="t" r="r" b="b"/>
              <a:pathLst>
                <a:path w="9144000" h="887095">
                  <a:moveTo>
                    <a:pt x="9144000" y="0"/>
                  </a:moveTo>
                  <a:lnTo>
                    <a:pt x="0" y="0"/>
                  </a:lnTo>
                  <a:lnTo>
                    <a:pt x="0" y="886968"/>
                  </a:lnTo>
                  <a:lnTo>
                    <a:pt x="9144000" y="886968"/>
                  </a:lnTo>
                  <a:lnTo>
                    <a:pt x="9144000" y="0"/>
                  </a:lnTo>
                  <a:close/>
                </a:path>
              </a:pathLst>
            </a:custGeom>
            <a:solidFill>
              <a:srgbClr val="FFFFFF"/>
            </a:solidFill>
          </p:spPr>
          <p:txBody>
            <a:bodyPr wrap="square" lIns="0" tIns="0" rIns="0" bIns="0" rtlCol="0"/>
            <a:lstStyle/>
            <a:p>
              <a:endParaRPr/>
            </a:p>
          </p:txBody>
        </p:sp>
        <p:sp>
          <p:nvSpPr>
            <p:cNvPr id="5" name="object 5"/>
            <p:cNvSpPr/>
            <p:nvPr/>
          </p:nvSpPr>
          <p:spPr>
            <a:xfrm>
              <a:off x="0" y="6053328"/>
              <a:ext cx="2240280" cy="713740"/>
            </a:xfrm>
            <a:custGeom>
              <a:avLst/>
              <a:gdLst/>
              <a:ahLst/>
              <a:cxnLst/>
              <a:rect l="l" t="t" r="r" b="b"/>
              <a:pathLst>
                <a:path w="2240280" h="713740">
                  <a:moveTo>
                    <a:pt x="2240280" y="0"/>
                  </a:moveTo>
                  <a:lnTo>
                    <a:pt x="0" y="0"/>
                  </a:lnTo>
                  <a:lnTo>
                    <a:pt x="0" y="713232"/>
                  </a:lnTo>
                  <a:lnTo>
                    <a:pt x="2240280" y="713232"/>
                  </a:lnTo>
                  <a:lnTo>
                    <a:pt x="2240280" y="0"/>
                  </a:lnTo>
                  <a:close/>
                </a:path>
              </a:pathLst>
            </a:custGeom>
            <a:solidFill>
              <a:srgbClr val="DA1F28"/>
            </a:solidFill>
          </p:spPr>
          <p:txBody>
            <a:bodyPr wrap="square" lIns="0" tIns="0" rIns="0" bIns="0" rtlCol="0"/>
            <a:lstStyle/>
            <a:p>
              <a:endParaRPr/>
            </a:p>
          </p:txBody>
        </p:sp>
        <p:sp>
          <p:nvSpPr>
            <p:cNvPr id="6" name="object 6"/>
            <p:cNvSpPr/>
            <p:nvPr/>
          </p:nvSpPr>
          <p:spPr>
            <a:xfrm>
              <a:off x="2359151" y="6044184"/>
              <a:ext cx="6784975" cy="713740"/>
            </a:xfrm>
            <a:custGeom>
              <a:avLst/>
              <a:gdLst/>
              <a:ahLst/>
              <a:cxnLst/>
              <a:rect l="l" t="t" r="r" b="b"/>
              <a:pathLst>
                <a:path w="6784975" h="713740">
                  <a:moveTo>
                    <a:pt x="6784848" y="0"/>
                  </a:moveTo>
                  <a:lnTo>
                    <a:pt x="0" y="0"/>
                  </a:lnTo>
                  <a:lnTo>
                    <a:pt x="0" y="713231"/>
                  </a:lnTo>
                  <a:lnTo>
                    <a:pt x="6784848" y="713231"/>
                  </a:lnTo>
                  <a:lnTo>
                    <a:pt x="6784848" y="0"/>
                  </a:lnTo>
                  <a:close/>
                </a:path>
              </a:pathLst>
            </a:custGeom>
            <a:solidFill>
              <a:srgbClr val="2CA1BE"/>
            </a:solidFill>
          </p:spPr>
          <p:txBody>
            <a:bodyPr wrap="square" lIns="0" tIns="0" rIns="0" bIns="0" rtlCol="0"/>
            <a:lstStyle/>
            <a:p>
              <a:endParaRPr/>
            </a:p>
          </p:txBody>
        </p:sp>
      </p:grpSp>
      <p:sp>
        <p:nvSpPr>
          <p:cNvPr id="7" name="object 7"/>
          <p:cNvSpPr txBox="1"/>
          <p:nvPr/>
        </p:nvSpPr>
        <p:spPr>
          <a:xfrm>
            <a:off x="612140" y="1075690"/>
            <a:ext cx="7362190" cy="2497479"/>
          </a:xfrm>
          <a:prstGeom prst="rect">
            <a:avLst/>
          </a:prstGeom>
        </p:spPr>
        <p:txBody>
          <a:bodyPr vert="horz" wrap="square" lIns="0" tIns="12065" rIns="0" bIns="0" rtlCol="0">
            <a:spAutoFit/>
          </a:bodyPr>
          <a:lstStyle/>
          <a:p>
            <a:pPr marL="12700" marR="1036955">
              <a:lnSpc>
                <a:spcPct val="100000"/>
              </a:lnSpc>
              <a:spcBef>
                <a:spcPts val="95"/>
              </a:spcBef>
            </a:pPr>
            <a:r>
              <a:rPr sz="4000" b="1" spc="-55">
                <a:solidFill>
                  <a:srgbClr val="DEF5F9"/>
                </a:solidFill>
                <a:latin typeface="Arial"/>
                <a:cs typeface="Arial"/>
              </a:rPr>
              <a:t>IN</a:t>
            </a:r>
            <a:r>
              <a:rPr sz="4000" b="1" spc="-60">
                <a:solidFill>
                  <a:srgbClr val="DEF5F9"/>
                </a:solidFill>
                <a:latin typeface="Arial"/>
                <a:cs typeface="Arial"/>
              </a:rPr>
              <a:t>T</a:t>
            </a:r>
            <a:r>
              <a:rPr sz="4000" b="1" spc="-155">
                <a:solidFill>
                  <a:srgbClr val="DEF5F9"/>
                </a:solidFill>
                <a:latin typeface="Arial"/>
                <a:cs typeface="Arial"/>
              </a:rPr>
              <a:t>RODUCTIO</a:t>
            </a:r>
            <a:r>
              <a:rPr sz="4000" b="1" spc="-165">
                <a:solidFill>
                  <a:srgbClr val="DEF5F9"/>
                </a:solidFill>
                <a:latin typeface="Arial"/>
                <a:cs typeface="Arial"/>
              </a:rPr>
              <a:t>N</a:t>
            </a:r>
            <a:r>
              <a:rPr sz="4000" b="1" spc="-105">
                <a:solidFill>
                  <a:srgbClr val="DEF5F9"/>
                </a:solidFill>
                <a:latin typeface="Arial"/>
                <a:cs typeface="Arial"/>
              </a:rPr>
              <a:t> </a:t>
            </a:r>
            <a:r>
              <a:rPr sz="4000" b="1" spc="-160" dirty="0">
                <a:solidFill>
                  <a:srgbClr val="DEF5F9"/>
                </a:solidFill>
                <a:latin typeface="Arial"/>
                <a:cs typeface="Arial"/>
              </a:rPr>
              <a:t>TO  </a:t>
            </a:r>
            <a:r>
              <a:rPr sz="4000" b="1" spc="-240">
                <a:solidFill>
                  <a:srgbClr val="DEF5F9"/>
                </a:solidFill>
                <a:latin typeface="Arial"/>
                <a:cs typeface="Arial"/>
              </a:rPr>
              <a:t>COMPUTER</a:t>
            </a:r>
            <a:r>
              <a:rPr sz="4000" b="1" spc="-130">
                <a:solidFill>
                  <a:srgbClr val="DEF5F9"/>
                </a:solidFill>
                <a:latin typeface="Arial"/>
                <a:cs typeface="Arial"/>
              </a:rPr>
              <a:t> </a:t>
            </a:r>
            <a:r>
              <a:rPr sz="4000" b="1" spc="-160">
                <a:solidFill>
                  <a:srgbClr val="DEF5F9"/>
                </a:solidFill>
                <a:latin typeface="Arial"/>
                <a:cs typeface="Arial"/>
              </a:rPr>
              <a:t>NET</a:t>
            </a:r>
            <a:r>
              <a:rPr sz="4000" b="1" spc="-215">
                <a:solidFill>
                  <a:srgbClr val="DEF5F9"/>
                </a:solidFill>
                <a:latin typeface="Arial"/>
                <a:cs typeface="Arial"/>
              </a:rPr>
              <a:t>W</a:t>
            </a:r>
            <a:r>
              <a:rPr sz="4000" b="1" spc="-140">
                <a:solidFill>
                  <a:srgbClr val="DEF5F9"/>
                </a:solidFill>
                <a:latin typeface="Arial"/>
                <a:cs typeface="Arial"/>
              </a:rPr>
              <a:t>ORK</a:t>
            </a:r>
            <a:r>
              <a:rPr lang="en-US" sz="4000" b="1" spc="-140" dirty="0">
                <a:solidFill>
                  <a:srgbClr val="DEF5F9"/>
                </a:solidFill>
                <a:latin typeface="Arial"/>
                <a:cs typeface="Arial"/>
              </a:rPr>
              <a:t>S</a:t>
            </a:r>
            <a:endParaRPr sz="4000">
              <a:latin typeface="Arial"/>
              <a:cs typeface="Arial"/>
            </a:endParaRPr>
          </a:p>
          <a:p>
            <a:pPr>
              <a:lnSpc>
                <a:spcPct val="100000"/>
              </a:lnSpc>
              <a:spcBef>
                <a:spcPts val="30"/>
              </a:spcBef>
            </a:pPr>
            <a:endParaRPr sz="4150">
              <a:latin typeface="Arial"/>
              <a:cs typeface="Arial"/>
            </a:endParaRPr>
          </a:p>
          <a:p>
            <a:pPr marL="12700">
              <a:lnSpc>
                <a:spcPct val="100000"/>
              </a:lnSpc>
            </a:pPr>
            <a:r>
              <a:rPr sz="4000" b="1" spc="-85">
                <a:solidFill>
                  <a:srgbClr val="DEF5F9"/>
                </a:solidFill>
                <a:latin typeface="Arial"/>
                <a:cs typeface="Arial"/>
              </a:rPr>
              <a:t> </a:t>
            </a:r>
            <a:endParaRPr sz="4000">
              <a:latin typeface="Arial"/>
              <a:cs typeface="Arial"/>
            </a:endParaRPr>
          </a:p>
        </p:txBody>
      </p:sp>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65201"/>
            <a:ext cx="7465059" cy="697230"/>
          </a:xfrm>
          <a:prstGeom prst="rect">
            <a:avLst/>
          </a:prstGeom>
        </p:spPr>
        <p:txBody>
          <a:bodyPr vert="horz" wrap="square" lIns="0" tIns="13335" rIns="0" bIns="0" rtlCol="0">
            <a:spAutoFit/>
          </a:bodyPr>
          <a:lstStyle/>
          <a:p>
            <a:pPr marL="12700">
              <a:lnSpc>
                <a:spcPct val="100000"/>
              </a:lnSpc>
              <a:spcBef>
                <a:spcPts val="105"/>
              </a:spcBef>
            </a:pPr>
            <a:r>
              <a:rPr spc="-90" dirty="0">
                <a:latin typeface="Arial" pitchFamily="34" charset="0"/>
                <a:cs typeface="Arial" pitchFamily="34" charset="0"/>
              </a:rPr>
              <a:t>DEFINTION</a:t>
            </a:r>
            <a:r>
              <a:rPr spc="-170" dirty="0">
                <a:latin typeface="Arial" pitchFamily="34" charset="0"/>
                <a:cs typeface="Arial" pitchFamily="34" charset="0"/>
              </a:rPr>
              <a:t> </a:t>
            </a:r>
            <a:r>
              <a:rPr spc="-105" dirty="0">
                <a:latin typeface="Arial" pitchFamily="34" charset="0"/>
                <a:cs typeface="Arial" pitchFamily="34" charset="0"/>
              </a:rPr>
              <a:t>&amp;</a:t>
            </a:r>
            <a:r>
              <a:rPr spc="-150" dirty="0">
                <a:latin typeface="Arial" pitchFamily="34" charset="0"/>
                <a:cs typeface="Arial" pitchFamily="34" charset="0"/>
              </a:rPr>
              <a:t> </a:t>
            </a:r>
            <a:r>
              <a:rPr spc="-200" dirty="0">
                <a:latin typeface="Arial" pitchFamily="34" charset="0"/>
                <a:cs typeface="Arial" pitchFamily="34" charset="0"/>
              </a:rPr>
              <a:t>APPLICATIONS</a:t>
            </a:r>
          </a:p>
        </p:txBody>
      </p:sp>
      <p:sp>
        <p:nvSpPr>
          <p:cNvPr id="3" name="object 3"/>
          <p:cNvSpPr txBox="1"/>
          <p:nvPr/>
        </p:nvSpPr>
        <p:spPr>
          <a:xfrm>
            <a:off x="381000" y="1551254"/>
            <a:ext cx="8534400" cy="3836307"/>
          </a:xfrm>
          <a:prstGeom prst="rect">
            <a:avLst/>
          </a:prstGeom>
        </p:spPr>
        <p:txBody>
          <a:bodyPr vert="horz" wrap="square" lIns="0" tIns="12065" rIns="0" bIns="0" rtlCol="0">
            <a:spAutoFit/>
          </a:bodyPr>
          <a:lstStyle/>
          <a:p>
            <a:pPr marL="332740" indent="-320675">
              <a:lnSpc>
                <a:spcPct val="100000"/>
              </a:lnSpc>
              <a:spcBef>
                <a:spcPts val="95"/>
              </a:spcBef>
              <a:buClr>
                <a:srgbClr val="DA1F28"/>
              </a:buClr>
              <a:buSzPct val="60000"/>
              <a:buFont typeface="Wingdings"/>
              <a:buChar char=""/>
              <a:tabLst>
                <a:tab pos="332740" algn="l"/>
                <a:tab pos="333375" algn="l"/>
              </a:tabLst>
            </a:pPr>
            <a:r>
              <a:rPr sz="3200" b="1" spc="-70">
                <a:latin typeface="Arial"/>
                <a:cs typeface="Arial"/>
              </a:rPr>
              <a:t>DEFINTION:</a:t>
            </a:r>
            <a:endParaRPr lang="en-US" sz="3200" b="1" spc="-70" dirty="0">
              <a:latin typeface="Arial"/>
              <a:cs typeface="Arial"/>
            </a:endParaRPr>
          </a:p>
          <a:p>
            <a:pPr marL="332740" indent="-320675">
              <a:spcBef>
                <a:spcPts val="95"/>
              </a:spcBef>
              <a:buClr>
                <a:srgbClr val="DA1F28"/>
              </a:buClr>
              <a:buSzPct val="60000"/>
              <a:tabLst>
                <a:tab pos="332740" algn="l"/>
                <a:tab pos="333375" algn="l"/>
              </a:tabLst>
            </a:pPr>
            <a:r>
              <a:rPr lang="en-US" sz="3200" spc="-75" dirty="0">
                <a:latin typeface="Arial"/>
                <a:cs typeface="Arial"/>
              </a:rPr>
              <a:t>    A </a:t>
            </a:r>
            <a:r>
              <a:rPr lang="en-US" sz="3200" spc="-100" dirty="0">
                <a:latin typeface="Arial"/>
                <a:cs typeface="Arial"/>
              </a:rPr>
              <a:t>computer </a:t>
            </a:r>
            <a:r>
              <a:rPr lang="en-US" sz="3200" spc="-50" dirty="0">
                <a:latin typeface="Arial"/>
                <a:cs typeface="Arial"/>
              </a:rPr>
              <a:t>network </a:t>
            </a:r>
            <a:r>
              <a:rPr lang="en-US" sz="3200" spc="-260" dirty="0">
                <a:latin typeface="Arial"/>
                <a:cs typeface="Arial"/>
              </a:rPr>
              <a:t>is</a:t>
            </a:r>
            <a:r>
              <a:rPr lang="en-US" sz="3200" spc="-254" dirty="0">
                <a:latin typeface="Arial"/>
                <a:cs typeface="Arial"/>
              </a:rPr>
              <a:t> </a:t>
            </a:r>
            <a:r>
              <a:rPr lang="en-US" sz="3200" spc="-70" dirty="0">
                <a:latin typeface="Arial"/>
                <a:cs typeface="Arial"/>
              </a:rPr>
              <a:t>defined </a:t>
            </a:r>
            <a:r>
              <a:rPr lang="en-US" sz="3200" spc="-215" dirty="0">
                <a:latin typeface="Arial"/>
                <a:cs typeface="Arial"/>
              </a:rPr>
              <a:t>as </a:t>
            </a:r>
            <a:r>
              <a:rPr lang="en-US" sz="3200" spc="-50" dirty="0">
                <a:latin typeface="Arial"/>
                <a:cs typeface="Arial"/>
              </a:rPr>
              <a:t>the </a:t>
            </a:r>
            <a:r>
              <a:rPr lang="en-US" sz="3200" spc="-114" dirty="0">
                <a:solidFill>
                  <a:srgbClr val="FF0000"/>
                </a:solidFill>
                <a:latin typeface="Arial"/>
                <a:cs typeface="Arial"/>
              </a:rPr>
              <a:t>interconnection</a:t>
            </a:r>
            <a:r>
              <a:rPr lang="en-US" sz="3200" spc="-114" dirty="0">
                <a:latin typeface="Arial"/>
                <a:cs typeface="Arial"/>
              </a:rPr>
              <a:t> </a:t>
            </a:r>
            <a:r>
              <a:rPr lang="en-US" sz="3200" spc="-680" dirty="0">
                <a:latin typeface="Arial"/>
                <a:cs typeface="Arial"/>
              </a:rPr>
              <a:t> </a:t>
            </a:r>
            <a:r>
              <a:rPr lang="en-US" sz="3200" spc="-80" dirty="0">
                <a:latin typeface="Arial"/>
                <a:cs typeface="Arial"/>
              </a:rPr>
              <a:t>of </a:t>
            </a:r>
            <a:r>
              <a:rPr lang="en-US" sz="3200" spc="-55" dirty="0">
                <a:latin typeface="Arial"/>
                <a:cs typeface="Arial"/>
              </a:rPr>
              <a:t>two </a:t>
            </a:r>
            <a:r>
              <a:rPr lang="en-US" sz="3200" spc="-114" dirty="0">
                <a:latin typeface="Arial"/>
                <a:cs typeface="Arial"/>
              </a:rPr>
              <a:t>or </a:t>
            </a:r>
            <a:r>
              <a:rPr lang="en-US" sz="3200" spc="-110" dirty="0">
                <a:latin typeface="Arial"/>
                <a:cs typeface="Arial"/>
              </a:rPr>
              <a:t>more </a:t>
            </a:r>
            <a:r>
              <a:rPr lang="en-US" sz="3200" spc="-130" dirty="0">
                <a:latin typeface="Arial"/>
                <a:cs typeface="Arial"/>
              </a:rPr>
              <a:t>computers. </a:t>
            </a:r>
            <a:r>
              <a:rPr lang="en-US" sz="3200" spc="75" dirty="0">
                <a:latin typeface="Arial"/>
                <a:cs typeface="Arial"/>
              </a:rPr>
              <a:t>It </a:t>
            </a:r>
            <a:r>
              <a:rPr lang="en-US" sz="3200" spc="-260" dirty="0">
                <a:latin typeface="Arial"/>
                <a:cs typeface="Arial"/>
              </a:rPr>
              <a:t>is</a:t>
            </a:r>
            <a:r>
              <a:rPr lang="en-US" sz="3200" spc="-254" dirty="0">
                <a:latin typeface="Arial"/>
                <a:cs typeface="Arial"/>
              </a:rPr>
              <a:t> </a:t>
            </a:r>
            <a:r>
              <a:rPr lang="en-US" sz="3200" spc="-130" dirty="0">
                <a:latin typeface="Arial"/>
                <a:cs typeface="Arial"/>
              </a:rPr>
              <a:t>done </a:t>
            </a:r>
            <a:r>
              <a:rPr lang="en-US" sz="3200" spc="-50" dirty="0">
                <a:latin typeface="Arial"/>
                <a:cs typeface="Arial"/>
              </a:rPr>
              <a:t>to </a:t>
            </a:r>
            <a:r>
              <a:rPr lang="en-US" sz="3200" spc="-70" dirty="0">
                <a:latin typeface="Arial"/>
                <a:cs typeface="Arial"/>
              </a:rPr>
              <a:t>enable </a:t>
            </a:r>
            <a:r>
              <a:rPr lang="en-US" sz="3200" spc="-50" dirty="0">
                <a:latin typeface="Arial"/>
                <a:cs typeface="Arial"/>
              </a:rPr>
              <a:t>the </a:t>
            </a:r>
            <a:r>
              <a:rPr lang="en-US" sz="3200" spc="-45" dirty="0">
                <a:latin typeface="Arial"/>
                <a:cs typeface="Arial"/>
              </a:rPr>
              <a:t> </a:t>
            </a:r>
            <a:r>
              <a:rPr lang="en-US" sz="3200" spc="-145" dirty="0">
                <a:latin typeface="Arial"/>
                <a:cs typeface="Arial"/>
              </a:rPr>
              <a:t>computers</a:t>
            </a:r>
            <a:r>
              <a:rPr lang="en-US" sz="3200" spc="-75" dirty="0">
                <a:latin typeface="Arial"/>
                <a:cs typeface="Arial"/>
              </a:rPr>
              <a:t> </a:t>
            </a:r>
            <a:r>
              <a:rPr lang="en-US" sz="3200" spc="-50" dirty="0">
                <a:latin typeface="Arial"/>
                <a:cs typeface="Arial"/>
              </a:rPr>
              <a:t>to</a:t>
            </a:r>
            <a:r>
              <a:rPr lang="en-US" sz="3200" spc="-70" dirty="0">
                <a:latin typeface="Arial"/>
                <a:cs typeface="Arial"/>
              </a:rPr>
              <a:t> </a:t>
            </a:r>
            <a:r>
              <a:rPr lang="en-US" sz="3200" spc="-110" dirty="0">
                <a:latin typeface="Arial"/>
                <a:cs typeface="Arial"/>
              </a:rPr>
              <a:t>communicate</a:t>
            </a:r>
            <a:r>
              <a:rPr lang="en-US" sz="3200" spc="-50" dirty="0">
                <a:latin typeface="Arial"/>
                <a:cs typeface="Arial"/>
              </a:rPr>
              <a:t> </a:t>
            </a:r>
            <a:r>
              <a:rPr lang="en-US" sz="3200" spc="-30" dirty="0">
                <a:latin typeface="Arial"/>
                <a:cs typeface="Arial"/>
              </a:rPr>
              <a:t>and</a:t>
            </a:r>
            <a:r>
              <a:rPr lang="en-US" sz="3200" spc="-65" dirty="0">
                <a:latin typeface="Arial"/>
                <a:cs typeface="Arial"/>
              </a:rPr>
              <a:t> </a:t>
            </a:r>
            <a:r>
              <a:rPr lang="en-US" sz="3200" spc="-140" dirty="0">
                <a:solidFill>
                  <a:srgbClr val="FF0000"/>
                </a:solidFill>
                <a:latin typeface="Arial"/>
                <a:cs typeface="Arial"/>
              </a:rPr>
              <a:t>share</a:t>
            </a:r>
            <a:r>
              <a:rPr lang="en-US" sz="3200" spc="-75" dirty="0">
                <a:latin typeface="Arial"/>
                <a:cs typeface="Arial"/>
              </a:rPr>
              <a:t> </a:t>
            </a:r>
            <a:r>
              <a:rPr lang="en-US" sz="3200" spc="-15" dirty="0">
                <a:latin typeface="Arial"/>
                <a:cs typeface="Arial"/>
              </a:rPr>
              <a:t>available </a:t>
            </a:r>
            <a:r>
              <a:rPr lang="en-US" sz="3200" spc="-10" dirty="0">
                <a:latin typeface="Arial"/>
                <a:cs typeface="Arial"/>
              </a:rPr>
              <a:t> </a:t>
            </a:r>
            <a:r>
              <a:rPr lang="en-US" sz="3200" spc="-200" dirty="0">
                <a:latin typeface="Arial"/>
                <a:cs typeface="Arial"/>
              </a:rPr>
              <a:t>resources.</a:t>
            </a:r>
          </a:p>
          <a:p>
            <a:pPr marL="332740" indent="-320675">
              <a:lnSpc>
                <a:spcPct val="100000"/>
              </a:lnSpc>
              <a:spcBef>
                <a:spcPts val="95"/>
              </a:spcBef>
              <a:buClr>
                <a:srgbClr val="DA1F28"/>
              </a:buClr>
              <a:buSzPct val="60000"/>
              <a:buFont typeface="Wingdings"/>
              <a:buChar char=""/>
              <a:tabLst>
                <a:tab pos="332740" algn="l"/>
                <a:tab pos="333375" algn="l"/>
              </a:tabLst>
            </a:pPr>
            <a:r>
              <a:rPr lang="en-US" sz="3200" spc="-110" dirty="0">
                <a:latin typeface="Arial"/>
                <a:cs typeface="Arial"/>
              </a:rPr>
              <a:t>First computer network is </a:t>
            </a:r>
            <a:r>
              <a:rPr lang="en-US" sz="3200" spc="-110" dirty="0">
                <a:solidFill>
                  <a:srgbClr val="FF0000"/>
                </a:solidFill>
                <a:latin typeface="Arial"/>
                <a:cs typeface="Arial"/>
              </a:rPr>
              <a:t>ARPANET</a:t>
            </a:r>
            <a:r>
              <a:rPr lang="en-US" sz="3200" spc="-110" dirty="0">
                <a:latin typeface="Arial"/>
                <a:cs typeface="Arial"/>
              </a:rPr>
              <a:t>(Advanced Research Projects Agency Network</a:t>
            </a:r>
            <a:endParaRPr lang="en-US" sz="3200" spc="-70" dirty="0">
              <a:latin typeface="Arial"/>
              <a:cs typeface="Arial"/>
            </a:endParaRPr>
          </a:p>
          <a:p>
            <a:pPr marL="995680" lvl="1" indent="-572135">
              <a:lnSpc>
                <a:spcPct val="100000"/>
              </a:lnSpc>
              <a:spcBef>
                <a:spcPts val="95"/>
              </a:spcBef>
              <a:buClr>
                <a:srgbClr val="2CA1BE"/>
              </a:buClr>
              <a:buSzPct val="68181"/>
              <a:tabLst>
                <a:tab pos="995680" algn="l"/>
                <a:tab pos="996315" algn="l"/>
              </a:tabLst>
            </a:pPr>
            <a:endParaRPr sz="2200">
              <a:latin typeface="Arial"/>
              <a:cs typeface="Arial"/>
            </a:endParaRP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6" y="439064"/>
            <a:ext cx="7233413" cy="627736"/>
          </a:xfrm>
          <a:prstGeom prst="rect">
            <a:avLst/>
          </a:prstGeom>
        </p:spPr>
        <p:txBody>
          <a:bodyPr vert="horz" wrap="square" lIns="0" tIns="12065" rIns="0" bIns="0" rtlCol="0">
            <a:spAutoFit/>
          </a:bodyPr>
          <a:lstStyle/>
          <a:p>
            <a:pPr marL="12700" marR="5080">
              <a:lnSpc>
                <a:spcPct val="100000"/>
              </a:lnSpc>
              <a:spcBef>
                <a:spcPts val="95"/>
              </a:spcBef>
            </a:pPr>
            <a:r>
              <a:rPr sz="4000" spc="-545"/>
              <a:t>US</a:t>
            </a:r>
            <a:r>
              <a:rPr sz="4000" spc="-520"/>
              <a:t>E</a:t>
            </a:r>
            <a:r>
              <a:rPr sz="4000" spc="-105"/>
              <a:t> </a:t>
            </a:r>
            <a:r>
              <a:rPr sz="4000" spc="-155" dirty="0"/>
              <a:t>OF</a:t>
            </a:r>
            <a:r>
              <a:rPr sz="4000" spc="-114" dirty="0"/>
              <a:t> </a:t>
            </a:r>
            <a:r>
              <a:rPr sz="4000" spc="-190" dirty="0"/>
              <a:t>CO</a:t>
            </a:r>
            <a:r>
              <a:rPr sz="4000" spc="-195" dirty="0"/>
              <a:t>M</a:t>
            </a:r>
            <a:r>
              <a:rPr sz="4000" spc="-225" dirty="0"/>
              <a:t>PUTER  </a:t>
            </a:r>
            <a:r>
              <a:rPr sz="4000" spc="-204" dirty="0"/>
              <a:t>NETWORK</a:t>
            </a:r>
            <a:endParaRPr sz="4000"/>
          </a:p>
        </p:txBody>
      </p:sp>
      <p:sp>
        <p:nvSpPr>
          <p:cNvPr id="3" name="object 3"/>
          <p:cNvSpPr txBox="1"/>
          <p:nvPr/>
        </p:nvSpPr>
        <p:spPr>
          <a:xfrm>
            <a:off x="691387" y="1537566"/>
            <a:ext cx="6985634" cy="3841750"/>
          </a:xfrm>
          <a:prstGeom prst="rect">
            <a:avLst/>
          </a:prstGeom>
        </p:spPr>
        <p:txBody>
          <a:bodyPr vert="horz" wrap="square" lIns="0" tIns="101600" rIns="0" bIns="0" rtlCol="0">
            <a:spAutoFit/>
          </a:bodyPr>
          <a:lstStyle/>
          <a:p>
            <a:pPr marL="332740" indent="-320675">
              <a:lnSpc>
                <a:spcPct val="100000"/>
              </a:lnSpc>
              <a:spcBef>
                <a:spcPts val="800"/>
              </a:spcBef>
              <a:buClr>
                <a:srgbClr val="DA1F28"/>
              </a:buClr>
              <a:buSzPct val="59375"/>
              <a:buFont typeface="Wingdings"/>
              <a:buChar char=""/>
              <a:tabLst>
                <a:tab pos="333375" algn="l"/>
              </a:tabLst>
            </a:pPr>
            <a:r>
              <a:rPr sz="3200" b="1" spc="-195" dirty="0">
                <a:latin typeface="Arial"/>
                <a:cs typeface="Arial"/>
              </a:rPr>
              <a:t>B</a:t>
            </a:r>
            <a:r>
              <a:rPr sz="3200" b="1" spc="-155" dirty="0">
                <a:latin typeface="Arial"/>
                <a:cs typeface="Arial"/>
              </a:rPr>
              <a:t>u</a:t>
            </a:r>
            <a:r>
              <a:rPr sz="3200" b="1" spc="-229" dirty="0">
                <a:latin typeface="Arial"/>
                <a:cs typeface="Arial"/>
              </a:rPr>
              <a:t>si</a:t>
            </a:r>
            <a:r>
              <a:rPr sz="3200" b="1" spc="-350" dirty="0">
                <a:latin typeface="Arial"/>
                <a:cs typeface="Arial"/>
              </a:rPr>
              <a:t>n</a:t>
            </a:r>
            <a:r>
              <a:rPr sz="3200" b="1" spc="-484" dirty="0">
                <a:latin typeface="Arial"/>
                <a:cs typeface="Arial"/>
              </a:rPr>
              <a:t>ess</a:t>
            </a:r>
            <a:r>
              <a:rPr sz="3200" b="1" spc="-140" dirty="0">
                <a:latin typeface="Arial"/>
                <a:cs typeface="Arial"/>
              </a:rPr>
              <a:t> </a:t>
            </a:r>
            <a:r>
              <a:rPr sz="3200" b="1" spc="-45" dirty="0">
                <a:latin typeface="Arial"/>
                <a:cs typeface="Arial"/>
              </a:rPr>
              <a:t>Applicat</a:t>
            </a:r>
            <a:r>
              <a:rPr sz="3200" b="1" spc="-35" dirty="0">
                <a:latin typeface="Arial"/>
                <a:cs typeface="Arial"/>
              </a:rPr>
              <a:t>i</a:t>
            </a:r>
            <a:r>
              <a:rPr sz="3200" b="1" spc="-200" dirty="0">
                <a:latin typeface="Arial"/>
                <a:cs typeface="Arial"/>
              </a:rPr>
              <a:t>o</a:t>
            </a:r>
            <a:r>
              <a:rPr sz="3200" b="1" spc="-210" dirty="0">
                <a:latin typeface="Arial"/>
                <a:cs typeface="Arial"/>
              </a:rPr>
              <a:t>n</a:t>
            </a:r>
            <a:r>
              <a:rPr sz="3200" b="1" spc="-640" dirty="0">
                <a:latin typeface="Arial"/>
                <a:cs typeface="Arial"/>
              </a:rPr>
              <a:t>s</a:t>
            </a:r>
            <a:endParaRPr sz="3200">
              <a:latin typeface="Arial"/>
              <a:cs typeface="Arial"/>
            </a:endParaRPr>
          </a:p>
          <a:p>
            <a:pPr marL="378460">
              <a:lnSpc>
                <a:spcPct val="100000"/>
              </a:lnSpc>
              <a:spcBef>
                <a:spcPts val="605"/>
              </a:spcBef>
              <a:tabLst>
                <a:tab pos="739775" algn="l"/>
              </a:tabLst>
            </a:pPr>
            <a:r>
              <a:rPr sz="1950" spc="-210" dirty="0">
                <a:solidFill>
                  <a:srgbClr val="2CA1BE"/>
                </a:solidFill>
                <a:latin typeface="Microsoft Sans Serif"/>
                <a:cs typeface="Microsoft Sans Serif"/>
              </a:rPr>
              <a:t>🞑	</a:t>
            </a:r>
            <a:r>
              <a:rPr sz="2800" spc="-100" dirty="0">
                <a:latin typeface="Arial"/>
                <a:cs typeface="Arial"/>
              </a:rPr>
              <a:t>onli</a:t>
            </a:r>
            <a:r>
              <a:rPr sz="2800" spc="-145" dirty="0">
                <a:latin typeface="Arial"/>
                <a:cs typeface="Arial"/>
              </a:rPr>
              <a:t>n</a:t>
            </a:r>
            <a:r>
              <a:rPr sz="2800" spc="-160" dirty="0">
                <a:latin typeface="Arial"/>
                <a:cs typeface="Arial"/>
              </a:rPr>
              <a:t>e</a:t>
            </a:r>
            <a:r>
              <a:rPr sz="2800" spc="-60" dirty="0">
                <a:latin typeface="Arial"/>
                <a:cs typeface="Arial"/>
              </a:rPr>
              <a:t> </a:t>
            </a:r>
            <a:r>
              <a:rPr sz="2800" spc="-75" dirty="0">
                <a:latin typeface="Arial"/>
                <a:cs typeface="Arial"/>
              </a:rPr>
              <a:t>buying</a:t>
            </a:r>
            <a:endParaRPr sz="2800">
              <a:latin typeface="Arial"/>
              <a:cs typeface="Arial"/>
            </a:endParaRPr>
          </a:p>
          <a:p>
            <a:pPr marL="433070" indent="-421005">
              <a:lnSpc>
                <a:spcPct val="100000"/>
              </a:lnSpc>
              <a:spcBef>
                <a:spcPts val="695"/>
              </a:spcBef>
              <a:buClr>
                <a:srgbClr val="DA1F28"/>
              </a:buClr>
              <a:buSzPct val="59375"/>
              <a:buFont typeface="Wingdings"/>
              <a:buChar char=""/>
              <a:tabLst>
                <a:tab pos="433070" algn="l"/>
                <a:tab pos="433705" algn="l"/>
              </a:tabLst>
            </a:pPr>
            <a:r>
              <a:rPr sz="3200" b="1" spc="-114" dirty="0">
                <a:latin typeface="Arial"/>
                <a:cs typeface="Arial"/>
              </a:rPr>
              <a:t>Hom</a:t>
            </a:r>
            <a:r>
              <a:rPr sz="3200" b="1" spc="-85" dirty="0">
                <a:latin typeface="Arial"/>
                <a:cs typeface="Arial"/>
              </a:rPr>
              <a:t>e</a:t>
            </a:r>
            <a:r>
              <a:rPr sz="3200" b="1" spc="-90" dirty="0">
                <a:latin typeface="Arial"/>
                <a:cs typeface="Arial"/>
              </a:rPr>
              <a:t> </a:t>
            </a:r>
            <a:r>
              <a:rPr sz="3200" b="1" spc="-70" dirty="0">
                <a:latin typeface="Arial"/>
                <a:cs typeface="Arial"/>
              </a:rPr>
              <a:t>Applicatio</a:t>
            </a:r>
            <a:r>
              <a:rPr sz="3200" b="1" spc="-105" dirty="0">
                <a:latin typeface="Arial"/>
                <a:cs typeface="Arial"/>
              </a:rPr>
              <a:t>n</a:t>
            </a:r>
            <a:r>
              <a:rPr sz="3200" b="1" spc="-640" dirty="0">
                <a:latin typeface="Arial"/>
                <a:cs typeface="Arial"/>
              </a:rPr>
              <a:t>s</a:t>
            </a:r>
            <a:endParaRPr sz="3200">
              <a:latin typeface="Arial"/>
              <a:cs typeface="Arial"/>
            </a:endParaRPr>
          </a:p>
          <a:p>
            <a:pPr marL="378460">
              <a:lnSpc>
                <a:spcPct val="100000"/>
              </a:lnSpc>
              <a:spcBef>
                <a:spcPts val="605"/>
              </a:spcBef>
              <a:tabLst>
                <a:tab pos="739775" algn="l"/>
              </a:tabLst>
            </a:pPr>
            <a:r>
              <a:rPr sz="1950" spc="-65" dirty="0">
                <a:solidFill>
                  <a:srgbClr val="2CA1BE"/>
                </a:solidFill>
                <a:latin typeface="Microsoft Sans Serif"/>
                <a:cs typeface="Microsoft Sans Serif"/>
              </a:rPr>
              <a:t>🞑	</a:t>
            </a:r>
            <a:r>
              <a:rPr sz="2800" spc="-5" dirty="0">
                <a:latin typeface="Arial"/>
                <a:cs typeface="Arial"/>
              </a:rPr>
              <a:t>mail,</a:t>
            </a:r>
            <a:r>
              <a:rPr sz="2800" spc="-95" dirty="0">
                <a:latin typeface="Arial"/>
                <a:cs typeface="Arial"/>
              </a:rPr>
              <a:t> </a:t>
            </a:r>
            <a:r>
              <a:rPr sz="2800" spc="-80" dirty="0">
                <a:latin typeface="Arial"/>
                <a:cs typeface="Arial"/>
              </a:rPr>
              <a:t>chat</a:t>
            </a:r>
            <a:endParaRPr sz="2800">
              <a:latin typeface="Arial"/>
              <a:cs typeface="Arial"/>
            </a:endParaRPr>
          </a:p>
          <a:p>
            <a:pPr marL="433070" indent="-421005">
              <a:lnSpc>
                <a:spcPct val="100000"/>
              </a:lnSpc>
              <a:spcBef>
                <a:spcPts val="690"/>
              </a:spcBef>
              <a:buClr>
                <a:srgbClr val="DA1F28"/>
              </a:buClr>
              <a:buSzPct val="59375"/>
              <a:buFont typeface="Wingdings"/>
              <a:buChar char=""/>
              <a:tabLst>
                <a:tab pos="433070" algn="l"/>
                <a:tab pos="433705" algn="l"/>
              </a:tabLst>
            </a:pPr>
            <a:r>
              <a:rPr sz="3200" b="1" spc="-100" dirty="0">
                <a:latin typeface="Arial"/>
                <a:cs typeface="Arial"/>
              </a:rPr>
              <a:t>Mobile</a:t>
            </a:r>
            <a:r>
              <a:rPr sz="3200" b="1" spc="-114" dirty="0">
                <a:latin typeface="Arial"/>
                <a:cs typeface="Arial"/>
              </a:rPr>
              <a:t> </a:t>
            </a:r>
            <a:r>
              <a:rPr sz="3200" b="1" spc="-330" dirty="0">
                <a:latin typeface="Arial"/>
                <a:cs typeface="Arial"/>
              </a:rPr>
              <a:t>Users</a:t>
            </a:r>
            <a:endParaRPr sz="3200">
              <a:latin typeface="Arial"/>
              <a:cs typeface="Arial"/>
            </a:endParaRPr>
          </a:p>
          <a:p>
            <a:pPr marL="378460">
              <a:lnSpc>
                <a:spcPct val="100000"/>
              </a:lnSpc>
              <a:spcBef>
                <a:spcPts val="620"/>
              </a:spcBef>
              <a:tabLst>
                <a:tab pos="739775" algn="l"/>
              </a:tabLst>
            </a:pPr>
            <a:r>
              <a:rPr sz="1950" spc="-204" dirty="0">
                <a:solidFill>
                  <a:srgbClr val="2CA1BE"/>
                </a:solidFill>
                <a:latin typeface="Microsoft Sans Serif"/>
                <a:cs typeface="Microsoft Sans Serif"/>
              </a:rPr>
              <a:t>🞑	</a:t>
            </a:r>
            <a:r>
              <a:rPr sz="2800" spc="-200" dirty="0">
                <a:latin typeface="Arial"/>
                <a:cs typeface="Arial"/>
              </a:rPr>
              <a:t>wireless</a:t>
            </a:r>
            <a:r>
              <a:rPr sz="2800" spc="-200">
                <a:latin typeface="Arial"/>
                <a:cs typeface="Arial"/>
              </a:rPr>
              <a:t>:</a:t>
            </a:r>
            <a:r>
              <a:rPr sz="2800" spc="-55">
                <a:latin typeface="Arial"/>
                <a:cs typeface="Arial"/>
              </a:rPr>
              <a:t> </a:t>
            </a:r>
            <a:r>
              <a:rPr sz="2800">
                <a:latin typeface="Arial"/>
                <a:cs typeface="Arial"/>
              </a:rPr>
              <a:t>lap</a:t>
            </a:r>
            <a:r>
              <a:rPr sz="2800" spc="-40">
                <a:latin typeface="Arial"/>
                <a:cs typeface="Arial"/>
              </a:rPr>
              <a:t>to</a:t>
            </a:r>
            <a:r>
              <a:rPr sz="2800" spc="-70">
                <a:latin typeface="Arial"/>
                <a:cs typeface="Arial"/>
              </a:rPr>
              <a:t>p</a:t>
            </a:r>
            <a:r>
              <a:rPr sz="2800" spc="-280">
                <a:latin typeface="Arial"/>
                <a:cs typeface="Arial"/>
              </a:rPr>
              <a:t>s</a:t>
            </a:r>
            <a:r>
              <a:rPr sz="2800" spc="-40">
                <a:latin typeface="Arial"/>
                <a:cs typeface="Arial"/>
              </a:rPr>
              <a:t>,</a:t>
            </a:r>
            <a:r>
              <a:rPr sz="2800" spc="-80">
                <a:latin typeface="Arial"/>
                <a:cs typeface="Arial"/>
              </a:rPr>
              <a:t> </a:t>
            </a:r>
            <a:r>
              <a:rPr sz="2800" spc="-110">
                <a:latin typeface="Arial"/>
                <a:cs typeface="Arial"/>
              </a:rPr>
              <a:t>mob</a:t>
            </a:r>
            <a:r>
              <a:rPr sz="2800" spc="-60">
                <a:latin typeface="Arial"/>
                <a:cs typeface="Arial"/>
              </a:rPr>
              <a:t>i</a:t>
            </a:r>
            <a:r>
              <a:rPr sz="2800" spc="-75">
                <a:latin typeface="Arial"/>
                <a:cs typeface="Arial"/>
              </a:rPr>
              <a:t>le</a:t>
            </a:r>
            <a:endParaRPr sz="2800">
              <a:latin typeface="Arial"/>
              <a:cs typeface="Arial"/>
            </a:endParaRPr>
          </a:p>
          <a:p>
            <a:pPr marL="433070" indent="-421005">
              <a:lnSpc>
                <a:spcPct val="100000"/>
              </a:lnSpc>
              <a:spcBef>
                <a:spcPts val="690"/>
              </a:spcBef>
              <a:buClr>
                <a:srgbClr val="DA1F28"/>
              </a:buClr>
              <a:buSzPct val="59375"/>
              <a:buFont typeface="Wingdings"/>
              <a:buChar char=""/>
              <a:tabLst>
                <a:tab pos="433070" algn="l"/>
                <a:tab pos="433705" algn="l"/>
              </a:tabLst>
            </a:pPr>
            <a:r>
              <a:rPr sz="3200" b="1" spc="-270" dirty="0">
                <a:latin typeface="Arial"/>
                <a:cs typeface="Arial"/>
              </a:rPr>
              <a:t>Socia</a:t>
            </a:r>
            <a:r>
              <a:rPr sz="3200" b="1" spc="-140" dirty="0">
                <a:latin typeface="Arial"/>
                <a:cs typeface="Arial"/>
              </a:rPr>
              <a:t>l</a:t>
            </a:r>
            <a:r>
              <a:rPr sz="3200" b="1" spc="-105" dirty="0">
                <a:latin typeface="Arial"/>
                <a:cs typeface="Arial"/>
              </a:rPr>
              <a:t> </a:t>
            </a:r>
            <a:r>
              <a:rPr sz="3200" b="1" spc="-305" dirty="0">
                <a:latin typeface="Arial"/>
                <a:cs typeface="Arial"/>
              </a:rPr>
              <a:t>Iss</a:t>
            </a:r>
            <a:r>
              <a:rPr sz="3200" b="1" spc="-395" dirty="0">
                <a:latin typeface="Arial"/>
                <a:cs typeface="Arial"/>
              </a:rPr>
              <a:t>u</a:t>
            </a:r>
            <a:r>
              <a:rPr sz="3200" b="1" spc="-409" dirty="0">
                <a:latin typeface="Arial"/>
                <a:cs typeface="Arial"/>
              </a:rPr>
              <a:t>es</a:t>
            </a:r>
            <a:endParaRPr sz="3200">
              <a:latin typeface="Arial"/>
              <a:cs typeface="Arial"/>
            </a:endParaRPr>
          </a:p>
        </p:txBody>
      </p:sp>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0"/>
            <a:ext cx="8534400" cy="1243289"/>
          </a:xfrm>
          <a:prstGeom prst="rect">
            <a:avLst/>
          </a:prstGeom>
        </p:spPr>
        <p:txBody>
          <a:bodyPr vert="horz" wrap="square" lIns="0" tIns="12065" rIns="0" bIns="0" rtlCol="0">
            <a:spAutoFit/>
          </a:bodyPr>
          <a:lstStyle/>
          <a:p>
            <a:pPr marL="12700" marR="5080" algn="ctr">
              <a:lnSpc>
                <a:spcPct val="100000"/>
              </a:lnSpc>
              <a:spcBef>
                <a:spcPts val="95"/>
              </a:spcBef>
            </a:pPr>
            <a:r>
              <a:rPr lang="en-US" sz="4000" spc="-155" dirty="0"/>
              <a:t>APPLICATIONS </a:t>
            </a:r>
            <a:r>
              <a:rPr sz="4000" spc="-155"/>
              <a:t>OF</a:t>
            </a:r>
            <a:r>
              <a:rPr sz="4000" spc="-114"/>
              <a:t> </a:t>
            </a:r>
            <a:r>
              <a:rPr sz="4000" spc="-190" dirty="0"/>
              <a:t>CO</a:t>
            </a:r>
            <a:r>
              <a:rPr sz="4000" spc="-195" dirty="0"/>
              <a:t>M</a:t>
            </a:r>
            <a:r>
              <a:rPr sz="4000" spc="-225" dirty="0"/>
              <a:t>PUTER  </a:t>
            </a:r>
            <a:r>
              <a:rPr sz="4000" spc="-204" dirty="0"/>
              <a:t>NETWORK</a:t>
            </a:r>
            <a:endParaRPr sz="4000"/>
          </a:p>
        </p:txBody>
      </p:sp>
      <p:sp>
        <p:nvSpPr>
          <p:cNvPr id="3" name="object 3"/>
          <p:cNvSpPr txBox="1"/>
          <p:nvPr/>
        </p:nvSpPr>
        <p:spPr>
          <a:xfrm>
            <a:off x="612140" y="2313812"/>
            <a:ext cx="7767320" cy="1136650"/>
          </a:xfrm>
          <a:prstGeom prst="rect">
            <a:avLst/>
          </a:prstGeom>
        </p:spPr>
        <p:txBody>
          <a:bodyPr vert="horz" wrap="square" lIns="0" tIns="12065" rIns="0" bIns="0" rtlCol="0">
            <a:spAutoFit/>
          </a:bodyPr>
          <a:lstStyle/>
          <a:p>
            <a:pPr marL="236220" indent="-224154">
              <a:lnSpc>
                <a:spcPct val="100000"/>
              </a:lnSpc>
              <a:spcBef>
                <a:spcPts val="95"/>
              </a:spcBef>
              <a:buFont typeface="Trebuchet MS"/>
              <a:buChar char="•"/>
              <a:tabLst>
                <a:tab pos="236854" algn="l"/>
              </a:tabLst>
            </a:pPr>
            <a:r>
              <a:rPr sz="2800" b="1" spc="-155" dirty="0">
                <a:latin typeface="Arial"/>
                <a:cs typeface="Arial"/>
              </a:rPr>
              <a:t>Sharing</a:t>
            </a:r>
            <a:r>
              <a:rPr sz="2800" b="1" spc="-60" dirty="0">
                <a:latin typeface="Arial"/>
                <a:cs typeface="Arial"/>
              </a:rPr>
              <a:t> </a:t>
            </a:r>
            <a:r>
              <a:rPr sz="2800" b="1" spc="-55" dirty="0">
                <a:latin typeface="Arial"/>
                <a:cs typeface="Arial"/>
              </a:rPr>
              <a:t>information</a:t>
            </a:r>
            <a:r>
              <a:rPr sz="2800" b="1" spc="-15" dirty="0">
                <a:latin typeface="Arial"/>
                <a:cs typeface="Arial"/>
              </a:rPr>
              <a:t> </a:t>
            </a:r>
            <a:r>
              <a:rPr sz="2800" b="1" spc="365" dirty="0">
                <a:latin typeface="Trebuchet MS"/>
                <a:cs typeface="Trebuchet MS"/>
              </a:rPr>
              <a:t>—</a:t>
            </a:r>
            <a:r>
              <a:rPr sz="2800" b="1" spc="-140" dirty="0">
                <a:latin typeface="Trebuchet MS"/>
                <a:cs typeface="Trebuchet MS"/>
              </a:rPr>
              <a:t> </a:t>
            </a:r>
            <a:r>
              <a:rPr sz="2800" b="1" spc="-40" dirty="0">
                <a:latin typeface="Arial"/>
                <a:cs typeface="Arial"/>
              </a:rPr>
              <a:t>i.e.</a:t>
            </a:r>
            <a:r>
              <a:rPr sz="2800" b="1" spc="-50" dirty="0">
                <a:solidFill>
                  <a:srgbClr val="3333CC"/>
                </a:solidFill>
                <a:latin typeface="Arial"/>
                <a:cs typeface="Arial"/>
              </a:rPr>
              <a:t> </a:t>
            </a:r>
            <a:r>
              <a:rPr sz="2800" b="1" u="heavy" spc="55" dirty="0">
                <a:solidFill>
                  <a:srgbClr val="3333CC"/>
                </a:solidFill>
                <a:uFill>
                  <a:solidFill>
                    <a:srgbClr val="3333CC"/>
                  </a:solidFill>
                </a:uFill>
                <a:latin typeface="Arial"/>
                <a:cs typeface="Arial"/>
              </a:rPr>
              <a:t>data</a:t>
            </a:r>
            <a:r>
              <a:rPr sz="2800" b="1" u="heavy" spc="-55" dirty="0">
                <a:solidFill>
                  <a:srgbClr val="3333CC"/>
                </a:solidFill>
                <a:uFill>
                  <a:solidFill>
                    <a:srgbClr val="3333CC"/>
                  </a:solidFill>
                </a:uFill>
                <a:latin typeface="Arial"/>
                <a:cs typeface="Arial"/>
              </a:rPr>
              <a:t> </a:t>
            </a:r>
            <a:r>
              <a:rPr sz="2800" b="1" u="heavy" spc="-120" dirty="0">
                <a:solidFill>
                  <a:srgbClr val="3333CC"/>
                </a:solidFill>
                <a:uFill>
                  <a:solidFill>
                    <a:srgbClr val="3333CC"/>
                  </a:solidFill>
                </a:uFill>
                <a:latin typeface="Arial"/>
                <a:cs typeface="Arial"/>
              </a:rPr>
              <a:t>communication</a:t>
            </a:r>
            <a:endParaRPr sz="2800">
              <a:latin typeface="Arial"/>
              <a:cs typeface="Arial"/>
            </a:endParaRPr>
          </a:p>
          <a:p>
            <a:pPr>
              <a:lnSpc>
                <a:spcPct val="100000"/>
              </a:lnSpc>
              <a:spcBef>
                <a:spcPts val="10"/>
              </a:spcBef>
              <a:buFont typeface="Trebuchet MS"/>
              <a:buChar char="•"/>
            </a:pPr>
            <a:endParaRPr sz="2800">
              <a:latin typeface="Arial"/>
              <a:cs typeface="Arial"/>
            </a:endParaRPr>
          </a:p>
          <a:p>
            <a:pPr marL="694055" lvl="1" indent="-224790">
              <a:lnSpc>
                <a:spcPct val="100000"/>
              </a:lnSpc>
              <a:buFont typeface="Trebuchet MS"/>
              <a:buChar char="•"/>
              <a:tabLst>
                <a:tab pos="694690" algn="l"/>
              </a:tabLst>
            </a:pPr>
            <a:r>
              <a:rPr sz="1800" b="1" spc="-85" dirty="0">
                <a:solidFill>
                  <a:srgbClr val="FF3300"/>
                </a:solidFill>
                <a:latin typeface="Arial"/>
                <a:cs typeface="Arial"/>
              </a:rPr>
              <a:t>Do</a:t>
            </a:r>
            <a:r>
              <a:rPr sz="1800" b="1" spc="-60" dirty="0">
                <a:solidFill>
                  <a:srgbClr val="FF3300"/>
                </a:solidFill>
                <a:latin typeface="Arial"/>
                <a:cs typeface="Arial"/>
              </a:rPr>
              <a:t> </a:t>
            </a:r>
            <a:r>
              <a:rPr sz="1800" b="1" spc="-85" dirty="0">
                <a:solidFill>
                  <a:srgbClr val="FF3300"/>
                </a:solidFill>
                <a:latin typeface="Arial"/>
                <a:cs typeface="Arial"/>
              </a:rPr>
              <a:t>yo</a:t>
            </a:r>
            <a:r>
              <a:rPr sz="1800" b="1" spc="-80" dirty="0">
                <a:solidFill>
                  <a:srgbClr val="FF3300"/>
                </a:solidFill>
                <a:latin typeface="Arial"/>
                <a:cs typeface="Arial"/>
              </a:rPr>
              <a:t>u</a:t>
            </a:r>
            <a:r>
              <a:rPr sz="1800" b="1" spc="-65" dirty="0">
                <a:solidFill>
                  <a:srgbClr val="FF3300"/>
                </a:solidFill>
                <a:latin typeface="Arial"/>
                <a:cs typeface="Arial"/>
              </a:rPr>
              <a:t> </a:t>
            </a:r>
            <a:r>
              <a:rPr sz="1800" b="1" spc="-25" dirty="0">
                <a:solidFill>
                  <a:srgbClr val="FF3300"/>
                </a:solidFill>
                <a:latin typeface="Arial"/>
                <a:cs typeface="Arial"/>
              </a:rPr>
              <a:t>pr</a:t>
            </a:r>
            <a:r>
              <a:rPr sz="1800" b="1" spc="-45" dirty="0">
                <a:solidFill>
                  <a:srgbClr val="FF3300"/>
                </a:solidFill>
                <a:latin typeface="Arial"/>
                <a:cs typeface="Arial"/>
              </a:rPr>
              <a:t>efer</a:t>
            </a:r>
            <a:r>
              <a:rPr sz="1800" b="1" spc="-40" dirty="0">
                <a:solidFill>
                  <a:srgbClr val="FF3300"/>
                </a:solidFill>
                <a:latin typeface="Arial"/>
                <a:cs typeface="Arial"/>
              </a:rPr>
              <a:t> </a:t>
            </a:r>
            <a:r>
              <a:rPr sz="1800" b="1" spc="-150" dirty="0">
                <a:solidFill>
                  <a:srgbClr val="FF3300"/>
                </a:solidFill>
                <a:latin typeface="Arial"/>
                <a:cs typeface="Arial"/>
              </a:rPr>
              <a:t>these?</a:t>
            </a:r>
            <a:endParaRPr sz="1800">
              <a:latin typeface="Arial"/>
              <a:cs typeface="Arial"/>
            </a:endParaRPr>
          </a:p>
        </p:txBody>
      </p:sp>
      <p:sp>
        <p:nvSpPr>
          <p:cNvPr id="4" name="object 4"/>
          <p:cNvSpPr txBox="1"/>
          <p:nvPr/>
        </p:nvSpPr>
        <p:spPr>
          <a:xfrm>
            <a:off x="1069644" y="4369689"/>
            <a:ext cx="1020444" cy="299720"/>
          </a:xfrm>
          <a:prstGeom prst="rect">
            <a:avLst/>
          </a:prstGeom>
        </p:spPr>
        <p:txBody>
          <a:bodyPr vert="horz" wrap="square" lIns="0" tIns="12700" rIns="0" bIns="0" rtlCol="0">
            <a:spAutoFit/>
          </a:bodyPr>
          <a:lstStyle/>
          <a:p>
            <a:pPr marL="236220" indent="-224154">
              <a:lnSpc>
                <a:spcPct val="100000"/>
              </a:lnSpc>
              <a:spcBef>
                <a:spcPts val="100"/>
              </a:spcBef>
              <a:buFont typeface="Trebuchet MS"/>
              <a:buChar char="•"/>
              <a:tabLst>
                <a:tab pos="236854" algn="l"/>
              </a:tabLst>
            </a:pPr>
            <a:r>
              <a:rPr sz="1800" b="1" spc="-35" dirty="0">
                <a:solidFill>
                  <a:srgbClr val="FF3300"/>
                </a:solidFill>
                <a:latin typeface="Arial"/>
                <a:cs typeface="Arial"/>
              </a:rPr>
              <a:t>Or</a:t>
            </a:r>
            <a:r>
              <a:rPr sz="1800" b="1" spc="-70" dirty="0">
                <a:solidFill>
                  <a:srgbClr val="FF3300"/>
                </a:solidFill>
                <a:latin typeface="Arial"/>
                <a:cs typeface="Arial"/>
              </a:rPr>
              <a:t> </a:t>
            </a:r>
            <a:r>
              <a:rPr sz="1800" b="1" spc="-145" dirty="0">
                <a:solidFill>
                  <a:srgbClr val="FF3300"/>
                </a:solidFill>
                <a:latin typeface="Arial"/>
                <a:cs typeface="Arial"/>
              </a:rPr>
              <a:t>this?</a:t>
            </a:r>
            <a:endParaRPr sz="1800">
              <a:latin typeface="Arial"/>
              <a:cs typeface="Arial"/>
            </a:endParaRPr>
          </a:p>
        </p:txBody>
      </p:sp>
      <p:pic>
        <p:nvPicPr>
          <p:cNvPr id="5" name="object 5"/>
          <p:cNvPicPr/>
          <p:nvPr/>
        </p:nvPicPr>
        <p:blipFill>
          <a:blip r:embed="rId2" cstate="print"/>
          <a:stretch>
            <a:fillRect/>
          </a:stretch>
        </p:blipFill>
        <p:spPr>
          <a:xfrm>
            <a:off x="2057400" y="5023142"/>
            <a:ext cx="3559816" cy="1219518"/>
          </a:xfrm>
          <a:prstGeom prst="rect">
            <a:avLst/>
          </a:prstGeom>
        </p:spPr>
      </p:pic>
      <p:pic>
        <p:nvPicPr>
          <p:cNvPr id="6" name="object 6"/>
          <p:cNvPicPr/>
          <p:nvPr/>
        </p:nvPicPr>
        <p:blipFill>
          <a:blip r:embed="rId3" cstate="print"/>
          <a:stretch>
            <a:fillRect/>
          </a:stretch>
        </p:blipFill>
        <p:spPr>
          <a:xfrm>
            <a:off x="5648873" y="4211170"/>
            <a:ext cx="543964" cy="529477"/>
          </a:xfrm>
          <a:prstGeom prst="rect">
            <a:avLst/>
          </a:prstGeom>
        </p:spPr>
      </p:pic>
      <p:grpSp>
        <p:nvGrpSpPr>
          <p:cNvPr id="7" name="object 7"/>
          <p:cNvGrpSpPr/>
          <p:nvPr/>
        </p:nvGrpSpPr>
        <p:grpSpPr>
          <a:xfrm>
            <a:off x="4419600" y="3276536"/>
            <a:ext cx="1066800" cy="1265555"/>
            <a:chOff x="4419600" y="3276536"/>
            <a:chExt cx="1066800" cy="1265555"/>
          </a:xfrm>
        </p:grpSpPr>
        <p:pic>
          <p:nvPicPr>
            <p:cNvPr id="8" name="object 8"/>
            <p:cNvPicPr/>
            <p:nvPr/>
          </p:nvPicPr>
          <p:blipFill>
            <a:blip r:embed="rId4" cstate="print"/>
            <a:stretch>
              <a:fillRect/>
            </a:stretch>
          </p:blipFill>
          <p:spPr>
            <a:xfrm>
              <a:off x="4419600" y="3276536"/>
              <a:ext cx="856077" cy="912603"/>
            </a:xfrm>
            <a:prstGeom prst="rect">
              <a:avLst/>
            </a:prstGeom>
          </p:spPr>
        </p:pic>
        <p:sp>
          <p:nvSpPr>
            <p:cNvPr id="9" name="object 9"/>
            <p:cNvSpPr/>
            <p:nvPr/>
          </p:nvSpPr>
          <p:spPr>
            <a:xfrm>
              <a:off x="4942712" y="4190999"/>
              <a:ext cx="544195" cy="351155"/>
            </a:xfrm>
            <a:custGeom>
              <a:avLst/>
              <a:gdLst/>
              <a:ahLst/>
              <a:cxnLst/>
              <a:rect l="l" t="t" r="r" b="b"/>
              <a:pathLst>
                <a:path w="544195" h="351154">
                  <a:moveTo>
                    <a:pt x="428147" y="312773"/>
                  </a:moveTo>
                  <a:lnTo>
                    <a:pt x="424561" y="351027"/>
                  </a:lnTo>
                  <a:lnTo>
                    <a:pt x="517832" y="314832"/>
                  </a:lnTo>
                  <a:lnTo>
                    <a:pt x="446786" y="314832"/>
                  </a:lnTo>
                  <a:lnTo>
                    <a:pt x="428147" y="312773"/>
                  </a:lnTo>
                  <a:close/>
                </a:path>
                <a:path w="544195" h="351154">
                  <a:moveTo>
                    <a:pt x="431702" y="274849"/>
                  </a:moveTo>
                  <a:lnTo>
                    <a:pt x="428147" y="312773"/>
                  </a:lnTo>
                  <a:lnTo>
                    <a:pt x="446786" y="314832"/>
                  </a:lnTo>
                  <a:lnTo>
                    <a:pt x="450976" y="276987"/>
                  </a:lnTo>
                  <a:lnTo>
                    <a:pt x="431702" y="274849"/>
                  </a:lnTo>
                  <a:close/>
                </a:path>
                <a:path w="544195" h="351154">
                  <a:moveTo>
                    <a:pt x="435228" y="237236"/>
                  </a:moveTo>
                  <a:lnTo>
                    <a:pt x="431702" y="274849"/>
                  </a:lnTo>
                  <a:lnTo>
                    <a:pt x="450976" y="276987"/>
                  </a:lnTo>
                  <a:lnTo>
                    <a:pt x="446786" y="314832"/>
                  </a:lnTo>
                  <a:lnTo>
                    <a:pt x="517832" y="314832"/>
                  </a:lnTo>
                  <a:lnTo>
                    <a:pt x="543687" y="304800"/>
                  </a:lnTo>
                  <a:lnTo>
                    <a:pt x="435228" y="237236"/>
                  </a:lnTo>
                  <a:close/>
                </a:path>
                <a:path w="544195" h="351154">
                  <a:moveTo>
                    <a:pt x="71112" y="98680"/>
                  </a:moveTo>
                  <a:lnTo>
                    <a:pt x="35770" y="112944"/>
                  </a:lnTo>
                  <a:lnTo>
                    <a:pt x="39624" y="121919"/>
                  </a:lnTo>
                  <a:lnTo>
                    <a:pt x="48640" y="138175"/>
                  </a:lnTo>
                  <a:lnTo>
                    <a:pt x="79756" y="183133"/>
                  </a:lnTo>
                  <a:lnTo>
                    <a:pt x="120141" y="222757"/>
                  </a:lnTo>
                  <a:lnTo>
                    <a:pt x="153162" y="245110"/>
                  </a:lnTo>
                  <a:lnTo>
                    <a:pt x="191388" y="263525"/>
                  </a:lnTo>
                  <a:lnTo>
                    <a:pt x="233679" y="278511"/>
                  </a:lnTo>
                  <a:lnTo>
                    <a:pt x="279653" y="290322"/>
                  </a:lnTo>
                  <a:lnTo>
                    <a:pt x="328549" y="299719"/>
                  </a:lnTo>
                  <a:lnTo>
                    <a:pt x="380111" y="307467"/>
                  </a:lnTo>
                  <a:lnTo>
                    <a:pt x="428147" y="312773"/>
                  </a:lnTo>
                  <a:lnTo>
                    <a:pt x="431702" y="274849"/>
                  </a:lnTo>
                  <a:lnTo>
                    <a:pt x="384556" y="269620"/>
                  </a:lnTo>
                  <a:lnTo>
                    <a:pt x="385063" y="269620"/>
                  </a:lnTo>
                  <a:lnTo>
                    <a:pt x="360326" y="266192"/>
                  </a:lnTo>
                  <a:lnTo>
                    <a:pt x="359790" y="266192"/>
                  </a:lnTo>
                  <a:lnTo>
                    <a:pt x="335553" y="262255"/>
                  </a:lnTo>
                  <a:lnTo>
                    <a:pt x="335152" y="262255"/>
                  </a:lnTo>
                  <a:lnTo>
                    <a:pt x="311589" y="257937"/>
                  </a:lnTo>
                  <a:lnTo>
                    <a:pt x="311276" y="257937"/>
                  </a:lnTo>
                  <a:lnTo>
                    <a:pt x="287654" y="253111"/>
                  </a:lnTo>
                  <a:lnTo>
                    <a:pt x="266590" y="247904"/>
                  </a:lnTo>
                  <a:lnTo>
                    <a:pt x="266064" y="247904"/>
                  </a:lnTo>
                  <a:lnTo>
                    <a:pt x="244221" y="241807"/>
                  </a:lnTo>
                  <a:lnTo>
                    <a:pt x="225460" y="235712"/>
                  </a:lnTo>
                  <a:lnTo>
                    <a:pt x="225171" y="235712"/>
                  </a:lnTo>
                  <a:lnTo>
                    <a:pt x="206349" y="228473"/>
                  </a:lnTo>
                  <a:lnTo>
                    <a:pt x="205359" y="228092"/>
                  </a:lnTo>
                  <a:lnTo>
                    <a:pt x="187706" y="220344"/>
                  </a:lnTo>
                  <a:lnTo>
                    <a:pt x="187889" y="220344"/>
                  </a:lnTo>
                  <a:lnTo>
                    <a:pt x="173016" y="212470"/>
                  </a:lnTo>
                  <a:lnTo>
                    <a:pt x="172720" y="212470"/>
                  </a:lnTo>
                  <a:lnTo>
                    <a:pt x="157933" y="203200"/>
                  </a:lnTo>
                  <a:lnTo>
                    <a:pt x="156717" y="202437"/>
                  </a:lnTo>
                  <a:lnTo>
                    <a:pt x="144342" y="193294"/>
                  </a:lnTo>
                  <a:lnTo>
                    <a:pt x="143128" y="192405"/>
                  </a:lnTo>
                  <a:lnTo>
                    <a:pt x="131857" y="182752"/>
                  </a:lnTo>
                  <a:lnTo>
                    <a:pt x="131699" y="182752"/>
                  </a:lnTo>
                  <a:lnTo>
                    <a:pt x="119125" y="170306"/>
                  </a:lnTo>
                  <a:lnTo>
                    <a:pt x="109496" y="159257"/>
                  </a:lnTo>
                  <a:lnTo>
                    <a:pt x="109347" y="159257"/>
                  </a:lnTo>
                  <a:lnTo>
                    <a:pt x="99594" y="146685"/>
                  </a:lnTo>
                  <a:lnTo>
                    <a:pt x="98806" y="145669"/>
                  </a:lnTo>
                  <a:lnTo>
                    <a:pt x="90312" y="133223"/>
                  </a:lnTo>
                  <a:lnTo>
                    <a:pt x="89788" y="132461"/>
                  </a:lnTo>
                  <a:lnTo>
                    <a:pt x="81279" y="118618"/>
                  </a:lnTo>
                  <a:lnTo>
                    <a:pt x="74329" y="106044"/>
                  </a:lnTo>
                  <a:lnTo>
                    <a:pt x="73406" y="104393"/>
                  </a:lnTo>
                  <a:lnTo>
                    <a:pt x="73581" y="104393"/>
                  </a:lnTo>
                  <a:lnTo>
                    <a:pt x="71112" y="98680"/>
                  </a:lnTo>
                  <a:close/>
                </a:path>
                <a:path w="544195" h="351154">
                  <a:moveTo>
                    <a:pt x="359410" y="266064"/>
                  </a:moveTo>
                  <a:lnTo>
                    <a:pt x="359790" y="266192"/>
                  </a:lnTo>
                  <a:lnTo>
                    <a:pt x="360326" y="266192"/>
                  </a:lnTo>
                  <a:lnTo>
                    <a:pt x="359410" y="266064"/>
                  </a:lnTo>
                  <a:close/>
                </a:path>
                <a:path w="544195" h="351154">
                  <a:moveTo>
                    <a:pt x="334772" y="262127"/>
                  </a:moveTo>
                  <a:lnTo>
                    <a:pt x="335152" y="262255"/>
                  </a:lnTo>
                  <a:lnTo>
                    <a:pt x="335553" y="262255"/>
                  </a:lnTo>
                  <a:lnTo>
                    <a:pt x="334772" y="262127"/>
                  </a:lnTo>
                  <a:close/>
                </a:path>
                <a:path w="544195" h="351154">
                  <a:moveTo>
                    <a:pt x="310896" y="257810"/>
                  </a:moveTo>
                  <a:lnTo>
                    <a:pt x="311276" y="257937"/>
                  </a:lnTo>
                  <a:lnTo>
                    <a:pt x="311589" y="257937"/>
                  </a:lnTo>
                  <a:lnTo>
                    <a:pt x="310896" y="257810"/>
                  </a:lnTo>
                  <a:close/>
                </a:path>
                <a:path w="544195" h="351154">
                  <a:moveTo>
                    <a:pt x="287773" y="253111"/>
                  </a:moveTo>
                  <a:lnTo>
                    <a:pt x="288289" y="253237"/>
                  </a:lnTo>
                  <a:lnTo>
                    <a:pt x="287773" y="253111"/>
                  </a:lnTo>
                  <a:close/>
                </a:path>
                <a:path w="544195" h="351154">
                  <a:moveTo>
                    <a:pt x="265557" y="247650"/>
                  </a:moveTo>
                  <a:lnTo>
                    <a:pt x="266064" y="247904"/>
                  </a:lnTo>
                  <a:lnTo>
                    <a:pt x="266590" y="247904"/>
                  </a:lnTo>
                  <a:lnTo>
                    <a:pt x="265557" y="247650"/>
                  </a:lnTo>
                  <a:close/>
                </a:path>
                <a:path w="544195" h="351154">
                  <a:moveTo>
                    <a:pt x="244976" y="242018"/>
                  </a:moveTo>
                  <a:lnTo>
                    <a:pt x="245110" y="242062"/>
                  </a:lnTo>
                  <a:lnTo>
                    <a:pt x="244976" y="242018"/>
                  </a:lnTo>
                  <a:close/>
                </a:path>
                <a:path w="544195" h="351154">
                  <a:moveTo>
                    <a:pt x="244324" y="241807"/>
                  </a:moveTo>
                  <a:lnTo>
                    <a:pt x="244976" y="242018"/>
                  </a:lnTo>
                  <a:lnTo>
                    <a:pt x="244324" y="241807"/>
                  </a:lnTo>
                  <a:close/>
                </a:path>
                <a:path w="544195" h="351154">
                  <a:moveTo>
                    <a:pt x="224282" y="235331"/>
                  </a:moveTo>
                  <a:lnTo>
                    <a:pt x="225171" y="235712"/>
                  </a:lnTo>
                  <a:lnTo>
                    <a:pt x="225460" y="235712"/>
                  </a:lnTo>
                  <a:lnTo>
                    <a:pt x="224282" y="235331"/>
                  </a:lnTo>
                  <a:close/>
                </a:path>
                <a:path w="544195" h="351154">
                  <a:moveTo>
                    <a:pt x="205520" y="228154"/>
                  </a:moveTo>
                  <a:lnTo>
                    <a:pt x="206248" y="228473"/>
                  </a:lnTo>
                  <a:lnTo>
                    <a:pt x="205520" y="228154"/>
                  </a:lnTo>
                  <a:close/>
                </a:path>
                <a:path w="544195" h="351154">
                  <a:moveTo>
                    <a:pt x="205378" y="228092"/>
                  </a:moveTo>
                  <a:lnTo>
                    <a:pt x="205520" y="228154"/>
                  </a:lnTo>
                  <a:lnTo>
                    <a:pt x="205378" y="228092"/>
                  </a:lnTo>
                  <a:close/>
                </a:path>
                <a:path w="544195" h="351154">
                  <a:moveTo>
                    <a:pt x="188772" y="220812"/>
                  </a:moveTo>
                  <a:close/>
                </a:path>
                <a:path w="544195" h="351154">
                  <a:moveTo>
                    <a:pt x="187889" y="220344"/>
                  </a:moveTo>
                  <a:lnTo>
                    <a:pt x="187706" y="220344"/>
                  </a:lnTo>
                  <a:lnTo>
                    <a:pt x="188772" y="220812"/>
                  </a:lnTo>
                  <a:lnTo>
                    <a:pt x="187889" y="220344"/>
                  </a:lnTo>
                  <a:close/>
                </a:path>
                <a:path w="544195" h="351154">
                  <a:moveTo>
                    <a:pt x="171576" y="211708"/>
                  </a:moveTo>
                  <a:lnTo>
                    <a:pt x="172720" y="212470"/>
                  </a:lnTo>
                  <a:lnTo>
                    <a:pt x="173016" y="212470"/>
                  </a:lnTo>
                  <a:lnTo>
                    <a:pt x="171576" y="211708"/>
                  </a:lnTo>
                  <a:close/>
                </a:path>
                <a:path w="544195" h="351154">
                  <a:moveTo>
                    <a:pt x="156717" y="202437"/>
                  </a:moveTo>
                  <a:lnTo>
                    <a:pt x="157861" y="203200"/>
                  </a:lnTo>
                  <a:lnTo>
                    <a:pt x="157432" y="202885"/>
                  </a:lnTo>
                  <a:lnTo>
                    <a:pt x="156717" y="202437"/>
                  </a:lnTo>
                  <a:close/>
                </a:path>
                <a:path w="544195" h="351154">
                  <a:moveTo>
                    <a:pt x="157432" y="202885"/>
                  </a:moveTo>
                  <a:lnTo>
                    <a:pt x="157861" y="203200"/>
                  </a:lnTo>
                  <a:lnTo>
                    <a:pt x="157432" y="202885"/>
                  </a:lnTo>
                  <a:close/>
                </a:path>
                <a:path w="544195" h="351154">
                  <a:moveTo>
                    <a:pt x="156821" y="202437"/>
                  </a:moveTo>
                  <a:lnTo>
                    <a:pt x="157432" y="202885"/>
                  </a:lnTo>
                  <a:lnTo>
                    <a:pt x="156821" y="202437"/>
                  </a:lnTo>
                  <a:close/>
                </a:path>
                <a:path w="544195" h="351154">
                  <a:moveTo>
                    <a:pt x="143128" y="192405"/>
                  </a:moveTo>
                  <a:lnTo>
                    <a:pt x="144272" y="193294"/>
                  </a:lnTo>
                  <a:lnTo>
                    <a:pt x="143829" y="192918"/>
                  </a:lnTo>
                  <a:lnTo>
                    <a:pt x="143128" y="192405"/>
                  </a:lnTo>
                  <a:close/>
                </a:path>
                <a:path w="544195" h="351154">
                  <a:moveTo>
                    <a:pt x="143829" y="192918"/>
                  </a:moveTo>
                  <a:lnTo>
                    <a:pt x="144272" y="193294"/>
                  </a:lnTo>
                  <a:lnTo>
                    <a:pt x="143829" y="192918"/>
                  </a:lnTo>
                  <a:close/>
                </a:path>
                <a:path w="544195" h="351154">
                  <a:moveTo>
                    <a:pt x="143224" y="192405"/>
                  </a:moveTo>
                  <a:lnTo>
                    <a:pt x="143829" y="192918"/>
                  </a:lnTo>
                  <a:lnTo>
                    <a:pt x="143224" y="192405"/>
                  </a:lnTo>
                  <a:close/>
                </a:path>
                <a:path w="544195" h="351154">
                  <a:moveTo>
                    <a:pt x="130810" y="181863"/>
                  </a:moveTo>
                  <a:lnTo>
                    <a:pt x="131699" y="182752"/>
                  </a:lnTo>
                  <a:lnTo>
                    <a:pt x="131857" y="182752"/>
                  </a:lnTo>
                  <a:lnTo>
                    <a:pt x="130810" y="181863"/>
                  </a:lnTo>
                  <a:close/>
                </a:path>
                <a:path w="544195" h="351154">
                  <a:moveTo>
                    <a:pt x="120070" y="171241"/>
                  </a:moveTo>
                  <a:close/>
                </a:path>
                <a:path w="544195" h="351154">
                  <a:moveTo>
                    <a:pt x="119245" y="170306"/>
                  </a:moveTo>
                  <a:lnTo>
                    <a:pt x="120070" y="171241"/>
                  </a:lnTo>
                  <a:lnTo>
                    <a:pt x="119245" y="170306"/>
                  </a:lnTo>
                  <a:close/>
                </a:path>
                <a:path w="544195" h="351154">
                  <a:moveTo>
                    <a:pt x="108712" y="158369"/>
                  </a:moveTo>
                  <a:lnTo>
                    <a:pt x="109347" y="159257"/>
                  </a:lnTo>
                  <a:lnTo>
                    <a:pt x="109496" y="159257"/>
                  </a:lnTo>
                  <a:lnTo>
                    <a:pt x="108712" y="158369"/>
                  </a:lnTo>
                  <a:close/>
                </a:path>
                <a:path w="544195" h="351154">
                  <a:moveTo>
                    <a:pt x="98806" y="145669"/>
                  </a:moveTo>
                  <a:lnTo>
                    <a:pt x="99567" y="146685"/>
                  </a:lnTo>
                  <a:lnTo>
                    <a:pt x="99364" y="146388"/>
                  </a:lnTo>
                  <a:lnTo>
                    <a:pt x="98806" y="145669"/>
                  </a:lnTo>
                  <a:close/>
                </a:path>
                <a:path w="544195" h="351154">
                  <a:moveTo>
                    <a:pt x="99364" y="146388"/>
                  </a:moveTo>
                  <a:lnTo>
                    <a:pt x="99567" y="146685"/>
                  </a:lnTo>
                  <a:lnTo>
                    <a:pt x="99364" y="146388"/>
                  </a:lnTo>
                  <a:close/>
                </a:path>
                <a:path w="544195" h="351154">
                  <a:moveTo>
                    <a:pt x="98869" y="145669"/>
                  </a:moveTo>
                  <a:lnTo>
                    <a:pt x="99364" y="146388"/>
                  </a:lnTo>
                  <a:lnTo>
                    <a:pt x="98869" y="145669"/>
                  </a:lnTo>
                  <a:close/>
                </a:path>
                <a:path w="544195" h="351154">
                  <a:moveTo>
                    <a:pt x="90157" y="132996"/>
                  </a:moveTo>
                  <a:lnTo>
                    <a:pt x="90297" y="133223"/>
                  </a:lnTo>
                  <a:lnTo>
                    <a:pt x="90157" y="132996"/>
                  </a:lnTo>
                  <a:close/>
                </a:path>
                <a:path w="544195" h="351154">
                  <a:moveTo>
                    <a:pt x="89826" y="132461"/>
                  </a:moveTo>
                  <a:lnTo>
                    <a:pt x="90157" y="132996"/>
                  </a:lnTo>
                  <a:lnTo>
                    <a:pt x="89826" y="132461"/>
                  </a:lnTo>
                  <a:close/>
                </a:path>
                <a:path w="544195" h="351154">
                  <a:moveTo>
                    <a:pt x="10287" y="0"/>
                  </a:moveTo>
                  <a:lnTo>
                    <a:pt x="0" y="127381"/>
                  </a:lnTo>
                  <a:lnTo>
                    <a:pt x="35770" y="112944"/>
                  </a:lnTo>
                  <a:lnTo>
                    <a:pt x="28448" y="95885"/>
                  </a:lnTo>
                  <a:lnTo>
                    <a:pt x="63373" y="80772"/>
                  </a:lnTo>
                  <a:lnTo>
                    <a:pt x="101731" y="80772"/>
                  </a:lnTo>
                  <a:lnTo>
                    <a:pt x="10287" y="0"/>
                  </a:lnTo>
                  <a:close/>
                </a:path>
                <a:path w="544195" h="351154">
                  <a:moveTo>
                    <a:pt x="81361" y="118618"/>
                  </a:moveTo>
                  <a:lnTo>
                    <a:pt x="81787" y="119380"/>
                  </a:lnTo>
                  <a:lnTo>
                    <a:pt x="81361" y="118618"/>
                  </a:lnTo>
                  <a:close/>
                </a:path>
                <a:path w="544195" h="351154">
                  <a:moveTo>
                    <a:pt x="63373" y="80772"/>
                  </a:moveTo>
                  <a:lnTo>
                    <a:pt x="28448" y="95885"/>
                  </a:lnTo>
                  <a:lnTo>
                    <a:pt x="35770" y="112944"/>
                  </a:lnTo>
                  <a:lnTo>
                    <a:pt x="71112" y="98680"/>
                  </a:lnTo>
                  <a:lnTo>
                    <a:pt x="63373" y="80772"/>
                  </a:lnTo>
                  <a:close/>
                </a:path>
                <a:path w="544195" h="351154">
                  <a:moveTo>
                    <a:pt x="73406" y="104393"/>
                  </a:moveTo>
                  <a:lnTo>
                    <a:pt x="74295" y="106044"/>
                  </a:lnTo>
                  <a:lnTo>
                    <a:pt x="74177" y="105774"/>
                  </a:lnTo>
                  <a:lnTo>
                    <a:pt x="73406" y="104393"/>
                  </a:lnTo>
                  <a:close/>
                </a:path>
                <a:path w="544195" h="351154">
                  <a:moveTo>
                    <a:pt x="74177" y="105774"/>
                  </a:moveTo>
                  <a:lnTo>
                    <a:pt x="74295" y="106044"/>
                  </a:lnTo>
                  <a:lnTo>
                    <a:pt x="74177" y="105774"/>
                  </a:lnTo>
                  <a:close/>
                </a:path>
                <a:path w="544195" h="351154">
                  <a:moveTo>
                    <a:pt x="73581" y="104393"/>
                  </a:moveTo>
                  <a:lnTo>
                    <a:pt x="73406" y="104393"/>
                  </a:lnTo>
                  <a:lnTo>
                    <a:pt x="74177" y="105774"/>
                  </a:lnTo>
                  <a:lnTo>
                    <a:pt x="73581" y="104393"/>
                  </a:lnTo>
                  <a:close/>
                </a:path>
                <a:path w="544195" h="351154">
                  <a:moveTo>
                    <a:pt x="101731" y="80772"/>
                  </a:moveTo>
                  <a:lnTo>
                    <a:pt x="63373" y="80772"/>
                  </a:lnTo>
                  <a:lnTo>
                    <a:pt x="71112" y="98680"/>
                  </a:lnTo>
                  <a:lnTo>
                    <a:pt x="106045" y="84581"/>
                  </a:lnTo>
                  <a:lnTo>
                    <a:pt x="101731" y="80772"/>
                  </a:lnTo>
                  <a:close/>
                </a:path>
              </a:pathLst>
            </a:custGeom>
            <a:solidFill>
              <a:srgbClr val="000000"/>
            </a:solidFill>
          </p:spPr>
          <p:txBody>
            <a:bodyPr wrap="square" lIns="0" tIns="0" rIns="0" bIns="0" rtlCol="0"/>
            <a:lstStyle/>
            <a:p>
              <a:endParaRPr/>
            </a:p>
          </p:txBody>
        </p:sp>
      </p:grpSp>
      <p:grpSp>
        <p:nvGrpSpPr>
          <p:cNvPr id="10" name="object 10"/>
          <p:cNvGrpSpPr/>
          <p:nvPr/>
        </p:nvGrpSpPr>
        <p:grpSpPr>
          <a:xfrm>
            <a:off x="6248400" y="3276536"/>
            <a:ext cx="1161415" cy="1265555"/>
            <a:chOff x="6248400" y="3276536"/>
            <a:chExt cx="1161415" cy="1265555"/>
          </a:xfrm>
        </p:grpSpPr>
        <p:pic>
          <p:nvPicPr>
            <p:cNvPr id="11" name="object 11"/>
            <p:cNvPicPr/>
            <p:nvPr/>
          </p:nvPicPr>
          <p:blipFill>
            <a:blip r:embed="rId4" cstate="print"/>
            <a:stretch>
              <a:fillRect/>
            </a:stretch>
          </p:blipFill>
          <p:spPr>
            <a:xfrm>
              <a:off x="6553200" y="3276536"/>
              <a:ext cx="856077" cy="912603"/>
            </a:xfrm>
            <a:prstGeom prst="rect">
              <a:avLst/>
            </a:prstGeom>
          </p:spPr>
        </p:pic>
        <p:sp>
          <p:nvSpPr>
            <p:cNvPr id="12" name="object 12"/>
            <p:cNvSpPr/>
            <p:nvPr/>
          </p:nvSpPr>
          <p:spPr>
            <a:xfrm>
              <a:off x="6248400" y="4190999"/>
              <a:ext cx="544195" cy="351155"/>
            </a:xfrm>
            <a:custGeom>
              <a:avLst/>
              <a:gdLst/>
              <a:ahLst/>
              <a:cxnLst/>
              <a:rect l="l" t="t" r="r" b="b"/>
              <a:pathLst>
                <a:path w="544195" h="351154">
                  <a:moveTo>
                    <a:pt x="108458" y="237236"/>
                  </a:moveTo>
                  <a:lnTo>
                    <a:pt x="0" y="304800"/>
                  </a:lnTo>
                  <a:lnTo>
                    <a:pt x="119125" y="351027"/>
                  </a:lnTo>
                  <a:lnTo>
                    <a:pt x="115732" y="314832"/>
                  </a:lnTo>
                  <a:lnTo>
                    <a:pt x="96900" y="314832"/>
                  </a:lnTo>
                  <a:lnTo>
                    <a:pt x="92710" y="276987"/>
                  </a:lnTo>
                  <a:lnTo>
                    <a:pt x="111984" y="274853"/>
                  </a:lnTo>
                  <a:lnTo>
                    <a:pt x="108458" y="237236"/>
                  </a:lnTo>
                  <a:close/>
                </a:path>
                <a:path w="544195" h="351154">
                  <a:moveTo>
                    <a:pt x="111984" y="274853"/>
                  </a:moveTo>
                  <a:lnTo>
                    <a:pt x="92710" y="276987"/>
                  </a:lnTo>
                  <a:lnTo>
                    <a:pt x="96900" y="314832"/>
                  </a:lnTo>
                  <a:lnTo>
                    <a:pt x="115540" y="312777"/>
                  </a:lnTo>
                  <a:lnTo>
                    <a:pt x="111984" y="274853"/>
                  </a:lnTo>
                  <a:close/>
                </a:path>
                <a:path w="544195" h="351154">
                  <a:moveTo>
                    <a:pt x="115540" y="312777"/>
                  </a:moveTo>
                  <a:lnTo>
                    <a:pt x="96900" y="314832"/>
                  </a:lnTo>
                  <a:lnTo>
                    <a:pt x="115732" y="314832"/>
                  </a:lnTo>
                  <a:lnTo>
                    <a:pt x="115540" y="312777"/>
                  </a:lnTo>
                  <a:close/>
                </a:path>
                <a:path w="544195" h="351154">
                  <a:moveTo>
                    <a:pt x="184403" y="266064"/>
                  </a:moveTo>
                  <a:lnTo>
                    <a:pt x="158750" y="269620"/>
                  </a:lnTo>
                  <a:lnTo>
                    <a:pt x="159258" y="269620"/>
                  </a:lnTo>
                  <a:lnTo>
                    <a:pt x="111984" y="274853"/>
                  </a:lnTo>
                  <a:lnTo>
                    <a:pt x="115540" y="312777"/>
                  </a:lnTo>
                  <a:lnTo>
                    <a:pt x="163702" y="307467"/>
                  </a:lnTo>
                  <a:lnTo>
                    <a:pt x="189737" y="303783"/>
                  </a:lnTo>
                  <a:lnTo>
                    <a:pt x="239902" y="295275"/>
                  </a:lnTo>
                  <a:lnTo>
                    <a:pt x="287527" y="284606"/>
                  </a:lnTo>
                  <a:lnTo>
                    <a:pt x="331724" y="271399"/>
                  </a:lnTo>
                  <a:lnTo>
                    <a:pt x="345329" y="266192"/>
                  </a:lnTo>
                  <a:lnTo>
                    <a:pt x="183896" y="266192"/>
                  </a:lnTo>
                  <a:lnTo>
                    <a:pt x="184403" y="266064"/>
                  </a:lnTo>
                  <a:close/>
                </a:path>
                <a:path w="544195" h="351154">
                  <a:moveTo>
                    <a:pt x="208914" y="262127"/>
                  </a:moveTo>
                  <a:lnTo>
                    <a:pt x="183896" y="266192"/>
                  </a:lnTo>
                  <a:lnTo>
                    <a:pt x="345329" y="266192"/>
                  </a:lnTo>
                  <a:lnTo>
                    <a:pt x="352298" y="263525"/>
                  </a:lnTo>
                  <a:lnTo>
                    <a:pt x="355192" y="262255"/>
                  </a:lnTo>
                  <a:lnTo>
                    <a:pt x="208534" y="262255"/>
                  </a:lnTo>
                  <a:lnTo>
                    <a:pt x="208914" y="262127"/>
                  </a:lnTo>
                  <a:close/>
                </a:path>
                <a:path w="544195" h="351154">
                  <a:moveTo>
                    <a:pt x="232917" y="257810"/>
                  </a:moveTo>
                  <a:lnTo>
                    <a:pt x="208534" y="262255"/>
                  </a:lnTo>
                  <a:lnTo>
                    <a:pt x="355192" y="262255"/>
                  </a:lnTo>
                  <a:lnTo>
                    <a:pt x="365035" y="257937"/>
                  </a:lnTo>
                  <a:lnTo>
                    <a:pt x="232537" y="257937"/>
                  </a:lnTo>
                  <a:lnTo>
                    <a:pt x="232917" y="257810"/>
                  </a:lnTo>
                  <a:close/>
                </a:path>
                <a:path w="544195" h="351154">
                  <a:moveTo>
                    <a:pt x="375354" y="253111"/>
                  </a:moveTo>
                  <a:lnTo>
                    <a:pt x="256158" y="253111"/>
                  </a:lnTo>
                  <a:lnTo>
                    <a:pt x="232537" y="257937"/>
                  </a:lnTo>
                  <a:lnTo>
                    <a:pt x="365035" y="257937"/>
                  </a:lnTo>
                  <a:lnTo>
                    <a:pt x="371982" y="254888"/>
                  </a:lnTo>
                  <a:lnTo>
                    <a:pt x="375354" y="253111"/>
                  </a:lnTo>
                  <a:close/>
                </a:path>
                <a:path w="544195" h="351154">
                  <a:moveTo>
                    <a:pt x="278256" y="247650"/>
                  </a:moveTo>
                  <a:lnTo>
                    <a:pt x="255397" y="253237"/>
                  </a:lnTo>
                  <a:lnTo>
                    <a:pt x="256158" y="253111"/>
                  </a:lnTo>
                  <a:lnTo>
                    <a:pt x="375354" y="253111"/>
                  </a:lnTo>
                  <a:lnTo>
                    <a:pt x="385227" y="247904"/>
                  </a:lnTo>
                  <a:lnTo>
                    <a:pt x="277622" y="247904"/>
                  </a:lnTo>
                  <a:lnTo>
                    <a:pt x="278256" y="247650"/>
                  </a:lnTo>
                  <a:close/>
                </a:path>
                <a:path w="544195" h="351154">
                  <a:moveTo>
                    <a:pt x="395831" y="241807"/>
                  </a:moveTo>
                  <a:lnTo>
                    <a:pt x="299466" y="241807"/>
                  </a:lnTo>
                  <a:lnTo>
                    <a:pt x="277622" y="247904"/>
                  </a:lnTo>
                  <a:lnTo>
                    <a:pt x="385227" y="247904"/>
                  </a:lnTo>
                  <a:lnTo>
                    <a:pt x="390525" y="245110"/>
                  </a:lnTo>
                  <a:lnTo>
                    <a:pt x="395831" y="241807"/>
                  </a:lnTo>
                  <a:close/>
                </a:path>
                <a:path w="544195" h="351154">
                  <a:moveTo>
                    <a:pt x="319531" y="235331"/>
                  </a:moveTo>
                  <a:lnTo>
                    <a:pt x="298717" y="242016"/>
                  </a:lnTo>
                  <a:lnTo>
                    <a:pt x="299466" y="241807"/>
                  </a:lnTo>
                  <a:lnTo>
                    <a:pt x="395831" y="241807"/>
                  </a:lnTo>
                  <a:lnTo>
                    <a:pt x="405628" y="235712"/>
                  </a:lnTo>
                  <a:lnTo>
                    <a:pt x="318643" y="235712"/>
                  </a:lnTo>
                  <a:lnTo>
                    <a:pt x="319531" y="235331"/>
                  </a:lnTo>
                  <a:close/>
                </a:path>
                <a:path w="544195" h="351154">
                  <a:moveTo>
                    <a:pt x="416392" y="228092"/>
                  </a:moveTo>
                  <a:lnTo>
                    <a:pt x="338327" y="228092"/>
                  </a:lnTo>
                  <a:lnTo>
                    <a:pt x="337439" y="228473"/>
                  </a:lnTo>
                  <a:lnTo>
                    <a:pt x="318643" y="235712"/>
                  </a:lnTo>
                  <a:lnTo>
                    <a:pt x="405628" y="235712"/>
                  </a:lnTo>
                  <a:lnTo>
                    <a:pt x="407670" y="234442"/>
                  </a:lnTo>
                  <a:lnTo>
                    <a:pt x="416392" y="228092"/>
                  </a:lnTo>
                  <a:close/>
                </a:path>
                <a:path w="544195" h="351154">
                  <a:moveTo>
                    <a:pt x="338158" y="228157"/>
                  </a:moveTo>
                  <a:lnTo>
                    <a:pt x="337343" y="228473"/>
                  </a:lnTo>
                  <a:lnTo>
                    <a:pt x="338158" y="228157"/>
                  </a:lnTo>
                  <a:close/>
                </a:path>
                <a:path w="544195" h="351154">
                  <a:moveTo>
                    <a:pt x="426521" y="220344"/>
                  </a:moveTo>
                  <a:lnTo>
                    <a:pt x="355980" y="220344"/>
                  </a:lnTo>
                  <a:lnTo>
                    <a:pt x="338158" y="228157"/>
                  </a:lnTo>
                  <a:lnTo>
                    <a:pt x="338327" y="228092"/>
                  </a:lnTo>
                  <a:lnTo>
                    <a:pt x="416392" y="228092"/>
                  </a:lnTo>
                  <a:lnTo>
                    <a:pt x="423545" y="222885"/>
                  </a:lnTo>
                  <a:lnTo>
                    <a:pt x="426521" y="220344"/>
                  </a:lnTo>
                  <a:close/>
                </a:path>
                <a:path w="544195" h="351154">
                  <a:moveTo>
                    <a:pt x="371758" y="211894"/>
                  </a:moveTo>
                  <a:lnTo>
                    <a:pt x="354914" y="220812"/>
                  </a:lnTo>
                  <a:lnTo>
                    <a:pt x="355980" y="220344"/>
                  </a:lnTo>
                  <a:lnTo>
                    <a:pt x="426521" y="220344"/>
                  </a:lnTo>
                  <a:lnTo>
                    <a:pt x="435747" y="212470"/>
                  </a:lnTo>
                  <a:lnTo>
                    <a:pt x="370840" y="212470"/>
                  </a:lnTo>
                  <a:lnTo>
                    <a:pt x="371758" y="211894"/>
                  </a:lnTo>
                  <a:close/>
                </a:path>
                <a:path w="544195" h="351154">
                  <a:moveTo>
                    <a:pt x="372109" y="211708"/>
                  </a:moveTo>
                  <a:lnTo>
                    <a:pt x="371758" y="211894"/>
                  </a:lnTo>
                  <a:lnTo>
                    <a:pt x="370840" y="212470"/>
                  </a:lnTo>
                  <a:lnTo>
                    <a:pt x="372109" y="211708"/>
                  </a:lnTo>
                  <a:close/>
                </a:path>
                <a:path w="544195" h="351154">
                  <a:moveTo>
                    <a:pt x="436640" y="211708"/>
                  </a:moveTo>
                  <a:lnTo>
                    <a:pt x="372109" y="211708"/>
                  </a:lnTo>
                  <a:lnTo>
                    <a:pt x="370840" y="212470"/>
                  </a:lnTo>
                  <a:lnTo>
                    <a:pt x="435747" y="212470"/>
                  </a:lnTo>
                  <a:lnTo>
                    <a:pt x="436640" y="211708"/>
                  </a:lnTo>
                  <a:close/>
                </a:path>
                <a:path w="544195" h="351154">
                  <a:moveTo>
                    <a:pt x="386842" y="202437"/>
                  </a:moveTo>
                  <a:lnTo>
                    <a:pt x="371758" y="211894"/>
                  </a:lnTo>
                  <a:lnTo>
                    <a:pt x="372109" y="211708"/>
                  </a:lnTo>
                  <a:lnTo>
                    <a:pt x="436640" y="211708"/>
                  </a:lnTo>
                  <a:lnTo>
                    <a:pt x="438276" y="210312"/>
                  </a:lnTo>
                  <a:lnTo>
                    <a:pt x="445456" y="203200"/>
                  </a:lnTo>
                  <a:lnTo>
                    <a:pt x="385825" y="203200"/>
                  </a:lnTo>
                  <a:lnTo>
                    <a:pt x="386842" y="202437"/>
                  </a:lnTo>
                  <a:close/>
                </a:path>
                <a:path w="544195" h="351154">
                  <a:moveTo>
                    <a:pt x="455807" y="192405"/>
                  </a:moveTo>
                  <a:lnTo>
                    <a:pt x="400557" y="192405"/>
                  </a:lnTo>
                  <a:lnTo>
                    <a:pt x="399415" y="193294"/>
                  </a:lnTo>
                  <a:lnTo>
                    <a:pt x="385825" y="203200"/>
                  </a:lnTo>
                  <a:lnTo>
                    <a:pt x="445456" y="203200"/>
                  </a:lnTo>
                  <a:lnTo>
                    <a:pt x="451739" y="196976"/>
                  </a:lnTo>
                  <a:lnTo>
                    <a:pt x="455807" y="192405"/>
                  </a:lnTo>
                  <a:close/>
                </a:path>
                <a:path w="544195" h="351154">
                  <a:moveTo>
                    <a:pt x="399883" y="192899"/>
                  </a:moveTo>
                  <a:lnTo>
                    <a:pt x="399344" y="193294"/>
                  </a:lnTo>
                  <a:lnTo>
                    <a:pt x="399883" y="192899"/>
                  </a:lnTo>
                  <a:close/>
                </a:path>
                <a:path w="544195" h="351154">
                  <a:moveTo>
                    <a:pt x="400557" y="192405"/>
                  </a:moveTo>
                  <a:lnTo>
                    <a:pt x="399883" y="192899"/>
                  </a:lnTo>
                  <a:lnTo>
                    <a:pt x="399415" y="193294"/>
                  </a:lnTo>
                  <a:lnTo>
                    <a:pt x="400557" y="192405"/>
                  </a:lnTo>
                  <a:close/>
                </a:path>
                <a:path w="544195" h="351154">
                  <a:moveTo>
                    <a:pt x="465148" y="181737"/>
                  </a:moveTo>
                  <a:lnTo>
                    <a:pt x="413130" y="181737"/>
                  </a:lnTo>
                  <a:lnTo>
                    <a:pt x="411988" y="182752"/>
                  </a:lnTo>
                  <a:lnTo>
                    <a:pt x="399883" y="192899"/>
                  </a:lnTo>
                  <a:lnTo>
                    <a:pt x="400557" y="192405"/>
                  </a:lnTo>
                  <a:lnTo>
                    <a:pt x="455807" y="192405"/>
                  </a:lnTo>
                  <a:lnTo>
                    <a:pt x="464057" y="183133"/>
                  </a:lnTo>
                  <a:lnTo>
                    <a:pt x="465148" y="181737"/>
                  </a:lnTo>
                  <a:close/>
                </a:path>
                <a:path w="544195" h="351154">
                  <a:moveTo>
                    <a:pt x="412347" y="182397"/>
                  </a:moveTo>
                  <a:lnTo>
                    <a:pt x="411925" y="182752"/>
                  </a:lnTo>
                  <a:lnTo>
                    <a:pt x="412347" y="182397"/>
                  </a:lnTo>
                  <a:close/>
                </a:path>
                <a:path w="544195" h="351154">
                  <a:moveTo>
                    <a:pt x="413130" y="181737"/>
                  </a:moveTo>
                  <a:lnTo>
                    <a:pt x="412347" y="182397"/>
                  </a:lnTo>
                  <a:lnTo>
                    <a:pt x="411988" y="182752"/>
                  </a:lnTo>
                  <a:lnTo>
                    <a:pt x="413130" y="181737"/>
                  </a:lnTo>
                  <a:close/>
                </a:path>
                <a:path w="544195" h="351154">
                  <a:moveTo>
                    <a:pt x="424433" y="170433"/>
                  </a:moveTo>
                  <a:lnTo>
                    <a:pt x="412347" y="182397"/>
                  </a:lnTo>
                  <a:lnTo>
                    <a:pt x="413130" y="181737"/>
                  </a:lnTo>
                  <a:lnTo>
                    <a:pt x="465148" y="181737"/>
                  </a:lnTo>
                  <a:lnTo>
                    <a:pt x="473278" y="171323"/>
                  </a:lnTo>
                  <a:lnTo>
                    <a:pt x="423672" y="171323"/>
                  </a:lnTo>
                  <a:lnTo>
                    <a:pt x="424433" y="170433"/>
                  </a:lnTo>
                  <a:close/>
                </a:path>
                <a:path w="544195" h="351154">
                  <a:moveTo>
                    <a:pt x="482363" y="158369"/>
                  </a:moveTo>
                  <a:lnTo>
                    <a:pt x="435101" y="158369"/>
                  </a:lnTo>
                  <a:lnTo>
                    <a:pt x="434340" y="159257"/>
                  </a:lnTo>
                  <a:lnTo>
                    <a:pt x="423672" y="171323"/>
                  </a:lnTo>
                  <a:lnTo>
                    <a:pt x="473278" y="171323"/>
                  </a:lnTo>
                  <a:lnTo>
                    <a:pt x="475360" y="168656"/>
                  </a:lnTo>
                  <a:lnTo>
                    <a:pt x="482363" y="158369"/>
                  </a:lnTo>
                  <a:close/>
                </a:path>
                <a:path w="544195" h="351154">
                  <a:moveTo>
                    <a:pt x="434520" y="159027"/>
                  </a:moveTo>
                  <a:lnTo>
                    <a:pt x="434317" y="159257"/>
                  </a:lnTo>
                  <a:lnTo>
                    <a:pt x="434520" y="159027"/>
                  </a:lnTo>
                  <a:close/>
                </a:path>
                <a:path w="544195" h="351154">
                  <a:moveTo>
                    <a:pt x="490463" y="145669"/>
                  </a:moveTo>
                  <a:lnTo>
                    <a:pt x="445007" y="145669"/>
                  </a:lnTo>
                  <a:lnTo>
                    <a:pt x="444246" y="146685"/>
                  </a:lnTo>
                  <a:lnTo>
                    <a:pt x="434520" y="159027"/>
                  </a:lnTo>
                  <a:lnTo>
                    <a:pt x="435101" y="158369"/>
                  </a:lnTo>
                  <a:lnTo>
                    <a:pt x="482363" y="158369"/>
                  </a:lnTo>
                  <a:lnTo>
                    <a:pt x="485648" y="153543"/>
                  </a:lnTo>
                  <a:lnTo>
                    <a:pt x="490463" y="145669"/>
                  </a:lnTo>
                  <a:close/>
                </a:path>
                <a:path w="544195" h="351154">
                  <a:moveTo>
                    <a:pt x="444472" y="146350"/>
                  </a:moveTo>
                  <a:lnTo>
                    <a:pt x="444210" y="146685"/>
                  </a:lnTo>
                  <a:lnTo>
                    <a:pt x="444472" y="146350"/>
                  </a:lnTo>
                  <a:close/>
                </a:path>
                <a:path w="544195" h="351154">
                  <a:moveTo>
                    <a:pt x="445007" y="145669"/>
                  </a:moveTo>
                  <a:lnTo>
                    <a:pt x="444472" y="146350"/>
                  </a:lnTo>
                  <a:lnTo>
                    <a:pt x="444246" y="146685"/>
                  </a:lnTo>
                  <a:lnTo>
                    <a:pt x="445007" y="145669"/>
                  </a:lnTo>
                  <a:close/>
                </a:path>
                <a:path w="544195" h="351154">
                  <a:moveTo>
                    <a:pt x="486372" y="104267"/>
                  </a:moveTo>
                  <a:lnTo>
                    <a:pt x="470407" y="104267"/>
                  </a:lnTo>
                  <a:lnTo>
                    <a:pt x="469519" y="106044"/>
                  </a:lnTo>
                  <a:lnTo>
                    <a:pt x="462025" y="119380"/>
                  </a:lnTo>
                  <a:lnTo>
                    <a:pt x="453390" y="133350"/>
                  </a:lnTo>
                  <a:lnTo>
                    <a:pt x="444472" y="146350"/>
                  </a:lnTo>
                  <a:lnTo>
                    <a:pt x="445007" y="145669"/>
                  </a:lnTo>
                  <a:lnTo>
                    <a:pt x="490463" y="145669"/>
                  </a:lnTo>
                  <a:lnTo>
                    <a:pt x="495046" y="138175"/>
                  </a:lnTo>
                  <a:lnTo>
                    <a:pt x="504063" y="121919"/>
                  </a:lnTo>
                  <a:lnTo>
                    <a:pt x="507956" y="112952"/>
                  </a:lnTo>
                  <a:lnTo>
                    <a:pt x="486372" y="104267"/>
                  </a:lnTo>
                  <a:close/>
                </a:path>
                <a:path w="544195" h="351154">
                  <a:moveTo>
                    <a:pt x="453898" y="132461"/>
                  </a:moveTo>
                  <a:lnTo>
                    <a:pt x="453294" y="133350"/>
                  </a:lnTo>
                  <a:lnTo>
                    <a:pt x="453898" y="132461"/>
                  </a:lnTo>
                  <a:close/>
                </a:path>
                <a:path w="544195" h="351154">
                  <a:moveTo>
                    <a:pt x="540003" y="80772"/>
                  </a:moveTo>
                  <a:lnTo>
                    <a:pt x="480314" y="80772"/>
                  </a:lnTo>
                  <a:lnTo>
                    <a:pt x="515366" y="95885"/>
                  </a:lnTo>
                  <a:lnTo>
                    <a:pt x="507956" y="112952"/>
                  </a:lnTo>
                  <a:lnTo>
                    <a:pt x="543814" y="127381"/>
                  </a:lnTo>
                  <a:lnTo>
                    <a:pt x="540003" y="80772"/>
                  </a:lnTo>
                  <a:close/>
                </a:path>
                <a:path w="544195" h="351154">
                  <a:moveTo>
                    <a:pt x="462406" y="118618"/>
                  </a:moveTo>
                  <a:lnTo>
                    <a:pt x="461940" y="119380"/>
                  </a:lnTo>
                  <a:lnTo>
                    <a:pt x="462406" y="118618"/>
                  </a:lnTo>
                  <a:close/>
                </a:path>
                <a:path w="544195" h="351154">
                  <a:moveTo>
                    <a:pt x="480314" y="80772"/>
                  </a:moveTo>
                  <a:lnTo>
                    <a:pt x="472639" y="98740"/>
                  </a:lnTo>
                  <a:lnTo>
                    <a:pt x="507956" y="112952"/>
                  </a:lnTo>
                  <a:lnTo>
                    <a:pt x="515366" y="95885"/>
                  </a:lnTo>
                  <a:lnTo>
                    <a:pt x="480314" y="80772"/>
                  </a:lnTo>
                  <a:close/>
                </a:path>
                <a:path w="544195" h="351154">
                  <a:moveTo>
                    <a:pt x="469844" y="105283"/>
                  </a:moveTo>
                  <a:lnTo>
                    <a:pt x="469421" y="106044"/>
                  </a:lnTo>
                  <a:lnTo>
                    <a:pt x="469844" y="105283"/>
                  </a:lnTo>
                  <a:close/>
                </a:path>
                <a:path w="544195" h="351154">
                  <a:moveTo>
                    <a:pt x="470407" y="104267"/>
                  </a:moveTo>
                  <a:lnTo>
                    <a:pt x="469844" y="105283"/>
                  </a:lnTo>
                  <a:lnTo>
                    <a:pt x="469519" y="106044"/>
                  </a:lnTo>
                  <a:lnTo>
                    <a:pt x="470407" y="104267"/>
                  </a:lnTo>
                  <a:close/>
                </a:path>
                <a:path w="544195" h="351154">
                  <a:moveTo>
                    <a:pt x="472639" y="98740"/>
                  </a:moveTo>
                  <a:lnTo>
                    <a:pt x="469844" y="105283"/>
                  </a:lnTo>
                  <a:lnTo>
                    <a:pt x="470407" y="104267"/>
                  </a:lnTo>
                  <a:lnTo>
                    <a:pt x="486372" y="104267"/>
                  </a:lnTo>
                  <a:lnTo>
                    <a:pt x="472639" y="98740"/>
                  </a:lnTo>
                  <a:close/>
                </a:path>
                <a:path w="544195" h="351154">
                  <a:moveTo>
                    <a:pt x="533400" y="0"/>
                  </a:moveTo>
                  <a:lnTo>
                    <a:pt x="437769" y="84708"/>
                  </a:lnTo>
                  <a:lnTo>
                    <a:pt x="472639" y="98740"/>
                  </a:lnTo>
                  <a:lnTo>
                    <a:pt x="480314" y="80772"/>
                  </a:lnTo>
                  <a:lnTo>
                    <a:pt x="540003" y="80772"/>
                  </a:lnTo>
                  <a:lnTo>
                    <a:pt x="533400" y="0"/>
                  </a:lnTo>
                  <a:close/>
                </a:path>
              </a:pathLst>
            </a:custGeom>
            <a:solidFill>
              <a:srgbClr val="000000"/>
            </a:solidFill>
          </p:spPr>
          <p:txBody>
            <a:bodyPr wrap="square" lIns="0" tIns="0" rIns="0" bIns="0" rtlCol="0"/>
            <a:lstStyle/>
            <a:p>
              <a:endParaRPr/>
            </a:p>
          </p:txBody>
        </p:sp>
      </p:gr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40" y="1646936"/>
            <a:ext cx="4946015" cy="1109345"/>
          </a:xfrm>
          <a:prstGeom prst="rect">
            <a:avLst/>
          </a:prstGeom>
        </p:spPr>
        <p:txBody>
          <a:bodyPr vert="horz" wrap="square" lIns="0" tIns="12065" rIns="0" bIns="0" rtlCol="0">
            <a:spAutoFit/>
          </a:bodyPr>
          <a:lstStyle/>
          <a:p>
            <a:pPr marL="236220" indent="-224154">
              <a:lnSpc>
                <a:spcPct val="100000"/>
              </a:lnSpc>
              <a:spcBef>
                <a:spcPts val="95"/>
              </a:spcBef>
              <a:buFont typeface="Trebuchet MS"/>
              <a:buChar char="•"/>
              <a:tabLst>
                <a:tab pos="236854" algn="l"/>
              </a:tabLst>
            </a:pPr>
            <a:r>
              <a:rPr sz="2800" b="1" spc="-150" dirty="0">
                <a:latin typeface="Arial"/>
                <a:cs typeface="Arial"/>
              </a:rPr>
              <a:t>Sharin</a:t>
            </a:r>
            <a:r>
              <a:rPr sz="2800" b="1" spc="-170" dirty="0">
                <a:latin typeface="Arial"/>
                <a:cs typeface="Arial"/>
              </a:rPr>
              <a:t>g</a:t>
            </a:r>
            <a:r>
              <a:rPr sz="2800" b="1" spc="-70" dirty="0">
                <a:latin typeface="Arial"/>
                <a:cs typeface="Arial"/>
              </a:rPr>
              <a:t> </a:t>
            </a:r>
            <a:r>
              <a:rPr sz="2800" b="1" spc="-35" dirty="0">
                <a:latin typeface="Arial"/>
                <a:cs typeface="Arial"/>
              </a:rPr>
              <a:t>hard</a:t>
            </a:r>
            <a:r>
              <a:rPr sz="2800" b="1" spc="-60" dirty="0">
                <a:latin typeface="Arial"/>
                <a:cs typeface="Arial"/>
              </a:rPr>
              <a:t>w</a:t>
            </a:r>
            <a:r>
              <a:rPr sz="2800" b="1" spc="-35" dirty="0">
                <a:latin typeface="Arial"/>
                <a:cs typeface="Arial"/>
              </a:rPr>
              <a:t>are</a:t>
            </a:r>
            <a:r>
              <a:rPr sz="2800" b="1" spc="-55" dirty="0">
                <a:latin typeface="Arial"/>
                <a:cs typeface="Arial"/>
              </a:rPr>
              <a:t> </a:t>
            </a:r>
            <a:r>
              <a:rPr sz="2800" b="1" spc="-130" dirty="0">
                <a:latin typeface="Arial"/>
                <a:cs typeface="Arial"/>
              </a:rPr>
              <a:t>or</a:t>
            </a:r>
            <a:r>
              <a:rPr sz="2800" b="1" spc="-80" dirty="0">
                <a:latin typeface="Arial"/>
                <a:cs typeface="Arial"/>
              </a:rPr>
              <a:t> </a:t>
            </a:r>
            <a:r>
              <a:rPr sz="2800" b="1" spc="-290" dirty="0">
                <a:latin typeface="Arial"/>
                <a:cs typeface="Arial"/>
              </a:rPr>
              <a:t>so</a:t>
            </a:r>
            <a:r>
              <a:rPr sz="2800" b="1" spc="-175" dirty="0">
                <a:latin typeface="Arial"/>
                <a:cs typeface="Arial"/>
              </a:rPr>
              <a:t>f</a:t>
            </a:r>
            <a:r>
              <a:rPr sz="2800" b="1" spc="-10" dirty="0">
                <a:latin typeface="Arial"/>
                <a:cs typeface="Arial"/>
              </a:rPr>
              <a:t>tware</a:t>
            </a:r>
            <a:endParaRPr sz="2800">
              <a:latin typeface="Arial"/>
              <a:cs typeface="Arial"/>
            </a:endParaRPr>
          </a:p>
          <a:p>
            <a:pPr>
              <a:lnSpc>
                <a:spcPct val="100000"/>
              </a:lnSpc>
              <a:spcBef>
                <a:spcPts val="25"/>
              </a:spcBef>
              <a:buFont typeface="Trebuchet MS"/>
              <a:buChar char="•"/>
            </a:pPr>
            <a:endParaRPr sz="2600">
              <a:latin typeface="Arial"/>
              <a:cs typeface="Arial"/>
            </a:endParaRPr>
          </a:p>
          <a:p>
            <a:pPr marL="617855" lvl="1" indent="-224790">
              <a:lnSpc>
                <a:spcPct val="100000"/>
              </a:lnSpc>
              <a:buFont typeface="Trebuchet MS"/>
              <a:buChar char="•"/>
              <a:tabLst>
                <a:tab pos="618490" algn="l"/>
              </a:tabLst>
            </a:pPr>
            <a:r>
              <a:rPr sz="1800" b="1" spc="-85" dirty="0">
                <a:solidFill>
                  <a:srgbClr val="FF3300"/>
                </a:solidFill>
                <a:latin typeface="Arial"/>
                <a:cs typeface="Arial"/>
              </a:rPr>
              <a:t>E.g</a:t>
            </a:r>
            <a:r>
              <a:rPr sz="1800" b="1" spc="5" dirty="0">
                <a:solidFill>
                  <a:srgbClr val="FF3300"/>
                </a:solidFill>
                <a:latin typeface="Arial"/>
                <a:cs typeface="Arial"/>
              </a:rPr>
              <a:t>.</a:t>
            </a:r>
            <a:r>
              <a:rPr sz="1800" b="1" spc="-85" dirty="0">
                <a:solidFill>
                  <a:srgbClr val="FF3300"/>
                </a:solidFill>
                <a:latin typeface="Arial"/>
                <a:cs typeface="Arial"/>
              </a:rPr>
              <a:t> </a:t>
            </a:r>
            <a:r>
              <a:rPr sz="1800" b="1" spc="-25" dirty="0">
                <a:solidFill>
                  <a:srgbClr val="FF3300"/>
                </a:solidFill>
                <a:latin typeface="Arial"/>
                <a:cs typeface="Arial"/>
              </a:rPr>
              <a:t>pr</a:t>
            </a:r>
            <a:r>
              <a:rPr sz="1800" b="1" spc="-5" dirty="0">
                <a:solidFill>
                  <a:srgbClr val="FF3300"/>
                </a:solidFill>
                <a:latin typeface="Arial"/>
                <a:cs typeface="Arial"/>
              </a:rPr>
              <a:t>int</a:t>
            </a:r>
            <a:r>
              <a:rPr sz="1800" b="1" spc="-50" dirty="0">
                <a:solidFill>
                  <a:srgbClr val="FF3300"/>
                </a:solidFill>
                <a:latin typeface="Arial"/>
                <a:cs typeface="Arial"/>
              </a:rPr>
              <a:t> d</a:t>
            </a:r>
            <a:r>
              <a:rPr sz="1800" b="1" spc="-210" dirty="0">
                <a:solidFill>
                  <a:srgbClr val="FF3300"/>
                </a:solidFill>
                <a:latin typeface="Arial"/>
                <a:cs typeface="Arial"/>
              </a:rPr>
              <a:t>o</a:t>
            </a:r>
            <a:r>
              <a:rPr sz="1800" b="1" spc="-204" dirty="0">
                <a:solidFill>
                  <a:srgbClr val="FF3300"/>
                </a:solidFill>
                <a:latin typeface="Arial"/>
                <a:cs typeface="Arial"/>
              </a:rPr>
              <a:t>c</a:t>
            </a:r>
            <a:r>
              <a:rPr sz="1800" b="1" spc="-65" dirty="0">
                <a:solidFill>
                  <a:srgbClr val="FF3300"/>
                </a:solidFill>
                <a:latin typeface="Arial"/>
                <a:cs typeface="Arial"/>
              </a:rPr>
              <a:t>u</a:t>
            </a:r>
            <a:r>
              <a:rPr sz="1800" b="1" spc="-40" dirty="0">
                <a:solidFill>
                  <a:srgbClr val="FF3300"/>
                </a:solidFill>
                <a:latin typeface="Arial"/>
                <a:cs typeface="Arial"/>
              </a:rPr>
              <a:t>ment</a:t>
            </a:r>
            <a:endParaRPr sz="1800">
              <a:latin typeface="Arial"/>
              <a:cs typeface="Arial"/>
            </a:endParaRPr>
          </a:p>
        </p:txBody>
      </p:sp>
      <p:sp>
        <p:nvSpPr>
          <p:cNvPr id="4" name="object 4"/>
          <p:cNvSpPr txBox="1"/>
          <p:nvPr/>
        </p:nvSpPr>
        <p:spPr>
          <a:xfrm>
            <a:off x="612140" y="3974800"/>
            <a:ext cx="7687945" cy="1308735"/>
          </a:xfrm>
          <a:prstGeom prst="rect">
            <a:avLst/>
          </a:prstGeom>
        </p:spPr>
        <p:txBody>
          <a:bodyPr vert="horz" wrap="square" lIns="0" tIns="199390" rIns="0" bIns="0" rtlCol="0">
            <a:spAutoFit/>
          </a:bodyPr>
          <a:lstStyle/>
          <a:p>
            <a:pPr marL="236220" indent="-224154">
              <a:lnSpc>
                <a:spcPct val="100000"/>
              </a:lnSpc>
              <a:spcBef>
                <a:spcPts val="1570"/>
              </a:spcBef>
              <a:buFont typeface="Trebuchet MS"/>
              <a:buChar char="•"/>
              <a:tabLst>
                <a:tab pos="236854" algn="l"/>
              </a:tabLst>
            </a:pPr>
            <a:r>
              <a:rPr sz="2800" b="1" spc="-75" dirty="0">
                <a:latin typeface="Arial"/>
                <a:cs typeface="Arial"/>
              </a:rPr>
              <a:t>Centralize</a:t>
            </a:r>
            <a:r>
              <a:rPr sz="2800" b="1" spc="-60" dirty="0">
                <a:latin typeface="Arial"/>
                <a:cs typeface="Arial"/>
              </a:rPr>
              <a:t> administration</a:t>
            </a:r>
            <a:r>
              <a:rPr sz="2800" b="1" spc="-45" dirty="0">
                <a:latin typeface="Arial"/>
                <a:cs typeface="Arial"/>
              </a:rPr>
              <a:t> </a:t>
            </a:r>
            <a:r>
              <a:rPr sz="2800" b="1" spc="-35" dirty="0">
                <a:latin typeface="Arial"/>
                <a:cs typeface="Arial"/>
              </a:rPr>
              <a:t>and</a:t>
            </a:r>
            <a:r>
              <a:rPr sz="2800" b="1" spc="-70" dirty="0">
                <a:latin typeface="Arial"/>
                <a:cs typeface="Arial"/>
              </a:rPr>
              <a:t> </a:t>
            </a:r>
            <a:r>
              <a:rPr sz="2800" b="1" spc="-120" dirty="0">
                <a:latin typeface="Arial"/>
                <a:cs typeface="Arial"/>
              </a:rPr>
              <a:t>support</a:t>
            </a:r>
            <a:endParaRPr sz="2800">
              <a:latin typeface="Arial"/>
              <a:cs typeface="Arial"/>
            </a:endParaRPr>
          </a:p>
          <a:p>
            <a:pPr marL="541655" marR="5080" lvl="1" indent="-224154">
              <a:lnSpc>
                <a:spcPct val="100000"/>
              </a:lnSpc>
              <a:spcBef>
                <a:spcPts val="950"/>
              </a:spcBef>
              <a:buFont typeface="Trebuchet MS"/>
              <a:buChar char="•"/>
              <a:tabLst>
                <a:tab pos="542290" algn="l"/>
              </a:tabLst>
            </a:pPr>
            <a:r>
              <a:rPr sz="1800" b="1" spc="-85" dirty="0">
                <a:solidFill>
                  <a:srgbClr val="FF3300"/>
                </a:solidFill>
                <a:latin typeface="Arial"/>
                <a:cs typeface="Arial"/>
              </a:rPr>
              <a:t>E.g</a:t>
            </a:r>
            <a:r>
              <a:rPr sz="1800" b="1" spc="5" dirty="0">
                <a:solidFill>
                  <a:srgbClr val="FF3300"/>
                </a:solidFill>
                <a:latin typeface="Arial"/>
                <a:cs typeface="Arial"/>
              </a:rPr>
              <a:t>.</a:t>
            </a:r>
            <a:r>
              <a:rPr sz="1800" b="1" spc="-85" dirty="0">
                <a:solidFill>
                  <a:srgbClr val="FF3300"/>
                </a:solidFill>
                <a:latin typeface="Arial"/>
                <a:cs typeface="Arial"/>
              </a:rPr>
              <a:t> </a:t>
            </a:r>
            <a:r>
              <a:rPr sz="1800" b="1" spc="25" dirty="0">
                <a:solidFill>
                  <a:srgbClr val="FF3300"/>
                </a:solidFill>
                <a:latin typeface="Arial"/>
                <a:cs typeface="Arial"/>
              </a:rPr>
              <a:t>I</a:t>
            </a:r>
            <a:r>
              <a:rPr sz="1800" b="1" spc="-30" dirty="0">
                <a:solidFill>
                  <a:srgbClr val="FF3300"/>
                </a:solidFill>
                <a:latin typeface="Arial"/>
                <a:cs typeface="Arial"/>
              </a:rPr>
              <a:t>nternet</a:t>
            </a:r>
            <a:r>
              <a:rPr sz="1800" b="1" spc="165" dirty="0">
                <a:solidFill>
                  <a:srgbClr val="FF3300"/>
                </a:solidFill>
                <a:latin typeface="Arial"/>
                <a:cs typeface="Arial"/>
              </a:rPr>
              <a:t>-</a:t>
            </a:r>
            <a:r>
              <a:rPr sz="1800" b="1" spc="5" dirty="0">
                <a:solidFill>
                  <a:srgbClr val="FF3300"/>
                </a:solidFill>
                <a:latin typeface="Arial"/>
                <a:cs typeface="Arial"/>
              </a:rPr>
              <a:t>b</a:t>
            </a:r>
            <a:r>
              <a:rPr sz="1800" b="1" spc="-5" dirty="0">
                <a:solidFill>
                  <a:srgbClr val="FF3300"/>
                </a:solidFill>
                <a:latin typeface="Arial"/>
                <a:cs typeface="Arial"/>
              </a:rPr>
              <a:t>a</a:t>
            </a:r>
            <a:r>
              <a:rPr sz="1800" b="1" spc="-229" dirty="0">
                <a:solidFill>
                  <a:srgbClr val="FF3300"/>
                </a:solidFill>
                <a:latin typeface="Arial"/>
                <a:cs typeface="Arial"/>
              </a:rPr>
              <a:t>s</a:t>
            </a:r>
            <a:r>
              <a:rPr sz="1800" b="1" spc="-240" dirty="0">
                <a:solidFill>
                  <a:srgbClr val="FF3300"/>
                </a:solidFill>
                <a:latin typeface="Arial"/>
                <a:cs typeface="Arial"/>
              </a:rPr>
              <a:t>e</a:t>
            </a:r>
            <a:r>
              <a:rPr sz="1800" b="1" spc="-50" dirty="0">
                <a:solidFill>
                  <a:srgbClr val="FF3300"/>
                </a:solidFill>
                <a:latin typeface="Arial"/>
                <a:cs typeface="Arial"/>
              </a:rPr>
              <a:t>d</a:t>
            </a:r>
            <a:r>
              <a:rPr sz="1800" b="1" spc="5" dirty="0">
                <a:solidFill>
                  <a:srgbClr val="FF3300"/>
                </a:solidFill>
                <a:latin typeface="Arial"/>
                <a:cs typeface="Arial"/>
              </a:rPr>
              <a:t>,</a:t>
            </a:r>
            <a:r>
              <a:rPr sz="1800" b="1" spc="-35" dirty="0">
                <a:solidFill>
                  <a:srgbClr val="FF3300"/>
                </a:solidFill>
                <a:latin typeface="Arial"/>
                <a:cs typeface="Arial"/>
              </a:rPr>
              <a:t> </a:t>
            </a:r>
            <a:r>
              <a:rPr sz="1800" b="1" spc="-254" dirty="0">
                <a:solidFill>
                  <a:srgbClr val="FF3300"/>
                </a:solidFill>
                <a:latin typeface="Arial"/>
                <a:cs typeface="Arial"/>
              </a:rPr>
              <a:t>so</a:t>
            </a:r>
            <a:r>
              <a:rPr sz="1800" b="1" spc="-65" dirty="0">
                <a:solidFill>
                  <a:srgbClr val="FF3300"/>
                </a:solidFill>
                <a:latin typeface="Arial"/>
                <a:cs typeface="Arial"/>
              </a:rPr>
              <a:t> </a:t>
            </a:r>
            <a:r>
              <a:rPr sz="1800" b="1" spc="-70" dirty="0">
                <a:solidFill>
                  <a:srgbClr val="FF3300"/>
                </a:solidFill>
                <a:latin typeface="Arial"/>
                <a:cs typeface="Arial"/>
              </a:rPr>
              <a:t>e</a:t>
            </a:r>
            <a:r>
              <a:rPr sz="1800" b="1" spc="-80" dirty="0">
                <a:solidFill>
                  <a:srgbClr val="FF3300"/>
                </a:solidFill>
                <a:latin typeface="Arial"/>
                <a:cs typeface="Arial"/>
              </a:rPr>
              <a:t>veryone</a:t>
            </a:r>
            <a:r>
              <a:rPr sz="1800" b="1" spc="-55" dirty="0">
                <a:solidFill>
                  <a:srgbClr val="FF3300"/>
                </a:solidFill>
                <a:latin typeface="Arial"/>
                <a:cs typeface="Arial"/>
              </a:rPr>
              <a:t> </a:t>
            </a:r>
            <a:r>
              <a:rPr sz="1800" b="1" spc="-100" dirty="0">
                <a:solidFill>
                  <a:srgbClr val="FF3300"/>
                </a:solidFill>
                <a:latin typeface="Arial"/>
                <a:cs typeface="Arial"/>
              </a:rPr>
              <a:t>c</a:t>
            </a:r>
            <a:r>
              <a:rPr sz="1800" b="1" spc="-110" dirty="0">
                <a:solidFill>
                  <a:srgbClr val="FF3300"/>
                </a:solidFill>
                <a:latin typeface="Arial"/>
                <a:cs typeface="Arial"/>
              </a:rPr>
              <a:t>a</a:t>
            </a:r>
            <a:r>
              <a:rPr sz="1800" b="1" spc="-80" dirty="0">
                <a:solidFill>
                  <a:srgbClr val="FF3300"/>
                </a:solidFill>
                <a:latin typeface="Arial"/>
                <a:cs typeface="Arial"/>
              </a:rPr>
              <a:t>n</a:t>
            </a:r>
            <a:r>
              <a:rPr sz="1800" b="1" spc="-35" dirty="0">
                <a:solidFill>
                  <a:srgbClr val="FF3300"/>
                </a:solidFill>
                <a:latin typeface="Arial"/>
                <a:cs typeface="Arial"/>
              </a:rPr>
              <a:t> </a:t>
            </a:r>
            <a:r>
              <a:rPr sz="1800" b="1" spc="-100" dirty="0">
                <a:solidFill>
                  <a:srgbClr val="FF3300"/>
                </a:solidFill>
                <a:latin typeface="Arial"/>
                <a:cs typeface="Arial"/>
              </a:rPr>
              <a:t>a</a:t>
            </a:r>
            <a:r>
              <a:rPr sz="1800" b="1" spc="-110" dirty="0">
                <a:solidFill>
                  <a:srgbClr val="FF3300"/>
                </a:solidFill>
                <a:latin typeface="Arial"/>
                <a:cs typeface="Arial"/>
              </a:rPr>
              <a:t>c</a:t>
            </a:r>
            <a:r>
              <a:rPr sz="1800" b="1" spc="-180" dirty="0">
                <a:solidFill>
                  <a:srgbClr val="FF3300"/>
                </a:solidFill>
                <a:latin typeface="Arial"/>
                <a:cs typeface="Arial"/>
              </a:rPr>
              <a:t>c</a:t>
            </a:r>
            <a:r>
              <a:rPr sz="1800" b="1" spc="-190" dirty="0">
                <a:solidFill>
                  <a:srgbClr val="FF3300"/>
                </a:solidFill>
                <a:latin typeface="Arial"/>
                <a:cs typeface="Arial"/>
              </a:rPr>
              <a:t>e</a:t>
            </a:r>
            <a:r>
              <a:rPr sz="1800" b="1" spc="-365" dirty="0">
                <a:solidFill>
                  <a:srgbClr val="FF3300"/>
                </a:solidFill>
                <a:latin typeface="Arial"/>
                <a:cs typeface="Arial"/>
              </a:rPr>
              <a:t>ss</a:t>
            </a:r>
            <a:r>
              <a:rPr sz="1800" b="1" spc="-45" dirty="0">
                <a:solidFill>
                  <a:srgbClr val="FF3300"/>
                </a:solidFill>
                <a:latin typeface="Arial"/>
                <a:cs typeface="Arial"/>
              </a:rPr>
              <a:t> </a:t>
            </a:r>
            <a:r>
              <a:rPr sz="1800" b="1" spc="-35" dirty="0">
                <a:solidFill>
                  <a:srgbClr val="FF3300"/>
                </a:solidFill>
                <a:latin typeface="Arial"/>
                <a:cs typeface="Arial"/>
              </a:rPr>
              <a:t>the</a:t>
            </a:r>
            <a:r>
              <a:rPr sz="1800" b="1" spc="-45" dirty="0">
                <a:solidFill>
                  <a:srgbClr val="FF3300"/>
                </a:solidFill>
                <a:latin typeface="Arial"/>
                <a:cs typeface="Arial"/>
              </a:rPr>
              <a:t> </a:t>
            </a:r>
            <a:r>
              <a:rPr sz="1800" b="1" spc="-155" dirty="0">
                <a:solidFill>
                  <a:srgbClr val="FF3300"/>
                </a:solidFill>
                <a:latin typeface="Arial"/>
                <a:cs typeface="Arial"/>
              </a:rPr>
              <a:t>s</a:t>
            </a:r>
            <a:r>
              <a:rPr sz="1800" b="1" spc="-165" dirty="0">
                <a:solidFill>
                  <a:srgbClr val="FF3300"/>
                </a:solidFill>
                <a:latin typeface="Arial"/>
                <a:cs typeface="Arial"/>
              </a:rPr>
              <a:t>a</a:t>
            </a:r>
            <a:r>
              <a:rPr sz="1800" b="1" spc="-85" dirty="0">
                <a:solidFill>
                  <a:srgbClr val="FF3300"/>
                </a:solidFill>
                <a:latin typeface="Arial"/>
                <a:cs typeface="Arial"/>
              </a:rPr>
              <a:t>m</a:t>
            </a:r>
            <a:r>
              <a:rPr sz="1800" b="1" spc="-50" dirty="0">
                <a:solidFill>
                  <a:srgbClr val="FF3300"/>
                </a:solidFill>
                <a:latin typeface="Arial"/>
                <a:cs typeface="Arial"/>
              </a:rPr>
              <a:t>e</a:t>
            </a:r>
            <a:r>
              <a:rPr sz="1800" b="1" spc="-55" dirty="0">
                <a:solidFill>
                  <a:srgbClr val="FF3300"/>
                </a:solidFill>
                <a:latin typeface="Arial"/>
                <a:cs typeface="Arial"/>
              </a:rPr>
              <a:t> </a:t>
            </a:r>
            <a:r>
              <a:rPr sz="1800" b="1" spc="-5" dirty="0">
                <a:solidFill>
                  <a:srgbClr val="FF3300"/>
                </a:solidFill>
                <a:latin typeface="Arial"/>
                <a:cs typeface="Arial"/>
              </a:rPr>
              <a:t>adm</a:t>
            </a:r>
            <a:r>
              <a:rPr sz="1800" b="1" spc="-15" dirty="0">
                <a:solidFill>
                  <a:srgbClr val="FF3300"/>
                </a:solidFill>
                <a:latin typeface="Arial"/>
                <a:cs typeface="Arial"/>
              </a:rPr>
              <a:t>i</a:t>
            </a:r>
            <a:r>
              <a:rPr sz="1800" b="1" spc="-140" dirty="0">
                <a:solidFill>
                  <a:srgbClr val="FF3300"/>
                </a:solidFill>
                <a:latin typeface="Arial"/>
                <a:cs typeface="Arial"/>
              </a:rPr>
              <a:t>ni</a:t>
            </a:r>
            <a:r>
              <a:rPr sz="1800" b="1" spc="-185" dirty="0">
                <a:solidFill>
                  <a:srgbClr val="FF3300"/>
                </a:solidFill>
                <a:latin typeface="Arial"/>
                <a:cs typeface="Arial"/>
              </a:rPr>
              <a:t>s</a:t>
            </a:r>
            <a:r>
              <a:rPr sz="1800" b="1" spc="5" dirty="0">
                <a:solidFill>
                  <a:srgbClr val="FF3300"/>
                </a:solidFill>
                <a:latin typeface="Arial"/>
                <a:cs typeface="Arial"/>
              </a:rPr>
              <a:t>trative</a:t>
            </a:r>
            <a:r>
              <a:rPr sz="1800" b="1" spc="-20" dirty="0">
                <a:solidFill>
                  <a:srgbClr val="FF3300"/>
                </a:solidFill>
                <a:latin typeface="Arial"/>
                <a:cs typeface="Arial"/>
              </a:rPr>
              <a:t> </a:t>
            </a:r>
            <a:r>
              <a:rPr sz="1800" b="1" spc="-65" dirty="0">
                <a:solidFill>
                  <a:srgbClr val="FF3300"/>
                </a:solidFill>
                <a:latin typeface="Arial"/>
                <a:cs typeface="Arial"/>
              </a:rPr>
              <a:t>or  </a:t>
            </a:r>
            <a:r>
              <a:rPr sz="1800" b="1" spc="-200" dirty="0">
                <a:solidFill>
                  <a:srgbClr val="FF3300"/>
                </a:solidFill>
                <a:latin typeface="Arial"/>
                <a:cs typeface="Arial"/>
              </a:rPr>
              <a:t>s</a:t>
            </a:r>
            <a:r>
              <a:rPr sz="1800" b="1" spc="-229" dirty="0">
                <a:solidFill>
                  <a:srgbClr val="FF3300"/>
                </a:solidFill>
                <a:latin typeface="Arial"/>
                <a:cs typeface="Arial"/>
              </a:rPr>
              <a:t>u</a:t>
            </a:r>
            <a:r>
              <a:rPr sz="1800" b="1" spc="-25" dirty="0">
                <a:solidFill>
                  <a:srgbClr val="FF3300"/>
                </a:solidFill>
                <a:latin typeface="Arial"/>
                <a:cs typeface="Arial"/>
              </a:rPr>
              <a:t>p</a:t>
            </a:r>
            <a:r>
              <a:rPr sz="1800" b="1" spc="-30" dirty="0">
                <a:solidFill>
                  <a:srgbClr val="FF3300"/>
                </a:solidFill>
                <a:latin typeface="Arial"/>
                <a:cs typeface="Arial"/>
              </a:rPr>
              <a:t>p</a:t>
            </a:r>
            <a:r>
              <a:rPr sz="1800" b="1" spc="-100" dirty="0">
                <a:solidFill>
                  <a:srgbClr val="FF3300"/>
                </a:solidFill>
                <a:latin typeface="Arial"/>
                <a:cs typeface="Arial"/>
              </a:rPr>
              <a:t>o</a:t>
            </a:r>
            <a:r>
              <a:rPr sz="1800" b="1" spc="-75" dirty="0">
                <a:solidFill>
                  <a:srgbClr val="FF3300"/>
                </a:solidFill>
                <a:latin typeface="Arial"/>
                <a:cs typeface="Arial"/>
              </a:rPr>
              <a:t>r</a:t>
            </a:r>
            <a:r>
              <a:rPr sz="1800" b="1" spc="80" dirty="0">
                <a:solidFill>
                  <a:srgbClr val="FF3300"/>
                </a:solidFill>
                <a:latin typeface="Arial"/>
                <a:cs typeface="Arial"/>
              </a:rPr>
              <a:t>t</a:t>
            </a:r>
            <a:r>
              <a:rPr sz="1800" b="1" spc="-45" dirty="0">
                <a:solidFill>
                  <a:srgbClr val="FF3300"/>
                </a:solidFill>
                <a:latin typeface="Arial"/>
                <a:cs typeface="Arial"/>
              </a:rPr>
              <a:t> </a:t>
            </a:r>
            <a:r>
              <a:rPr sz="1800" b="1" spc="15" dirty="0">
                <a:solidFill>
                  <a:srgbClr val="FF3300"/>
                </a:solidFill>
                <a:latin typeface="Arial"/>
                <a:cs typeface="Arial"/>
              </a:rPr>
              <a:t>a</a:t>
            </a:r>
            <a:r>
              <a:rPr sz="1800" b="1" spc="10" dirty="0">
                <a:solidFill>
                  <a:srgbClr val="FF3300"/>
                </a:solidFill>
                <a:latin typeface="Arial"/>
                <a:cs typeface="Arial"/>
              </a:rPr>
              <a:t>p</a:t>
            </a:r>
            <a:r>
              <a:rPr sz="1800" b="1" spc="-25" dirty="0">
                <a:solidFill>
                  <a:srgbClr val="FF3300"/>
                </a:solidFill>
                <a:latin typeface="Arial"/>
                <a:cs typeface="Arial"/>
              </a:rPr>
              <a:t>pl</a:t>
            </a:r>
            <a:r>
              <a:rPr sz="1800" b="1" spc="-20" dirty="0">
                <a:solidFill>
                  <a:srgbClr val="FF3300"/>
                </a:solidFill>
                <a:latin typeface="Arial"/>
                <a:cs typeface="Arial"/>
              </a:rPr>
              <a:t>i</a:t>
            </a:r>
            <a:r>
              <a:rPr sz="1800" b="1" spc="-100" dirty="0">
                <a:solidFill>
                  <a:srgbClr val="FF3300"/>
                </a:solidFill>
                <a:latin typeface="Arial"/>
                <a:cs typeface="Arial"/>
              </a:rPr>
              <a:t>c</a:t>
            </a:r>
            <a:r>
              <a:rPr sz="1800" b="1" spc="-110" dirty="0">
                <a:solidFill>
                  <a:srgbClr val="FF3300"/>
                </a:solidFill>
                <a:latin typeface="Arial"/>
                <a:cs typeface="Arial"/>
              </a:rPr>
              <a:t>a</a:t>
            </a:r>
            <a:r>
              <a:rPr sz="1800" b="1" spc="-40" dirty="0">
                <a:solidFill>
                  <a:srgbClr val="FF3300"/>
                </a:solidFill>
                <a:latin typeface="Arial"/>
                <a:cs typeface="Arial"/>
              </a:rPr>
              <a:t>tion</a:t>
            </a:r>
            <a:r>
              <a:rPr sz="1800" b="1" spc="-15" dirty="0">
                <a:solidFill>
                  <a:srgbClr val="FF3300"/>
                </a:solidFill>
                <a:latin typeface="Arial"/>
                <a:cs typeface="Arial"/>
              </a:rPr>
              <a:t> </a:t>
            </a:r>
            <a:r>
              <a:rPr sz="1800" b="1" spc="-35" dirty="0">
                <a:solidFill>
                  <a:srgbClr val="FF3300"/>
                </a:solidFill>
                <a:latin typeface="Arial"/>
                <a:cs typeface="Arial"/>
              </a:rPr>
              <a:t>fr</a:t>
            </a:r>
            <a:r>
              <a:rPr sz="1800" b="1" spc="-70" dirty="0">
                <a:solidFill>
                  <a:srgbClr val="FF3300"/>
                </a:solidFill>
                <a:latin typeface="Arial"/>
                <a:cs typeface="Arial"/>
              </a:rPr>
              <a:t>o</a:t>
            </a:r>
            <a:r>
              <a:rPr sz="1800" b="1" spc="-30" dirty="0">
                <a:solidFill>
                  <a:srgbClr val="FF3300"/>
                </a:solidFill>
                <a:latin typeface="Arial"/>
                <a:cs typeface="Arial"/>
              </a:rPr>
              <a:t>m</a:t>
            </a:r>
            <a:r>
              <a:rPr sz="1800" b="1" spc="-35" dirty="0">
                <a:solidFill>
                  <a:srgbClr val="FF3300"/>
                </a:solidFill>
                <a:latin typeface="Arial"/>
                <a:cs typeface="Arial"/>
              </a:rPr>
              <a:t> </a:t>
            </a:r>
            <a:r>
              <a:rPr sz="1800" b="1" spc="-25" dirty="0">
                <a:solidFill>
                  <a:srgbClr val="FF3300"/>
                </a:solidFill>
                <a:latin typeface="Arial"/>
                <a:cs typeface="Arial"/>
              </a:rPr>
              <a:t>their</a:t>
            </a:r>
            <a:r>
              <a:rPr sz="1800" b="1" spc="-50" dirty="0">
                <a:solidFill>
                  <a:srgbClr val="FF3300"/>
                </a:solidFill>
                <a:latin typeface="Arial"/>
                <a:cs typeface="Arial"/>
              </a:rPr>
              <a:t> </a:t>
            </a:r>
            <a:r>
              <a:rPr sz="1800" b="1" spc="-190" dirty="0">
                <a:solidFill>
                  <a:srgbClr val="FF3300"/>
                </a:solidFill>
                <a:latin typeface="Arial"/>
                <a:cs typeface="Arial"/>
              </a:rPr>
              <a:t>PCs</a:t>
            </a:r>
            <a:endParaRPr sz="1800">
              <a:latin typeface="Arial"/>
              <a:cs typeface="Arial"/>
            </a:endParaRPr>
          </a:p>
        </p:txBody>
      </p:sp>
      <p:grpSp>
        <p:nvGrpSpPr>
          <p:cNvPr id="5" name="object 5"/>
          <p:cNvGrpSpPr/>
          <p:nvPr/>
        </p:nvGrpSpPr>
        <p:grpSpPr>
          <a:xfrm>
            <a:off x="1752600" y="3057461"/>
            <a:ext cx="1447800" cy="718185"/>
            <a:chOff x="1752600" y="3057461"/>
            <a:chExt cx="1447800" cy="718185"/>
          </a:xfrm>
        </p:grpSpPr>
        <p:pic>
          <p:nvPicPr>
            <p:cNvPr id="6" name="object 6"/>
            <p:cNvPicPr/>
            <p:nvPr/>
          </p:nvPicPr>
          <p:blipFill>
            <a:blip r:embed="rId2" cstate="print"/>
            <a:stretch>
              <a:fillRect/>
            </a:stretch>
          </p:blipFill>
          <p:spPr>
            <a:xfrm>
              <a:off x="1752600" y="3067049"/>
              <a:ext cx="615950" cy="708025"/>
            </a:xfrm>
            <a:prstGeom prst="rect">
              <a:avLst/>
            </a:prstGeom>
          </p:spPr>
        </p:pic>
        <p:pic>
          <p:nvPicPr>
            <p:cNvPr id="7" name="object 7"/>
            <p:cNvPicPr/>
            <p:nvPr/>
          </p:nvPicPr>
          <p:blipFill>
            <a:blip r:embed="rId3" cstate="print"/>
            <a:stretch>
              <a:fillRect/>
            </a:stretch>
          </p:blipFill>
          <p:spPr>
            <a:xfrm>
              <a:off x="2314575" y="3057461"/>
              <a:ext cx="885825" cy="661987"/>
            </a:xfrm>
            <a:prstGeom prst="rect">
              <a:avLst/>
            </a:prstGeom>
          </p:spPr>
        </p:pic>
      </p:grpSp>
      <p:grpSp>
        <p:nvGrpSpPr>
          <p:cNvPr id="8" name="object 8"/>
          <p:cNvGrpSpPr/>
          <p:nvPr/>
        </p:nvGrpSpPr>
        <p:grpSpPr>
          <a:xfrm>
            <a:off x="3352800" y="3066986"/>
            <a:ext cx="1447800" cy="718185"/>
            <a:chOff x="3352800" y="3066986"/>
            <a:chExt cx="1447800" cy="718185"/>
          </a:xfrm>
        </p:grpSpPr>
        <p:pic>
          <p:nvPicPr>
            <p:cNvPr id="9" name="object 9"/>
            <p:cNvPicPr/>
            <p:nvPr/>
          </p:nvPicPr>
          <p:blipFill>
            <a:blip r:embed="rId2" cstate="print"/>
            <a:stretch>
              <a:fillRect/>
            </a:stretch>
          </p:blipFill>
          <p:spPr>
            <a:xfrm>
              <a:off x="3352800" y="3076574"/>
              <a:ext cx="615950" cy="708025"/>
            </a:xfrm>
            <a:prstGeom prst="rect">
              <a:avLst/>
            </a:prstGeom>
          </p:spPr>
        </p:pic>
        <p:pic>
          <p:nvPicPr>
            <p:cNvPr id="10" name="object 10"/>
            <p:cNvPicPr/>
            <p:nvPr/>
          </p:nvPicPr>
          <p:blipFill>
            <a:blip r:embed="rId3" cstate="print"/>
            <a:stretch>
              <a:fillRect/>
            </a:stretch>
          </p:blipFill>
          <p:spPr>
            <a:xfrm>
              <a:off x="3914775" y="3066986"/>
              <a:ext cx="885825" cy="661987"/>
            </a:xfrm>
            <a:prstGeom prst="rect">
              <a:avLst/>
            </a:prstGeom>
          </p:spPr>
        </p:pic>
      </p:grpSp>
      <p:grpSp>
        <p:nvGrpSpPr>
          <p:cNvPr id="11" name="object 11"/>
          <p:cNvGrpSpPr/>
          <p:nvPr/>
        </p:nvGrpSpPr>
        <p:grpSpPr>
          <a:xfrm>
            <a:off x="5153025" y="3066986"/>
            <a:ext cx="1447800" cy="718185"/>
            <a:chOff x="5153025" y="3066986"/>
            <a:chExt cx="1447800" cy="718185"/>
          </a:xfrm>
        </p:grpSpPr>
        <p:pic>
          <p:nvPicPr>
            <p:cNvPr id="12" name="object 12"/>
            <p:cNvPicPr/>
            <p:nvPr/>
          </p:nvPicPr>
          <p:blipFill>
            <a:blip r:embed="rId2" cstate="print"/>
            <a:stretch>
              <a:fillRect/>
            </a:stretch>
          </p:blipFill>
          <p:spPr>
            <a:xfrm>
              <a:off x="5153025" y="3076574"/>
              <a:ext cx="615950" cy="708025"/>
            </a:xfrm>
            <a:prstGeom prst="rect">
              <a:avLst/>
            </a:prstGeom>
          </p:spPr>
        </p:pic>
        <p:pic>
          <p:nvPicPr>
            <p:cNvPr id="13" name="object 13"/>
            <p:cNvPicPr/>
            <p:nvPr/>
          </p:nvPicPr>
          <p:blipFill>
            <a:blip r:embed="rId3" cstate="print"/>
            <a:stretch>
              <a:fillRect/>
            </a:stretch>
          </p:blipFill>
          <p:spPr>
            <a:xfrm>
              <a:off x="5715000" y="3066986"/>
              <a:ext cx="885825" cy="661987"/>
            </a:xfrm>
            <a:prstGeom prst="rect">
              <a:avLst/>
            </a:prstGeom>
          </p:spPr>
        </p:pic>
      </p:grpSp>
      <p:grpSp>
        <p:nvGrpSpPr>
          <p:cNvPr id="14" name="object 14"/>
          <p:cNvGrpSpPr/>
          <p:nvPr/>
        </p:nvGrpSpPr>
        <p:grpSpPr>
          <a:xfrm>
            <a:off x="6829425" y="3066986"/>
            <a:ext cx="1447800" cy="718185"/>
            <a:chOff x="6829425" y="3066986"/>
            <a:chExt cx="1447800" cy="718185"/>
          </a:xfrm>
        </p:grpSpPr>
        <p:pic>
          <p:nvPicPr>
            <p:cNvPr id="15" name="object 15"/>
            <p:cNvPicPr/>
            <p:nvPr/>
          </p:nvPicPr>
          <p:blipFill>
            <a:blip r:embed="rId2" cstate="print"/>
            <a:stretch>
              <a:fillRect/>
            </a:stretch>
          </p:blipFill>
          <p:spPr>
            <a:xfrm>
              <a:off x="6829425" y="3076574"/>
              <a:ext cx="615950" cy="708025"/>
            </a:xfrm>
            <a:prstGeom prst="rect">
              <a:avLst/>
            </a:prstGeom>
          </p:spPr>
        </p:pic>
        <p:pic>
          <p:nvPicPr>
            <p:cNvPr id="16" name="object 16"/>
            <p:cNvPicPr/>
            <p:nvPr/>
          </p:nvPicPr>
          <p:blipFill>
            <a:blip r:embed="rId3" cstate="print"/>
            <a:stretch>
              <a:fillRect/>
            </a:stretch>
          </p:blipFill>
          <p:spPr>
            <a:xfrm>
              <a:off x="7391400" y="3066986"/>
              <a:ext cx="885825" cy="661987"/>
            </a:xfrm>
            <a:prstGeom prst="rect">
              <a:avLst/>
            </a:prstGeom>
          </p:spPr>
        </p:pic>
      </p:grpSp>
      <p:pic>
        <p:nvPicPr>
          <p:cNvPr id="17" name="object 17"/>
          <p:cNvPicPr/>
          <p:nvPr/>
        </p:nvPicPr>
        <p:blipFill>
          <a:blip r:embed="rId4" cstate="print"/>
          <a:stretch>
            <a:fillRect/>
          </a:stretch>
        </p:blipFill>
        <p:spPr>
          <a:xfrm>
            <a:off x="1789778" y="5566399"/>
            <a:ext cx="1560061" cy="986800"/>
          </a:xfrm>
          <a:prstGeom prst="rect">
            <a:avLst/>
          </a:prstGeom>
        </p:spPr>
      </p:pic>
      <p:pic>
        <p:nvPicPr>
          <p:cNvPr id="18" name="object 18"/>
          <p:cNvPicPr/>
          <p:nvPr/>
        </p:nvPicPr>
        <p:blipFill>
          <a:blip r:embed="rId4" cstate="print"/>
          <a:stretch>
            <a:fillRect/>
          </a:stretch>
        </p:blipFill>
        <p:spPr>
          <a:xfrm>
            <a:off x="3542378" y="5566399"/>
            <a:ext cx="1560061" cy="986800"/>
          </a:xfrm>
          <a:prstGeom prst="rect">
            <a:avLst/>
          </a:prstGeom>
        </p:spPr>
      </p:pic>
      <p:pic>
        <p:nvPicPr>
          <p:cNvPr id="19" name="object 19"/>
          <p:cNvPicPr/>
          <p:nvPr/>
        </p:nvPicPr>
        <p:blipFill>
          <a:blip r:embed="rId4" cstate="print"/>
          <a:stretch>
            <a:fillRect/>
          </a:stretch>
        </p:blipFill>
        <p:spPr>
          <a:xfrm>
            <a:off x="5218778" y="5604499"/>
            <a:ext cx="1560061" cy="986800"/>
          </a:xfrm>
          <a:prstGeom prst="rect">
            <a:avLst/>
          </a:prstGeom>
        </p:spPr>
      </p:pic>
      <p:pic>
        <p:nvPicPr>
          <p:cNvPr id="20" name="object 20"/>
          <p:cNvPicPr/>
          <p:nvPr/>
        </p:nvPicPr>
        <p:blipFill>
          <a:blip r:embed="rId4" cstate="print"/>
          <a:stretch>
            <a:fillRect/>
          </a:stretch>
        </p:blipFill>
        <p:spPr>
          <a:xfrm>
            <a:off x="6895179" y="5642599"/>
            <a:ext cx="1560061" cy="986800"/>
          </a:xfrm>
          <a:prstGeom prst="rect">
            <a:avLst/>
          </a:prstGeom>
        </p:spPr>
      </p:pic>
      <p:sp>
        <p:nvSpPr>
          <p:cNvPr id="21" name="Title 20"/>
          <p:cNvSpPr>
            <a:spLocks noGrp="1"/>
          </p:cNvSpPr>
          <p:nvPr>
            <p:ph type="title"/>
          </p:nvPr>
        </p:nvSpPr>
        <p:spPr>
          <a:xfrm>
            <a:off x="0" y="0"/>
            <a:ext cx="7787385" cy="1354217"/>
          </a:xfrm>
        </p:spPr>
        <p:txBody>
          <a:bodyPr/>
          <a:lstStyle/>
          <a:p>
            <a:pPr algn="ctr"/>
            <a:r>
              <a:rPr lang="en-US" spc="-155" dirty="0"/>
              <a:t>APPLICATIONS OF</a:t>
            </a:r>
            <a:r>
              <a:rPr lang="en-US" spc="-114" dirty="0"/>
              <a:t> </a:t>
            </a:r>
            <a:r>
              <a:rPr lang="en-US" spc="-190" dirty="0"/>
              <a:t>CO</a:t>
            </a:r>
            <a:r>
              <a:rPr lang="en-US" spc="-195" dirty="0"/>
              <a:t>M</a:t>
            </a:r>
            <a:r>
              <a:rPr lang="en-US" spc="-225" dirty="0"/>
              <a:t>PUTER  </a:t>
            </a:r>
            <a:r>
              <a:rPr lang="en-US" spc="-204" dirty="0"/>
              <a:t>NETWORK</a:t>
            </a:r>
            <a:endParaRPr lang="en-US" dirty="0"/>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499978"/>
            <a:ext cx="8762999" cy="566822"/>
          </a:xfrm>
          <a:prstGeom prst="rect">
            <a:avLst/>
          </a:prstGeom>
        </p:spPr>
        <p:txBody>
          <a:bodyPr vert="horz" wrap="square" lIns="0" tIns="12700" rIns="0" bIns="0" rtlCol="0">
            <a:spAutoFit/>
          </a:bodyPr>
          <a:lstStyle/>
          <a:p>
            <a:pPr marL="12700" marR="5080">
              <a:lnSpc>
                <a:spcPct val="100000"/>
              </a:lnSpc>
              <a:spcBef>
                <a:spcPts val="100"/>
              </a:spcBef>
            </a:pPr>
            <a:r>
              <a:rPr sz="3600" spc="-150" dirty="0"/>
              <a:t>COM</a:t>
            </a:r>
            <a:r>
              <a:rPr sz="3600" spc="-114" dirty="0"/>
              <a:t>P</a:t>
            </a:r>
            <a:r>
              <a:rPr sz="3600" spc="-254" dirty="0"/>
              <a:t>ONENTS</a:t>
            </a:r>
            <a:r>
              <a:rPr sz="3600" spc="-125" dirty="0"/>
              <a:t> </a:t>
            </a:r>
            <a:r>
              <a:rPr sz="3600" spc="-140" dirty="0"/>
              <a:t>OF</a:t>
            </a:r>
            <a:r>
              <a:rPr sz="3600" spc="-100" dirty="0"/>
              <a:t> </a:t>
            </a:r>
            <a:r>
              <a:rPr sz="3600" spc="-170" dirty="0"/>
              <a:t>CO</a:t>
            </a:r>
            <a:r>
              <a:rPr sz="3600" spc="-175" dirty="0"/>
              <a:t>M</a:t>
            </a:r>
            <a:r>
              <a:rPr sz="3600" spc="-105" dirty="0"/>
              <a:t>P</a:t>
            </a:r>
            <a:r>
              <a:rPr sz="3600" spc="-100" dirty="0"/>
              <a:t>U</a:t>
            </a:r>
            <a:r>
              <a:rPr sz="3600" spc="-250" dirty="0"/>
              <a:t>TER  </a:t>
            </a:r>
            <a:r>
              <a:rPr sz="3600" spc="-185" dirty="0"/>
              <a:t>NETWORK</a:t>
            </a:r>
            <a:endParaRPr sz="3600"/>
          </a:p>
        </p:txBody>
      </p:sp>
      <p:sp>
        <p:nvSpPr>
          <p:cNvPr id="3" name="object 3"/>
          <p:cNvSpPr txBox="1"/>
          <p:nvPr/>
        </p:nvSpPr>
        <p:spPr>
          <a:xfrm>
            <a:off x="1" y="1538136"/>
            <a:ext cx="9144000" cy="4154342"/>
          </a:xfrm>
          <a:prstGeom prst="rect">
            <a:avLst/>
          </a:prstGeom>
        </p:spPr>
        <p:txBody>
          <a:bodyPr vert="horz" wrap="square" lIns="0" tIns="100965" rIns="0" bIns="0" rtlCol="0">
            <a:spAutoFit/>
          </a:bodyPr>
          <a:lstStyle/>
          <a:p>
            <a:pPr marL="332740" indent="-320675">
              <a:lnSpc>
                <a:spcPct val="100000"/>
              </a:lnSpc>
              <a:spcBef>
                <a:spcPts val="795"/>
              </a:spcBef>
              <a:buClr>
                <a:srgbClr val="DA1F28"/>
              </a:buClr>
              <a:buSzPct val="60344"/>
              <a:buFont typeface="Wingdings"/>
              <a:buChar char=""/>
              <a:tabLst>
                <a:tab pos="332740" algn="l"/>
                <a:tab pos="333375" algn="l"/>
              </a:tabLst>
            </a:pPr>
            <a:r>
              <a:rPr sz="4000" spc="-180" dirty="0">
                <a:latin typeface="Arial"/>
                <a:cs typeface="Arial"/>
              </a:rPr>
              <a:t>Two</a:t>
            </a:r>
            <a:r>
              <a:rPr sz="4000" spc="-100" dirty="0">
                <a:latin typeface="Arial"/>
                <a:cs typeface="Arial"/>
              </a:rPr>
              <a:t> </a:t>
            </a:r>
            <a:r>
              <a:rPr sz="4000" spc="-130" dirty="0">
                <a:latin typeface="Arial"/>
                <a:cs typeface="Arial"/>
              </a:rPr>
              <a:t>or</a:t>
            </a:r>
            <a:r>
              <a:rPr sz="4000" spc="-90" dirty="0">
                <a:latin typeface="Arial"/>
                <a:cs typeface="Arial"/>
              </a:rPr>
              <a:t> </a:t>
            </a:r>
            <a:r>
              <a:rPr sz="4000" spc="-125" dirty="0">
                <a:latin typeface="Arial"/>
                <a:cs typeface="Arial"/>
              </a:rPr>
              <a:t>mor</a:t>
            </a:r>
            <a:r>
              <a:rPr sz="4000" spc="-105" dirty="0">
                <a:latin typeface="Arial"/>
                <a:cs typeface="Arial"/>
              </a:rPr>
              <a:t>e</a:t>
            </a:r>
            <a:r>
              <a:rPr sz="4000" spc="-95" dirty="0">
                <a:latin typeface="Arial"/>
                <a:cs typeface="Arial"/>
              </a:rPr>
              <a:t> </a:t>
            </a:r>
            <a:r>
              <a:rPr sz="4000" spc="-110" dirty="0">
                <a:latin typeface="Arial"/>
                <a:cs typeface="Arial"/>
              </a:rPr>
              <a:t>compute</a:t>
            </a:r>
            <a:r>
              <a:rPr sz="4000" spc="-90" dirty="0">
                <a:latin typeface="Arial"/>
                <a:cs typeface="Arial"/>
              </a:rPr>
              <a:t>r</a:t>
            </a:r>
            <a:r>
              <a:rPr sz="4000" spc="-580" dirty="0">
                <a:latin typeface="Arial"/>
                <a:cs typeface="Arial"/>
              </a:rPr>
              <a:t>s</a:t>
            </a:r>
            <a:endParaRPr sz="4000">
              <a:latin typeface="Arial"/>
              <a:cs typeface="Arial"/>
            </a:endParaRPr>
          </a:p>
          <a:p>
            <a:pPr marL="332740" indent="-320675">
              <a:lnSpc>
                <a:spcPct val="100000"/>
              </a:lnSpc>
              <a:spcBef>
                <a:spcPts val="695"/>
              </a:spcBef>
              <a:buClr>
                <a:srgbClr val="DA1F28"/>
              </a:buClr>
              <a:buSzPct val="60344"/>
              <a:buFont typeface="Wingdings"/>
              <a:buChar char=""/>
              <a:tabLst>
                <a:tab pos="332740" algn="l"/>
                <a:tab pos="333375" algn="l"/>
              </a:tabLst>
            </a:pPr>
            <a:r>
              <a:rPr sz="4000" spc="-175" dirty="0">
                <a:latin typeface="Arial"/>
                <a:cs typeface="Arial"/>
              </a:rPr>
              <a:t>Cables</a:t>
            </a:r>
            <a:r>
              <a:rPr sz="4000" spc="-105" dirty="0">
                <a:latin typeface="Arial"/>
                <a:cs typeface="Arial"/>
              </a:rPr>
              <a:t> </a:t>
            </a:r>
            <a:r>
              <a:rPr sz="4000" spc="-245" dirty="0">
                <a:latin typeface="Arial"/>
                <a:cs typeface="Arial"/>
              </a:rPr>
              <a:t>as</a:t>
            </a:r>
            <a:r>
              <a:rPr sz="4000" spc="-95" dirty="0">
                <a:latin typeface="Arial"/>
                <a:cs typeface="Arial"/>
              </a:rPr>
              <a:t> </a:t>
            </a:r>
            <a:r>
              <a:rPr sz="4000" spc="-125" dirty="0">
                <a:latin typeface="Arial"/>
                <a:cs typeface="Arial"/>
              </a:rPr>
              <a:t>links</a:t>
            </a:r>
            <a:r>
              <a:rPr sz="4000" spc="-85" dirty="0">
                <a:latin typeface="Arial"/>
                <a:cs typeface="Arial"/>
              </a:rPr>
              <a:t> </a:t>
            </a:r>
            <a:r>
              <a:rPr sz="4000" spc="-90" dirty="0">
                <a:latin typeface="Arial"/>
                <a:cs typeface="Arial"/>
              </a:rPr>
              <a:t>between</a:t>
            </a:r>
            <a:r>
              <a:rPr sz="4000" spc="-80" dirty="0">
                <a:latin typeface="Arial"/>
                <a:cs typeface="Arial"/>
              </a:rPr>
              <a:t> </a:t>
            </a:r>
            <a:r>
              <a:rPr sz="4000" spc="-55" dirty="0">
                <a:latin typeface="Arial"/>
                <a:cs typeface="Arial"/>
              </a:rPr>
              <a:t>the</a:t>
            </a:r>
            <a:r>
              <a:rPr sz="4000" spc="-95" dirty="0">
                <a:latin typeface="Arial"/>
                <a:cs typeface="Arial"/>
              </a:rPr>
              <a:t> </a:t>
            </a:r>
            <a:r>
              <a:rPr sz="4000" spc="-160" dirty="0">
                <a:latin typeface="Arial"/>
                <a:cs typeface="Arial"/>
              </a:rPr>
              <a:t>computers</a:t>
            </a:r>
            <a:endParaRPr sz="4000">
              <a:latin typeface="Arial"/>
              <a:cs typeface="Arial"/>
            </a:endParaRPr>
          </a:p>
          <a:p>
            <a:pPr marL="332740" marR="5080" indent="-320675">
              <a:lnSpc>
                <a:spcPct val="100000"/>
              </a:lnSpc>
              <a:spcBef>
                <a:spcPts val="710"/>
              </a:spcBef>
              <a:buClr>
                <a:srgbClr val="DA1F28"/>
              </a:buClr>
              <a:buSzPct val="60344"/>
              <a:buFont typeface="Wingdings"/>
              <a:buChar char=""/>
              <a:tabLst>
                <a:tab pos="332740" algn="l"/>
                <a:tab pos="333375" algn="l"/>
              </a:tabLst>
            </a:pPr>
            <a:r>
              <a:rPr sz="4000" spc="-80">
                <a:latin typeface="Arial"/>
                <a:cs typeface="Arial"/>
              </a:rPr>
              <a:t>A</a:t>
            </a:r>
            <a:r>
              <a:rPr sz="4000" spc="-95">
                <a:latin typeface="Arial"/>
                <a:cs typeface="Arial"/>
              </a:rPr>
              <a:t> </a:t>
            </a:r>
            <a:r>
              <a:rPr lang="en-US" sz="4000" spc="-60" dirty="0">
                <a:latin typeface="Arial"/>
                <a:cs typeface="Arial"/>
              </a:rPr>
              <a:t>N</a:t>
            </a:r>
            <a:r>
              <a:rPr sz="4000" spc="-60">
                <a:latin typeface="Arial"/>
                <a:cs typeface="Arial"/>
              </a:rPr>
              <a:t>e</a:t>
            </a:r>
            <a:r>
              <a:rPr sz="4000" spc="-50">
                <a:latin typeface="Arial"/>
                <a:cs typeface="Arial"/>
              </a:rPr>
              <a:t>twork</a:t>
            </a:r>
            <a:r>
              <a:rPr sz="4000" spc="-80">
                <a:latin typeface="Arial"/>
                <a:cs typeface="Arial"/>
              </a:rPr>
              <a:t> </a:t>
            </a:r>
            <a:r>
              <a:rPr lang="en-US" sz="4000" spc="-40" dirty="0">
                <a:latin typeface="Arial"/>
                <a:cs typeface="Arial"/>
              </a:rPr>
              <a:t>I</a:t>
            </a:r>
            <a:r>
              <a:rPr sz="4000" spc="-40">
                <a:latin typeface="Arial"/>
                <a:cs typeface="Arial"/>
              </a:rPr>
              <a:t>nte</a:t>
            </a:r>
            <a:r>
              <a:rPr sz="4000" spc="-45">
                <a:latin typeface="Arial"/>
                <a:cs typeface="Arial"/>
              </a:rPr>
              <a:t>r</a:t>
            </a:r>
            <a:r>
              <a:rPr sz="4000" spc="-85">
                <a:latin typeface="Arial"/>
                <a:cs typeface="Arial"/>
              </a:rPr>
              <a:t>facin</a:t>
            </a:r>
            <a:r>
              <a:rPr sz="4000" spc="-105">
                <a:latin typeface="Arial"/>
                <a:cs typeface="Arial"/>
              </a:rPr>
              <a:t>g</a:t>
            </a:r>
            <a:r>
              <a:rPr sz="4000" spc="-80">
                <a:latin typeface="Arial"/>
                <a:cs typeface="Arial"/>
              </a:rPr>
              <a:t> </a:t>
            </a:r>
            <a:r>
              <a:rPr lang="en-US" sz="4000" spc="-25" dirty="0">
                <a:latin typeface="Arial"/>
                <a:cs typeface="Arial"/>
              </a:rPr>
              <a:t>C</a:t>
            </a:r>
            <a:r>
              <a:rPr sz="4000" spc="-25">
                <a:latin typeface="Arial"/>
                <a:cs typeface="Arial"/>
              </a:rPr>
              <a:t>ard(NIC</a:t>
            </a:r>
            <a:r>
              <a:rPr sz="4000" spc="-15" dirty="0">
                <a:latin typeface="Arial"/>
                <a:cs typeface="Arial"/>
              </a:rPr>
              <a:t>)</a:t>
            </a:r>
            <a:r>
              <a:rPr sz="4000" spc="-105" dirty="0">
                <a:latin typeface="Arial"/>
                <a:cs typeface="Arial"/>
              </a:rPr>
              <a:t> </a:t>
            </a:r>
            <a:r>
              <a:rPr sz="4000" spc="-185" dirty="0">
                <a:latin typeface="Arial"/>
                <a:cs typeface="Arial"/>
              </a:rPr>
              <a:t>on</a:t>
            </a:r>
            <a:r>
              <a:rPr sz="4000" spc="-80" dirty="0">
                <a:latin typeface="Arial"/>
                <a:cs typeface="Arial"/>
              </a:rPr>
              <a:t> </a:t>
            </a:r>
            <a:r>
              <a:rPr sz="4000" spc="-125" dirty="0">
                <a:latin typeface="Arial"/>
                <a:cs typeface="Arial"/>
              </a:rPr>
              <a:t>each  </a:t>
            </a:r>
            <a:r>
              <a:rPr sz="4000" spc="-105" dirty="0">
                <a:latin typeface="Arial"/>
                <a:cs typeface="Arial"/>
              </a:rPr>
              <a:t>computer</a:t>
            </a:r>
            <a:endParaRPr sz="4000">
              <a:latin typeface="Arial"/>
              <a:cs typeface="Arial"/>
            </a:endParaRPr>
          </a:p>
          <a:p>
            <a:pPr marL="332740" indent="-320675">
              <a:lnSpc>
                <a:spcPct val="100000"/>
              </a:lnSpc>
              <a:spcBef>
                <a:spcPts val="700"/>
              </a:spcBef>
              <a:buClr>
                <a:srgbClr val="DA1F28"/>
              </a:buClr>
              <a:buSzPct val="60344"/>
              <a:buFont typeface="Wingdings"/>
              <a:buChar char=""/>
              <a:tabLst>
                <a:tab pos="332740" algn="l"/>
                <a:tab pos="333375" algn="l"/>
              </a:tabLst>
            </a:pPr>
            <a:r>
              <a:rPr sz="4000" spc="-250" dirty="0">
                <a:latin typeface="Arial"/>
                <a:cs typeface="Arial"/>
              </a:rPr>
              <a:t>Switches</a:t>
            </a:r>
            <a:endParaRPr sz="4000">
              <a:latin typeface="Arial"/>
              <a:cs typeface="Arial"/>
            </a:endParaRPr>
          </a:p>
          <a:p>
            <a:pPr marL="332740" indent="-320675">
              <a:lnSpc>
                <a:spcPct val="100000"/>
              </a:lnSpc>
              <a:spcBef>
                <a:spcPts val="695"/>
              </a:spcBef>
              <a:buClr>
                <a:srgbClr val="DA1F28"/>
              </a:buClr>
              <a:buSzPct val="60344"/>
              <a:buFont typeface="Wingdings"/>
              <a:buChar char=""/>
              <a:tabLst>
                <a:tab pos="332740" algn="l"/>
                <a:tab pos="333375" algn="l"/>
              </a:tabLst>
            </a:pPr>
            <a:r>
              <a:rPr sz="4000" spc="-365" dirty="0">
                <a:latin typeface="Arial"/>
                <a:cs typeface="Arial"/>
              </a:rPr>
              <a:t>So</a:t>
            </a:r>
            <a:r>
              <a:rPr sz="4000" spc="-204" dirty="0">
                <a:latin typeface="Arial"/>
                <a:cs typeface="Arial"/>
              </a:rPr>
              <a:t>f</a:t>
            </a:r>
            <a:r>
              <a:rPr sz="4000" spc="55" dirty="0">
                <a:latin typeface="Arial"/>
                <a:cs typeface="Arial"/>
              </a:rPr>
              <a:t>tw</a:t>
            </a:r>
            <a:r>
              <a:rPr sz="4000" spc="40" dirty="0">
                <a:latin typeface="Arial"/>
                <a:cs typeface="Arial"/>
              </a:rPr>
              <a:t>a</a:t>
            </a:r>
            <a:r>
              <a:rPr sz="4000" spc="-90" dirty="0">
                <a:latin typeface="Arial"/>
                <a:cs typeface="Arial"/>
              </a:rPr>
              <a:t>re</a:t>
            </a:r>
            <a:r>
              <a:rPr sz="4000" spc="-95" dirty="0">
                <a:latin typeface="Arial"/>
                <a:cs typeface="Arial"/>
              </a:rPr>
              <a:t> </a:t>
            </a:r>
            <a:r>
              <a:rPr sz="4000" spc="-100" dirty="0">
                <a:latin typeface="Arial"/>
                <a:cs typeface="Arial"/>
              </a:rPr>
              <a:t>calle</a:t>
            </a:r>
            <a:r>
              <a:rPr sz="4000" spc="-130" dirty="0">
                <a:latin typeface="Arial"/>
                <a:cs typeface="Arial"/>
              </a:rPr>
              <a:t>d</a:t>
            </a:r>
            <a:r>
              <a:rPr sz="4000" spc="-95" dirty="0">
                <a:latin typeface="Arial"/>
                <a:cs typeface="Arial"/>
              </a:rPr>
              <a:t> </a:t>
            </a:r>
            <a:r>
              <a:rPr sz="4000" spc="-70" dirty="0">
                <a:latin typeface="Arial"/>
                <a:cs typeface="Arial"/>
              </a:rPr>
              <a:t>oper</a:t>
            </a:r>
            <a:r>
              <a:rPr sz="4000" spc="-85" dirty="0">
                <a:latin typeface="Arial"/>
                <a:cs typeface="Arial"/>
              </a:rPr>
              <a:t>a</a:t>
            </a:r>
            <a:r>
              <a:rPr sz="4000" spc="-30" dirty="0">
                <a:latin typeface="Arial"/>
                <a:cs typeface="Arial"/>
              </a:rPr>
              <a:t>ting</a:t>
            </a:r>
            <a:r>
              <a:rPr sz="4000" spc="-90" dirty="0">
                <a:latin typeface="Arial"/>
                <a:cs typeface="Arial"/>
              </a:rPr>
              <a:t> </a:t>
            </a:r>
            <a:r>
              <a:rPr sz="4000" spc="-590" dirty="0">
                <a:latin typeface="Arial"/>
                <a:cs typeface="Arial"/>
              </a:rPr>
              <a:t>s</a:t>
            </a:r>
            <a:r>
              <a:rPr sz="4000" spc="-200" dirty="0">
                <a:latin typeface="Arial"/>
                <a:cs typeface="Arial"/>
              </a:rPr>
              <a:t>ys</a:t>
            </a:r>
            <a:r>
              <a:rPr sz="4000" spc="-130" dirty="0">
                <a:latin typeface="Arial"/>
                <a:cs typeface="Arial"/>
              </a:rPr>
              <a:t>t</a:t>
            </a:r>
            <a:r>
              <a:rPr sz="4000" spc="-5" dirty="0">
                <a:latin typeface="Arial"/>
                <a:cs typeface="Arial"/>
              </a:rPr>
              <a:t>em</a:t>
            </a:r>
            <a:r>
              <a:rPr sz="4000" spc="-20" dirty="0">
                <a:latin typeface="Arial"/>
                <a:cs typeface="Arial"/>
              </a:rPr>
              <a:t>(</a:t>
            </a:r>
            <a:r>
              <a:rPr sz="4000" spc="-204" dirty="0">
                <a:latin typeface="Arial"/>
                <a:cs typeface="Arial"/>
              </a:rPr>
              <a:t>OS)</a:t>
            </a:r>
            <a:endParaRPr sz="4000">
              <a:latin typeface="Arial"/>
              <a:cs typeface="Arial"/>
            </a:endParaRPr>
          </a:p>
        </p:txBody>
      </p:sp>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515264"/>
            <a:ext cx="8839200" cy="627736"/>
          </a:xfrm>
          <a:prstGeom prst="rect">
            <a:avLst/>
          </a:prstGeom>
        </p:spPr>
        <p:txBody>
          <a:bodyPr vert="horz" wrap="square" lIns="0" tIns="12065" rIns="0" bIns="0" rtlCol="0">
            <a:spAutoFit/>
          </a:bodyPr>
          <a:lstStyle/>
          <a:p>
            <a:pPr marL="12700" marR="5080">
              <a:lnSpc>
                <a:spcPct val="100000"/>
              </a:lnSpc>
              <a:spcBef>
                <a:spcPts val="95"/>
              </a:spcBef>
            </a:pPr>
            <a:r>
              <a:rPr sz="4000" spc="-225"/>
              <a:t>BE</a:t>
            </a:r>
            <a:r>
              <a:rPr sz="4000" spc="-220"/>
              <a:t>N</a:t>
            </a:r>
            <a:r>
              <a:rPr sz="4000" spc="-380"/>
              <a:t>EFITS</a:t>
            </a:r>
            <a:r>
              <a:rPr sz="4000" spc="-80"/>
              <a:t> </a:t>
            </a:r>
            <a:r>
              <a:rPr sz="4000" spc="-155" dirty="0"/>
              <a:t>OF</a:t>
            </a:r>
            <a:r>
              <a:rPr sz="4000" spc="-114" dirty="0"/>
              <a:t> </a:t>
            </a:r>
            <a:r>
              <a:rPr sz="4000" spc="-190" dirty="0"/>
              <a:t>CO</a:t>
            </a:r>
            <a:r>
              <a:rPr sz="4000" spc="-195" dirty="0"/>
              <a:t>M</a:t>
            </a:r>
            <a:r>
              <a:rPr sz="4000" spc="-225" dirty="0"/>
              <a:t>PUTER  </a:t>
            </a:r>
            <a:r>
              <a:rPr sz="4000" spc="-204" dirty="0"/>
              <a:t>NETWORK</a:t>
            </a:r>
            <a:endParaRPr sz="4000"/>
          </a:p>
        </p:txBody>
      </p:sp>
      <p:sp>
        <p:nvSpPr>
          <p:cNvPr id="3" name="object 3"/>
          <p:cNvSpPr txBox="1"/>
          <p:nvPr/>
        </p:nvSpPr>
        <p:spPr>
          <a:xfrm>
            <a:off x="810259" y="1538136"/>
            <a:ext cx="6376670" cy="5075107"/>
          </a:xfrm>
          <a:prstGeom prst="rect">
            <a:avLst/>
          </a:prstGeom>
        </p:spPr>
        <p:txBody>
          <a:bodyPr vert="horz" wrap="square" lIns="0" tIns="100965" rIns="0" bIns="0" rtlCol="0">
            <a:spAutoFit/>
          </a:bodyPr>
          <a:lstStyle/>
          <a:p>
            <a:pPr marL="526415" indent="-514350">
              <a:lnSpc>
                <a:spcPct val="100000"/>
              </a:lnSpc>
              <a:spcBef>
                <a:spcPts val="795"/>
              </a:spcBef>
              <a:buClr>
                <a:srgbClr val="DA1F28"/>
              </a:buClr>
              <a:buSzPct val="60344"/>
              <a:buFont typeface="Courier New"/>
              <a:buChar char="o"/>
              <a:tabLst>
                <a:tab pos="526415" algn="l"/>
                <a:tab pos="527050" algn="l"/>
              </a:tabLst>
            </a:pPr>
            <a:r>
              <a:rPr sz="4200" spc="-125" dirty="0">
                <a:latin typeface="Arial"/>
                <a:cs typeface="Arial"/>
              </a:rPr>
              <a:t>Incr</a:t>
            </a:r>
            <a:r>
              <a:rPr sz="4200" spc="-170" dirty="0">
                <a:latin typeface="Arial"/>
                <a:cs typeface="Arial"/>
              </a:rPr>
              <a:t>e</a:t>
            </a:r>
            <a:r>
              <a:rPr sz="4200" spc="-215" dirty="0">
                <a:latin typeface="Arial"/>
                <a:cs typeface="Arial"/>
              </a:rPr>
              <a:t>as</a:t>
            </a:r>
            <a:r>
              <a:rPr sz="4200" spc="-229" dirty="0">
                <a:latin typeface="Arial"/>
                <a:cs typeface="Arial"/>
              </a:rPr>
              <a:t>e</a:t>
            </a:r>
            <a:r>
              <a:rPr sz="4200" spc="-60" dirty="0">
                <a:latin typeface="Arial"/>
                <a:cs typeface="Arial"/>
              </a:rPr>
              <a:t>d</a:t>
            </a:r>
            <a:r>
              <a:rPr sz="4200" spc="-100" dirty="0">
                <a:latin typeface="Arial"/>
                <a:cs typeface="Arial"/>
              </a:rPr>
              <a:t> </a:t>
            </a:r>
            <a:r>
              <a:rPr sz="4200" spc="-195" dirty="0">
                <a:latin typeface="Arial"/>
                <a:cs typeface="Arial"/>
              </a:rPr>
              <a:t>speed</a:t>
            </a:r>
            <a:endParaRPr sz="4200">
              <a:latin typeface="Arial"/>
              <a:cs typeface="Arial"/>
            </a:endParaRPr>
          </a:p>
          <a:p>
            <a:pPr marL="526415" indent="-514350">
              <a:lnSpc>
                <a:spcPct val="100000"/>
              </a:lnSpc>
              <a:spcBef>
                <a:spcPts val="695"/>
              </a:spcBef>
              <a:buClr>
                <a:srgbClr val="DA1F28"/>
              </a:buClr>
              <a:buSzPct val="60344"/>
              <a:buFont typeface="Courier New"/>
              <a:buChar char="o"/>
              <a:tabLst>
                <a:tab pos="526415" algn="l"/>
                <a:tab pos="527050" algn="l"/>
              </a:tabLst>
            </a:pPr>
            <a:r>
              <a:rPr sz="4200" spc="-175" dirty="0">
                <a:latin typeface="Arial"/>
                <a:cs typeface="Arial"/>
              </a:rPr>
              <a:t>Reduce</a:t>
            </a:r>
            <a:r>
              <a:rPr sz="4200" spc="-170" dirty="0">
                <a:latin typeface="Arial"/>
                <a:cs typeface="Arial"/>
              </a:rPr>
              <a:t>d</a:t>
            </a:r>
            <a:r>
              <a:rPr sz="4200" spc="-110" dirty="0">
                <a:latin typeface="Arial"/>
                <a:cs typeface="Arial"/>
              </a:rPr>
              <a:t> </a:t>
            </a:r>
            <a:r>
              <a:rPr sz="4200" spc="-275" dirty="0">
                <a:latin typeface="Arial"/>
                <a:cs typeface="Arial"/>
              </a:rPr>
              <a:t>cost</a:t>
            </a:r>
            <a:endParaRPr sz="4200">
              <a:latin typeface="Arial"/>
              <a:cs typeface="Arial"/>
            </a:endParaRPr>
          </a:p>
          <a:p>
            <a:pPr marL="526415" indent="-514350">
              <a:lnSpc>
                <a:spcPct val="100000"/>
              </a:lnSpc>
              <a:spcBef>
                <a:spcPts val="710"/>
              </a:spcBef>
              <a:buClr>
                <a:srgbClr val="DA1F28"/>
              </a:buClr>
              <a:buSzPct val="60344"/>
              <a:buFont typeface="Courier New"/>
              <a:buChar char="o"/>
              <a:tabLst>
                <a:tab pos="526415" algn="l"/>
                <a:tab pos="527050" algn="l"/>
              </a:tabLst>
            </a:pPr>
            <a:r>
              <a:rPr sz="4200" spc="-70" dirty="0">
                <a:latin typeface="Arial"/>
                <a:cs typeface="Arial"/>
              </a:rPr>
              <a:t>Improved</a:t>
            </a:r>
            <a:r>
              <a:rPr sz="4200" spc="-130" dirty="0">
                <a:latin typeface="Arial"/>
                <a:cs typeface="Arial"/>
              </a:rPr>
              <a:t> </a:t>
            </a:r>
            <a:r>
              <a:rPr sz="4200" spc="-150" dirty="0">
                <a:latin typeface="Arial"/>
                <a:cs typeface="Arial"/>
              </a:rPr>
              <a:t>security</a:t>
            </a:r>
            <a:endParaRPr sz="4200">
              <a:latin typeface="Arial"/>
              <a:cs typeface="Arial"/>
            </a:endParaRPr>
          </a:p>
          <a:p>
            <a:pPr marL="526415" indent="-514350">
              <a:lnSpc>
                <a:spcPct val="100000"/>
              </a:lnSpc>
              <a:spcBef>
                <a:spcPts val="700"/>
              </a:spcBef>
              <a:buClr>
                <a:srgbClr val="DA1F28"/>
              </a:buClr>
              <a:buSzPct val="60344"/>
              <a:buFont typeface="Courier New"/>
              <a:buChar char="o"/>
              <a:tabLst>
                <a:tab pos="526415" algn="l"/>
                <a:tab pos="527050" algn="l"/>
              </a:tabLst>
            </a:pPr>
            <a:r>
              <a:rPr sz="4200" spc="-70" dirty="0">
                <a:latin typeface="Arial"/>
                <a:cs typeface="Arial"/>
              </a:rPr>
              <a:t>Centralized</a:t>
            </a:r>
            <a:r>
              <a:rPr sz="4200" spc="-110" dirty="0">
                <a:latin typeface="Arial"/>
                <a:cs typeface="Arial"/>
              </a:rPr>
              <a:t> </a:t>
            </a:r>
            <a:r>
              <a:rPr sz="4200" spc="-100" dirty="0">
                <a:latin typeface="Arial"/>
                <a:cs typeface="Arial"/>
              </a:rPr>
              <a:t>software</a:t>
            </a:r>
            <a:r>
              <a:rPr sz="4200" spc="-85" dirty="0">
                <a:latin typeface="Arial"/>
                <a:cs typeface="Arial"/>
              </a:rPr>
              <a:t> </a:t>
            </a:r>
            <a:r>
              <a:rPr sz="4200" spc="-100" dirty="0">
                <a:latin typeface="Arial"/>
                <a:cs typeface="Arial"/>
              </a:rPr>
              <a:t>managements</a:t>
            </a:r>
            <a:endParaRPr sz="4200">
              <a:latin typeface="Arial"/>
              <a:cs typeface="Arial"/>
            </a:endParaRPr>
          </a:p>
          <a:p>
            <a:pPr marL="526415" indent="-514350">
              <a:lnSpc>
                <a:spcPct val="100000"/>
              </a:lnSpc>
              <a:spcBef>
                <a:spcPts val="695"/>
              </a:spcBef>
              <a:buClr>
                <a:srgbClr val="DA1F28"/>
              </a:buClr>
              <a:buSzPct val="60344"/>
              <a:buFont typeface="Courier New"/>
              <a:buChar char="o"/>
              <a:tabLst>
                <a:tab pos="526415" algn="l"/>
                <a:tab pos="527050" algn="l"/>
              </a:tabLst>
            </a:pPr>
            <a:r>
              <a:rPr sz="4200" spc="-220" dirty="0">
                <a:latin typeface="Arial"/>
                <a:cs typeface="Arial"/>
              </a:rPr>
              <a:t>Ele</a:t>
            </a:r>
            <a:r>
              <a:rPr sz="4200" spc="-235" dirty="0">
                <a:latin typeface="Arial"/>
                <a:cs typeface="Arial"/>
              </a:rPr>
              <a:t>c</a:t>
            </a:r>
            <a:r>
              <a:rPr sz="4200" spc="-60" dirty="0">
                <a:latin typeface="Arial"/>
                <a:cs typeface="Arial"/>
              </a:rPr>
              <a:t>tro</a:t>
            </a:r>
            <a:r>
              <a:rPr sz="4200" spc="-95" dirty="0">
                <a:latin typeface="Arial"/>
                <a:cs typeface="Arial"/>
              </a:rPr>
              <a:t>n</a:t>
            </a:r>
            <a:r>
              <a:rPr sz="4200" spc="-210" dirty="0">
                <a:latin typeface="Arial"/>
                <a:cs typeface="Arial"/>
              </a:rPr>
              <a:t>ic</a:t>
            </a:r>
            <a:r>
              <a:rPr sz="4200" spc="-95" dirty="0">
                <a:latin typeface="Arial"/>
                <a:cs typeface="Arial"/>
              </a:rPr>
              <a:t> </a:t>
            </a:r>
            <a:r>
              <a:rPr sz="4200" spc="-5" dirty="0">
                <a:latin typeface="Arial"/>
                <a:cs typeface="Arial"/>
              </a:rPr>
              <a:t>mail</a:t>
            </a:r>
            <a:endParaRPr sz="4200">
              <a:latin typeface="Arial"/>
              <a:cs typeface="Arial"/>
            </a:endParaRPr>
          </a:p>
          <a:p>
            <a:pPr marL="526415" indent="-514350">
              <a:lnSpc>
                <a:spcPct val="100000"/>
              </a:lnSpc>
              <a:spcBef>
                <a:spcPts val="710"/>
              </a:spcBef>
              <a:buClr>
                <a:srgbClr val="DA1F28"/>
              </a:buClr>
              <a:buSzPct val="60344"/>
              <a:buFont typeface="Courier New"/>
              <a:buChar char="o"/>
              <a:tabLst>
                <a:tab pos="526415" algn="l"/>
                <a:tab pos="527050" algn="l"/>
              </a:tabLst>
            </a:pPr>
            <a:r>
              <a:rPr sz="4200" spc="-100" dirty="0">
                <a:latin typeface="Arial"/>
                <a:cs typeface="Arial"/>
              </a:rPr>
              <a:t>Flexibl</a:t>
            </a:r>
            <a:r>
              <a:rPr sz="4200" spc="-114" dirty="0">
                <a:latin typeface="Arial"/>
                <a:cs typeface="Arial"/>
              </a:rPr>
              <a:t>e</a:t>
            </a:r>
            <a:r>
              <a:rPr sz="4200" spc="-120" dirty="0">
                <a:latin typeface="Arial"/>
                <a:cs typeface="Arial"/>
              </a:rPr>
              <a:t> </a:t>
            </a:r>
            <a:r>
              <a:rPr sz="4200" spc="-340" dirty="0">
                <a:latin typeface="Arial"/>
                <a:cs typeface="Arial"/>
              </a:rPr>
              <a:t>access</a:t>
            </a:r>
            <a:endParaRPr sz="4200">
              <a:latin typeface="Arial"/>
              <a:cs typeface="Arial"/>
            </a:endParaRPr>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65201"/>
            <a:ext cx="7933690" cy="697230"/>
          </a:xfrm>
          <a:prstGeom prst="rect">
            <a:avLst/>
          </a:prstGeom>
        </p:spPr>
        <p:txBody>
          <a:bodyPr vert="horz" wrap="square" lIns="0" tIns="13335" rIns="0" bIns="0" rtlCol="0">
            <a:spAutoFit/>
          </a:bodyPr>
          <a:lstStyle/>
          <a:p>
            <a:pPr marL="12700">
              <a:lnSpc>
                <a:spcPct val="100000"/>
              </a:lnSpc>
              <a:spcBef>
                <a:spcPts val="105"/>
              </a:spcBef>
            </a:pPr>
            <a:r>
              <a:rPr spc="-210"/>
              <a:t>DISA</a:t>
            </a:r>
            <a:r>
              <a:rPr lang="en-US" spc="-210" dirty="0"/>
              <a:t>D</a:t>
            </a:r>
            <a:r>
              <a:rPr spc="-220"/>
              <a:t>V</a:t>
            </a:r>
            <a:r>
              <a:rPr spc="-409"/>
              <a:t>ATAGES</a:t>
            </a:r>
            <a:r>
              <a:rPr spc="-170"/>
              <a:t> </a:t>
            </a:r>
            <a:r>
              <a:rPr spc="-165" dirty="0"/>
              <a:t>OF</a:t>
            </a:r>
            <a:r>
              <a:rPr spc="-125" dirty="0"/>
              <a:t> </a:t>
            </a:r>
            <a:r>
              <a:rPr spc="-330" dirty="0"/>
              <a:t>NETWORKS</a:t>
            </a:r>
          </a:p>
        </p:txBody>
      </p:sp>
      <p:sp>
        <p:nvSpPr>
          <p:cNvPr id="3" name="object 3"/>
          <p:cNvSpPr txBox="1"/>
          <p:nvPr/>
        </p:nvSpPr>
        <p:spPr>
          <a:xfrm>
            <a:off x="691387" y="1538136"/>
            <a:ext cx="6395213" cy="3449021"/>
          </a:xfrm>
          <a:prstGeom prst="rect">
            <a:avLst/>
          </a:prstGeom>
        </p:spPr>
        <p:txBody>
          <a:bodyPr vert="horz" wrap="square" lIns="0" tIns="100965" rIns="0" bIns="0" rtlCol="0">
            <a:spAutoFit/>
          </a:bodyPr>
          <a:lstStyle/>
          <a:p>
            <a:pPr marL="332740" indent="-320675">
              <a:lnSpc>
                <a:spcPct val="100000"/>
              </a:lnSpc>
              <a:spcBef>
                <a:spcPts val="795"/>
              </a:spcBef>
              <a:buClr>
                <a:srgbClr val="DA1F28"/>
              </a:buClr>
              <a:buSzPct val="60344"/>
              <a:buFont typeface="Courier New"/>
              <a:buChar char="o"/>
              <a:tabLst>
                <a:tab pos="333375" algn="l"/>
              </a:tabLst>
            </a:pPr>
            <a:r>
              <a:rPr sz="4000" spc="-50" dirty="0">
                <a:latin typeface="Arial"/>
                <a:cs typeface="Arial"/>
              </a:rPr>
              <a:t>High</a:t>
            </a:r>
            <a:r>
              <a:rPr sz="4000" spc="-105" dirty="0">
                <a:latin typeface="Arial"/>
                <a:cs typeface="Arial"/>
              </a:rPr>
              <a:t> </a:t>
            </a:r>
            <a:r>
              <a:rPr sz="4000" spc="-310" dirty="0">
                <a:latin typeface="Arial"/>
                <a:cs typeface="Arial"/>
              </a:rPr>
              <a:t>cos</a:t>
            </a:r>
            <a:r>
              <a:rPr sz="4000" spc="-180" dirty="0">
                <a:latin typeface="Arial"/>
                <a:cs typeface="Arial"/>
              </a:rPr>
              <a:t>t</a:t>
            </a:r>
            <a:r>
              <a:rPr sz="4000" spc="-75" dirty="0">
                <a:latin typeface="Arial"/>
                <a:cs typeface="Arial"/>
              </a:rPr>
              <a:t> </a:t>
            </a:r>
            <a:r>
              <a:rPr sz="4000" spc="-90" dirty="0">
                <a:latin typeface="Arial"/>
                <a:cs typeface="Arial"/>
              </a:rPr>
              <a:t>of</a:t>
            </a:r>
            <a:r>
              <a:rPr sz="4000" spc="-80" dirty="0">
                <a:latin typeface="Arial"/>
                <a:cs typeface="Arial"/>
              </a:rPr>
              <a:t> </a:t>
            </a:r>
            <a:r>
              <a:rPr sz="4000" spc="-160" dirty="0">
                <a:latin typeface="Arial"/>
                <a:cs typeface="Arial"/>
              </a:rPr>
              <a:t>ins</a:t>
            </a:r>
            <a:r>
              <a:rPr sz="4000" spc="-125" dirty="0">
                <a:latin typeface="Arial"/>
                <a:cs typeface="Arial"/>
              </a:rPr>
              <a:t>t</a:t>
            </a:r>
            <a:r>
              <a:rPr sz="4000" spc="-15" dirty="0">
                <a:latin typeface="Arial"/>
                <a:cs typeface="Arial"/>
              </a:rPr>
              <a:t>allation</a:t>
            </a:r>
            <a:endParaRPr sz="4000">
              <a:latin typeface="Arial"/>
              <a:cs typeface="Arial"/>
            </a:endParaRPr>
          </a:p>
          <a:p>
            <a:pPr marL="332740" indent="-320675">
              <a:lnSpc>
                <a:spcPct val="100000"/>
              </a:lnSpc>
              <a:spcBef>
                <a:spcPts val="695"/>
              </a:spcBef>
              <a:buClr>
                <a:srgbClr val="DA1F28"/>
              </a:buClr>
              <a:buSzPct val="60344"/>
              <a:buFont typeface="Courier New"/>
              <a:buChar char="o"/>
              <a:tabLst>
                <a:tab pos="333375" algn="l"/>
              </a:tabLst>
            </a:pPr>
            <a:r>
              <a:rPr sz="4000" spc="-170" dirty="0">
                <a:latin typeface="Arial"/>
                <a:cs typeface="Arial"/>
              </a:rPr>
              <a:t>Requires</a:t>
            </a:r>
            <a:r>
              <a:rPr sz="4000" spc="-120" dirty="0">
                <a:latin typeface="Arial"/>
                <a:cs typeface="Arial"/>
              </a:rPr>
              <a:t> </a:t>
            </a:r>
            <a:r>
              <a:rPr sz="4000" spc="-20" dirty="0">
                <a:latin typeface="Arial"/>
                <a:cs typeface="Arial"/>
              </a:rPr>
              <a:t>time</a:t>
            </a:r>
            <a:r>
              <a:rPr sz="4000" spc="-80" dirty="0">
                <a:latin typeface="Arial"/>
                <a:cs typeface="Arial"/>
              </a:rPr>
              <a:t> fo</a:t>
            </a:r>
            <a:r>
              <a:rPr sz="4000" spc="-60" dirty="0">
                <a:latin typeface="Arial"/>
                <a:cs typeface="Arial"/>
              </a:rPr>
              <a:t>r</a:t>
            </a:r>
            <a:r>
              <a:rPr sz="4000" spc="-80" dirty="0">
                <a:latin typeface="Arial"/>
                <a:cs typeface="Arial"/>
              </a:rPr>
              <a:t> </a:t>
            </a:r>
            <a:r>
              <a:rPr sz="4000" spc="-40" dirty="0">
                <a:latin typeface="Arial"/>
                <a:cs typeface="Arial"/>
              </a:rPr>
              <a:t>administrat</a:t>
            </a:r>
            <a:r>
              <a:rPr sz="4000" spc="-125" dirty="0">
                <a:latin typeface="Arial"/>
                <a:cs typeface="Arial"/>
              </a:rPr>
              <a:t>ion</a:t>
            </a:r>
            <a:endParaRPr sz="4000">
              <a:latin typeface="Arial"/>
              <a:cs typeface="Arial"/>
            </a:endParaRPr>
          </a:p>
          <a:p>
            <a:pPr marL="332740" indent="-320675">
              <a:lnSpc>
                <a:spcPct val="100000"/>
              </a:lnSpc>
              <a:spcBef>
                <a:spcPts val="710"/>
              </a:spcBef>
              <a:buClr>
                <a:srgbClr val="DA1F28"/>
              </a:buClr>
              <a:buSzPct val="60344"/>
              <a:buFont typeface="Courier New"/>
              <a:buChar char="o"/>
              <a:tabLst>
                <a:tab pos="333375" algn="l"/>
              </a:tabLst>
            </a:pPr>
            <a:r>
              <a:rPr sz="4000" spc="-55" dirty="0">
                <a:latin typeface="Arial"/>
                <a:cs typeface="Arial"/>
              </a:rPr>
              <a:t>Failure</a:t>
            </a:r>
            <a:r>
              <a:rPr sz="4000" spc="-145" dirty="0">
                <a:latin typeface="Arial"/>
                <a:cs typeface="Arial"/>
              </a:rPr>
              <a:t> </a:t>
            </a:r>
            <a:r>
              <a:rPr sz="4000" spc="-90" dirty="0">
                <a:latin typeface="Arial"/>
                <a:cs typeface="Arial"/>
              </a:rPr>
              <a:t>of</a:t>
            </a:r>
            <a:r>
              <a:rPr sz="4000" spc="-95" dirty="0">
                <a:latin typeface="Arial"/>
                <a:cs typeface="Arial"/>
              </a:rPr>
              <a:t> </a:t>
            </a:r>
            <a:r>
              <a:rPr sz="4000" spc="-170" dirty="0">
                <a:latin typeface="Arial"/>
                <a:cs typeface="Arial"/>
              </a:rPr>
              <a:t>server</a:t>
            </a:r>
            <a:endParaRPr sz="4000">
              <a:latin typeface="Arial"/>
              <a:cs typeface="Arial"/>
            </a:endParaRPr>
          </a:p>
          <a:p>
            <a:pPr marL="332740" indent="-320675">
              <a:lnSpc>
                <a:spcPct val="100000"/>
              </a:lnSpc>
              <a:spcBef>
                <a:spcPts val="700"/>
              </a:spcBef>
              <a:buClr>
                <a:srgbClr val="DA1F28"/>
              </a:buClr>
              <a:buSzPct val="60344"/>
              <a:buFont typeface="Courier New"/>
              <a:buChar char="o"/>
              <a:tabLst>
                <a:tab pos="333375" algn="l"/>
              </a:tabLst>
            </a:pPr>
            <a:r>
              <a:rPr sz="4000" spc="-90" dirty="0">
                <a:latin typeface="Arial"/>
                <a:cs typeface="Arial"/>
              </a:rPr>
              <a:t>Cab</a:t>
            </a:r>
            <a:r>
              <a:rPr sz="4000" spc="-35" dirty="0">
                <a:latin typeface="Arial"/>
                <a:cs typeface="Arial"/>
              </a:rPr>
              <a:t>l</a:t>
            </a:r>
            <a:r>
              <a:rPr sz="4000" spc="-160" dirty="0">
                <a:latin typeface="Arial"/>
                <a:cs typeface="Arial"/>
              </a:rPr>
              <a:t>e</a:t>
            </a:r>
            <a:r>
              <a:rPr sz="4000" spc="-114" dirty="0">
                <a:latin typeface="Arial"/>
                <a:cs typeface="Arial"/>
              </a:rPr>
              <a:t> </a:t>
            </a:r>
            <a:r>
              <a:rPr sz="4000" spc="15" dirty="0">
                <a:latin typeface="Arial"/>
                <a:cs typeface="Arial"/>
              </a:rPr>
              <a:t>fa</a:t>
            </a:r>
            <a:r>
              <a:rPr sz="4000" spc="20" dirty="0">
                <a:latin typeface="Arial"/>
                <a:cs typeface="Arial"/>
              </a:rPr>
              <a:t>u</a:t>
            </a:r>
            <a:r>
              <a:rPr sz="4000" spc="-165" dirty="0">
                <a:latin typeface="Arial"/>
                <a:cs typeface="Arial"/>
              </a:rPr>
              <a:t>lts</a:t>
            </a:r>
            <a:endParaRPr sz="4000">
              <a:latin typeface="Arial"/>
              <a:cs typeface="Arial"/>
            </a:endParaRP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424419"/>
            <a:ext cx="9144000" cy="566181"/>
          </a:xfrm>
          <a:prstGeom prst="rect">
            <a:avLst/>
          </a:prstGeom>
        </p:spPr>
        <p:txBody>
          <a:bodyPr vert="horz" wrap="square" lIns="0" tIns="12065" rIns="0" bIns="0" rtlCol="0">
            <a:spAutoFit/>
          </a:bodyPr>
          <a:lstStyle/>
          <a:p>
            <a:pPr marL="12700" marR="5080">
              <a:lnSpc>
                <a:spcPct val="100000"/>
              </a:lnSpc>
              <a:spcBef>
                <a:spcPts val="95"/>
              </a:spcBef>
            </a:pPr>
            <a:r>
              <a:rPr sz="3600" spc="-265"/>
              <a:t>CLASSIFICATIO</a:t>
            </a:r>
            <a:r>
              <a:rPr sz="3600" spc="-315"/>
              <a:t>N</a:t>
            </a:r>
            <a:r>
              <a:rPr sz="3600" spc="-95"/>
              <a:t> </a:t>
            </a:r>
            <a:r>
              <a:rPr lang="en-US" sz="3600" spc="-155" dirty="0"/>
              <a:t>COMPUTER NETWORK</a:t>
            </a:r>
            <a:endParaRPr sz="3600"/>
          </a:p>
        </p:txBody>
      </p:sp>
      <p:grpSp>
        <p:nvGrpSpPr>
          <p:cNvPr id="3" name="object 3"/>
          <p:cNvGrpSpPr/>
          <p:nvPr/>
        </p:nvGrpSpPr>
        <p:grpSpPr>
          <a:xfrm>
            <a:off x="562355" y="2336292"/>
            <a:ext cx="8229600" cy="2795016"/>
            <a:chOff x="562355" y="2336292"/>
            <a:chExt cx="8229600" cy="2795016"/>
          </a:xfrm>
        </p:grpSpPr>
        <p:sp>
          <p:nvSpPr>
            <p:cNvPr id="4" name="object 4"/>
            <p:cNvSpPr/>
            <p:nvPr/>
          </p:nvSpPr>
          <p:spPr>
            <a:xfrm>
              <a:off x="1397888" y="3373755"/>
              <a:ext cx="6603365" cy="652145"/>
            </a:xfrm>
            <a:custGeom>
              <a:avLst/>
              <a:gdLst/>
              <a:ahLst/>
              <a:cxnLst/>
              <a:rect l="l" t="t" r="r" b="b"/>
              <a:pathLst>
                <a:path w="6603365" h="652145">
                  <a:moveTo>
                    <a:pt x="3311652" y="0"/>
                  </a:moveTo>
                  <a:lnTo>
                    <a:pt x="3311652" y="555752"/>
                  </a:lnTo>
                  <a:lnTo>
                    <a:pt x="6603238" y="555752"/>
                  </a:lnTo>
                  <a:lnTo>
                    <a:pt x="6603238" y="632714"/>
                  </a:lnTo>
                </a:path>
                <a:path w="6603365" h="652145">
                  <a:moveTo>
                    <a:pt x="3311652" y="0"/>
                  </a:moveTo>
                  <a:lnTo>
                    <a:pt x="3311652" y="555752"/>
                  </a:lnTo>
                  <a:lnTo>
                    <a:pt x="4958969" y="555752"/>
                  </a:lnTo>
                  <a:lnTo>
                    <a:pt x="4958969" y="632714"/>
                  </a:lnTo>
                </a:path>
                <a:path w="6603365" h="652145">
                  <a:moveTo>
                    <a:pt x="3311652" y="0"/>
                  </a:moveTo>
                  <a:lnTo>
                    <a:pt x="3311652" y="574929"/>
                  </a:lnTo>
                  <a:lnTo>
                    <a:pt x="3340608" y="574929"/>
                  </a:lnTo>
                  <a:lnTo>
                    <a:pt x="3340608" y="651891"/>
                  </a:lnTo>
                </a:path>
                <a:path w="6603365" h="652145">
                  <a:moveTo>
                    <a:pt x="3311652" y="0"/>
                  </a:moveTo>
                  <a:lnTo>
                    <a:pt x="3311652" y="574929"/>
                  </a:lnTo>
                  <a:lnTo>
                    <a:pt x="1696339" y="574929"/>
                  </a:lnTo>
                  <a:lnTo>
                    <a:pt x="1696339" y="651891"/>
                  </a:lnTo>
                </a:path>
                <a:path w="6603365" h="652145">
                  <a:moveTo>
                    <a:pt x="3311652" y="0"/>
                  </a:moveTo>
                  <a:lnTo>
                    <a:pt x="3311652" y="574929"/>
                  </a:lnTo>
                  <a:lnTo>
                    <a:pt x="0" y="574929"/>
                  </a:lnTo>
                  <a:lnTo>
                    <a:pt x="0" y="651891"/>
                  </a:lnTo>
                </a:path>
              </a:pathLst>
            </a:custGeom>
            <a:ln w="19050">
              <a:solidFill>
                <a:srgbClr val="363636"/>
              </a:solidFill>
            </a:ln>
          </p:spPr>
          <p:txBody>
            <a:bodyPr wrap="square" lIns="0" tIns="0" rIns="0" bIns="0" rtlCol="0"/>
            <a:lstStyle/>
            <a:p>
              <a:endParaRPr/>
            </a:p>
          </p:txBody>
        </p:sp>
        <p:pic>
          <p:nvPicPr>
            <p:cNvPr id="5" name="object 5"/>
            <p:cNvPicPr/>
            <p:nvPr/>
          </p:nvPicPr>
          <p:blipFill>
            <a:blip r:embed="rId2" cstate="print"/>
            <a:stretch>
              <a:fillRect/>
            </a:stretch>
          </p:blipFill>
          <p:spPr>
            <a:xfrm>
              <a:off x="3447288" y="2336292"/>
              <a:ext cx="2519172" cy="1106424"/>
            </a:xfrm>
            <a:prstGeom prst="rect">
              <a:avLst/>
            </a:prstGeom>
          </p:spPr>
        </p:pic>
        <p:pic>
          <p:nvPicPr>
            <p:cNvPr id="6" name="object 6"/>
            <p:cNvPicPr/>
            <p:nvPr/>
          </p:nvPicPr>
          <p:blipFill>
            <a:blip r:embed="rId3" cstate="print"/>
            <a:stretch>
              <a:fillRect/>
            </a:stretch>
          </p:blipFill>
          <p:spPr>
            <a:xfrm>
              <a:off x="562355" y="4000500"/>
              <a:ext cx="1668780" cy="1074420"/>
            </a:xfrm>
            <a:prstGeom prst="rect">
              <a:avLst/>
            </a:prstGeom>
          </p:spPr>
        </p:pic>
        <p:pic>
          <p:nvPicPr>
            <p:cNvPr id="7" name="object 7"/>
            <p:cNvPicPr/>
            <p:nvPr/>
          </p:nvPicPr>
          <p:blipFill>
            <a:blip r:embed="rId4" cstate="print"/>
            <a:stretch>
              <a:fillRect/>
            </a:stretch>
          </p:blipFill>
          <p:spPr>
            <a:xfrm>
              <a:off x="2295144" y="4000500"/>
              <a:ext cx="1586483" cy="1092708"/>
            </a:xfrm>
            <a:prstGeom prst="rect">
              <a:avLst/>
            </a:prstGeom>
          </p:spPr>
        </p:pic>
        <p:pic>
          <p:nvPicPr>
            <p:cNvPr id="8" name="object 8"/>
            <p:cNvPicPr/>
            <p:nvPr/>
          </p:nvPicPr>
          <p:blipFill>
            <a:blip r:embed="rId5" cstate="print"/>
            <a:stretch>
              <a:fillRect/>
            </a:stretch>
          </p:blipFill>
          <p:spPr>
            <a:xfrm>
              <a:off x="3886200" y="4038600"/>
              <a:ext cx="1591056" cy="1092708"/>
            </a:xfrm>
            <a:prstGeom prst="rect">
              <a:avLst/>
            </a:prstGeom>
          </p:spPr>
        </p:pic>
        <p:pic>
          <p:nvPicPr>
            <p:cNvPr id="9" name="object 9"/>
            <p:cNvPicPr/>
            <p:nvPr/>
          </p:nvPicPr>
          <p:blipFill>
            <a:blip r:embed="rId6" cstate="print"/>
            <a:stretch>
              <a:fillRect/>
            </a:stretch>
          </p:blipFill>
          <p:spPr>
            <a:xfrm>
              <a:off x="5500117" y="4012692"/>
              <a:ext cx="1586483" cy="1092708"/>
            </a:xfrm>
            <a:prstGeom prst="rect">
              <a:avLst/>
            </a:prstGeom>
          </p:spPr>
        </p:pic>
        <p:pic>
          <p:nvPicPr>
            <p:cNvPr id="10" name="object 10"/>
            <p:cNvPicPr/>
            <p:nvPr/>
          </p:nvPicPr>
          <p:blipFill>
            <a:blip r:embed="rId7" cstate="print"/>
            <a:stretch>
              <a:fillRect/>
            </a:stretch>
          </p:blipFill>
          <p:spPr>
            <a:xfrm>
              <a:off x="7205472" y="3982212"/>
              <a:ext cx="1586483" cy="1092708"/>
            </a:xfrm>
            <a:prstGeom prst="rect">
              <a:avLst/>
            </a:prstGeom>
          </p:spPr>
        </p:pic>
      </p:grpSp>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397205"/>
            <a:ext cx="8053070" cy="635000"/>
          </a:xfrm>
          <a:prstGeom prst="rect">
            <a:avLst/>
          </a:prstGeom>
        </p:spPr>
        <p:txBody>
          <a:bodyPr vert="horz" wrap="square" lIns="0" tIns="12065" rIns="0" bIns="0" rtlCol="0">
            <a:spAutoFit/>
          </a:bodyPr>
          <a:lstStyle/>
          <a:p>
            <a:pPr marL="12700">
              <a:lnSpc>
                <a:spcPct val="100000"/>
              </a:lnSpc>
              <a:spcBef>
                <a:spcPts val="95"/>
              </a:spcBef>
            </a:pPr>
            <a:r>
              <a:rPr sz="4000" spc="-280" dirty="0"/>
              <a:t>PERSONAL</a:t>
            </a:r>
            <a:r>
              <a:rPr sz="4000" spc="-114" dirty="0"/>
              <a:t> </a:t>
            </a:r>
            <a:r>
              <a:rPr sz="4000" spc="-245" dirty="0"/>
              <a:t>AREA</a:t>
            </a:r>
            <a:r>
              <a:rPr sz="4000" spc="-95" dirty="0"/>
              <a:t> </a:t>
            </a:r>
            <a:r>
              <a:rPr sz="4000" spc="-85" dirty="0"/>
              <a:t>NETWORK(PAN)</a:t>
            </a:r>
            <a:endParaRPr sz="4000"/>
          </a:p>
        </p:txBody>
      </p:sp>
      <p:sp>
        <p:nvSpPr>
          <p:cNvPr id="3" name="object 3"/>
          <p:cNvSpPr txBox="1"/>
          <p:nvPr/>
        </p:nvSpPr>
        <p:spPr>
          <a:xfrm>
            <a:off x="0" y="1627454"/>
            <a:ext cx="9144000" cy="4898777"/>
          </a:xfrm>
          <a:prstGeom prst="rect">
            <a:avLst/>
          </a:prstGeom>
        </p:spPr>
        <p:txBody>
          <a:bodyPr vert="horz" wrap="square" lIns="0" tIns="12700" rIns="0" bIns="0" rtlCol="0">
            <a:spAutoFit/>
          </a:bodyPr>
          <a:lstStyle/>
          <a:p>
            <a:pPr marL="332740" marR="102870" indent="-320675">
              <a:lnSpc>
                <a:spcPct val="100000"/>
              </a:lnSpc>
              <a:spcBef>
                <a:spcPts val="100"/>
              </a:spcBef>
              <a:buClr>
                <a:srgbClr val="DA1F28"/>
              </a:buClr>
              <a:buSzPct val="59259"/>
              <a:buFont typeface="Wingdings"/>
              <a:buChar char=""/>
              <a:tabLst>
                <a:tab pos="332740" algn="l"/>
                <a:tab pos="333375" algn="l"/>
              </a:tabLst>
            </a:pPr>
            <a:r>
              <a:rPr sz="3000" spc="-75" dirty="0">
                <a:latin typeface="Arial"/>
                <a:cs typeface="Arial"/>
              </a:rPr>
              <a:t>A </a:t>
            </a:r>
            <a:r>
              <a:rPr sz="3000" spc="-135" dirty="0">
                <a:latin typeface="Arial"/>
                <a:cs typeface="Arial"/>
              </a:rPr>
              <a:t>personal </a:t>
            </a:r>
            <a:r>
              <a:rPr sz="3000" spc="-5" dirty="0">
                <a:latin typeface="Arial"/>
                <a:cs typeface="Arial"/>
              </a:rPr>
              <a:t>area </a:t>
            </a:r>
            <a:r>
              <a:rPr sz="3000" spc="-50" dirty="0">
                <a:latin typeface="Arial"/>
                <a:cs typeface="Arial"/>
              </a:rPr>
              <a:t>network </a:t>
            </a:r>
            <a:r>
              <a:rPr sz="3000" spc="-275" dirty="0">
                <a:latin typeface="Arial"/>
                <a:cs typeface="Arial"/>
              </a:rPr>
              <a:t>is </a:t>
            </a:r>
            <a:r>
              <a:rPr sz="3000" spc="85" dirty="0">
                <a:latin typeface="Arial"/>
                <a:cs typeface="Arial"/>
              </a:rPr>
              <a:t>a </a:t>
            </a:r>
            <a:r>
              <a:rPr sz="3000" spc="-100" dirty="0">
                <a:latin typeface="Arial"/>
                <a:cs typeface="Arial"/>
              </a:rPr>
              <a:t>computer </a:t>
            </a:r>
            <a:r>
              <a:rPr sz="3000" spc="-50" dirty="0">
                <a:latin typeface="Arial"/>
                <a:cs typeface="Arial"/>
              </a:rPr>
              <a:t>network </a:t>
            </a:r>
            <a:r>
              <a:rPr sz="3000" spc="-740" dirty="0">
                <a:latin typeface="Arial"/>
                <a:cs typeface="Arial"/>
              </a:rPr>
              <a:t> </a:t>
            </a:r>
            <a:r>
              <a:rPr sz="3000" spc="-80" dirty="0">
                <a:latin typeface="Arial"/>
                <a:cs typeface="Arial"/>
              </a:rPr>
              <a:t>organized</a:t>
            </a:r>
            <a:r>
              <a:rPr sz="3000" spc="-125" dirty="0">
                <a:latin typeface="Arial"/>
                <a:cs typeface="Arial"/>
              </a:rPr>
              <a:t> </a:t>
            </a:r>
            <a:r>
              <a:rPr sz="3000" spc="-70" dirty="0">
                <a:latin typeface="Arial"/>
                <a:cs typeface="Arial"/>
              </a:rPr>
              <a:t>around</a:t>
            </a:r>
            <a:r>
              <a:rPr sz="3000" spc="-90" dirty="0">
                <a:latin typeface="Arial"/>
                <a:cs typeface="Arial"/>
              </a:rPr>
              <a:t> </a:t>
            </a:r>
            <a:r>
              <a:rPr sz="3000" spc="-20" dirty="0">
                <a:latin typeface="Arial"/>
                <a:cs typeface="Arial"/>
              </a:rPr>
              <a:t>an</a:t>
            </a:r>
            <a:r>
              <a:rPr sz="3000" spc="-90" dirty="0">
                <a:latin typeface="Arial"/>
                <a:cs typeface="Arial"/>
              </a:rPr>
              <a:t> </a:t>
            </a:r>
            <a:r>
              <a:rPr sz="3000" spc="-35" dirty="0">
                <a:solidFill>
                  <a:srgbClr val="FF0000"/>
                </a:solidFill>
                <a:latin typeface="Arial"/>
                <a:cs typeface="Arial"/>
              </a:rPr>
              <a:t>individual</a:t>
            </a:r>
            <a:r>
              <a:rPr sz="3000" spc="-125" dirty="0">
                <a:solidFill>
                  <a:srgbClr val="FF0000"/>
                </a:solidFill>
                <a:latin typeface="Arial"/>
                <a:cs typeface="Arial"/>
              </a:rPr>
              <a:t> </a:t>
            </a:r>
            <a:r>
              <a:rPr sz="3000" spc="-160" dirty="0">
                <a:solidFill>
                  <a:srgbClr val="FF0000"/>
                </a:solidFill>
                <a:latin typeface="Arial"/>
                <a:cs typeface="Arial"/>
              </a:rPr>
              <a:t>person</a:t>
            </a:r>
            <a:r>
              <a:rPr sz="3000" spc="-160" dirty="0">
                <a:latin typeface="Arial"/>
                <a:cs typeface="Arial"/>
              </a:rPr>
              <a:t>.</a:t>
            </a:r>
            <a:endParaRPr sz="3000">
              <a:latin typeface="Arial"/>
              <a:cs typeface="Arial"/>
            </a:endParaRPr>
          </a:p>
          <a:p>
            <a:pPr marL="332740" marR="5080" indent="-320675">
              <a:lnSpc>
                <a:spcPct val="100000"/>
              </a:lnSpc>
              <a:spcBef>
                <a:spcPts val="695"/>
              </a:spcBef>
              <a:buClr>
                <a:srgbClr val="DA1F28"/>
              </a:buClr>
              <a:buSzPct val="59259"/>
              <a:buFont typeface="Wingdings"/>
              <a:buChar char=""/>
              <a:tabLst>
                <a:tab pos="332740" algn="l"/>
                <a:tab pos="333375" algn="l"/>
              </a:tabLst>
            </a:pPr>
            <a:r>
              <a:rPr sz="3000" spc="85" dirty="0">
                <a:latin typeface="Arial"/>
                <a:cs typeface="Arial"/>
              </a:rPr>
              <a:t>It</a:t>
            </a:r>
            <a:r>
              <a:rPr sz="3000" spc="-95" dirty="0">
                <a:latin typeface="Arial"/>
                <a:cs typeface="Arial"/>
              </a:rPr>
              <a:t> </a:t>
            </a:r>
            <a:r>
              <a:rPr sz="3000" spc="-120" dirty="0">
                <a:latin typeface="Arial"/>
                <a:cs typeface="Arial"/>
              </a:rPr>
              <a:t>gene</a:t>
            </a:r>
            <a:r>
              <a:rPr sz="3000" spc="-75" dirty="0">
                <a:latin typeface="Arial"/>
                <a:cs typeface="Arial"/>
              </a:rPr>
              <a:t>r</a:t>
            </a:r>
            <a:r>
              <a:rPr sz="3000" spc="-10" dirty="0">
                <a:latin typeface="Arial"/>
                <a:cs typeface="Arial"/>
              </a:rPr>
              <a:t>ally</a:t>
            </a:r>
            <a:r>
              <a:rPr sz="3000" spc="-100" dirty="0">
                <a:latin typeface="Arial"/>
                <a:cs typeface="Arial"/>
              </a:rPr>
              <a:t> </a:t>
            </a:r>
            <a:r>
              <a:rPr sz="3000" spc="-240" dirty="0">
                <a:latin typeface="Arial"/>
                <a:cs typeface="Arial"/>
              </a:rPr>
              <a:t>co</a:t>
            </a:r>
            <a:r>
              <a:rPr sz="3000" spc="-245" dirty="0">
                <a:latin typeface="Arial"/>
                <a:cs typeface="Arial"/>
              </a:rPr>
              <a:t>n</a:t>
            </a:r>
            <a:r>
              <a:rPr sz="3000" spc="-305" dirty="0">
                <a:latin typeface="Arial"/>
                <a:cs typeface="Arial"/>
              </a:rPr>
              <a:t>sists</a:t>
            </a:r>
            <a:r>
              <a:rPr sz="3000" spc="-75" dirty="0">
                <a:latin typeface="Arial"/>
                <a:cs typeface="Arial"/>
              </a:rPr>
              <a:t> </a:t>
            </a:r>
            <a:r>
              <a:rPr sz="3000" spc="-85" dirty="0">
                <a:latin typeface="Arial"/>
                <a:cs typeface="Arial"/>
              </a:rPr>
              <a:t>of</a:t>
            </a:r>
            <a:r>
              <a:rPr sz="3000" spc="-90" dirty="0">
                <a:latin typeface="Arial"/>
                <a:cs typeface="Arial"/>
              </a:rPr>
              <a:t> </a:t>
            </a:r>
            <a:r>
              <a:rPr sz="3000" spc="85" dirty="0">
                <a:latin typeface="Arial"/>
                <a:cs typeface="Arial"/>
              </a:rPr>
              <a:t>a</a:t>
            </a:r>
            <a:r>
              <a:rPr sz="3000" spc="-90" dirty="0">
                <a:latin typeface="Arial"/>
                <a:cs typeface="Arial"/>
              </a:rPr>
              <a:t> </a:t>
            </a:r>
            <a:r>
              <a:rPr sz="3000" spc="-125" dirty="0">
                <a:latin typeface="Arial"/>
                <a:cs typeface="Arial"/>
              </a:rPr>
              <a:t>mo</a:t>
            </a:r>
            <a:r>
              <a:rPr sz="3000" spc="-105" dirty="0">
                <a:latin typeface="Arial"/>
                <a:cs typeface="Arial"/>
              </a:rPr>
              <a:t>b</a:t>
            </a:r>
            <a:r>
              <a:rPr sz="3000" spc="-65" dirty="0">
                <a:latin typeface="Arial"/>
                <a:cs typeface="Arial"/>
              </a:rPr>
              <a:t>ile </a:t>
            </a:r>
            <a:r>
              <a:rPr sz="3000" spc="-100" dirty="0">
                <a:latin typeface="Arial"/>
                <a:cs typeface="Arial"/>
              </a:rPr>
              <a:t>computer</a:t>
            </a:r>
            <a:r>
              <a:rPr sz="3000" spc="-50" dirty="0">
                <a:latin typeface="Arial"/>
                <a:cs typeface="Arial"/>
              </a:rPr>
              <a:t>,</a:t>
            </a:r>
            <a:r>
              <a:rPr sz="3000" spc="-80" dirty="0">
                <a:latin typeface="Arial"/>
                <a:cs typeface="Arial"/>
              </a:rPr>
              <a:t> </a:t>
            </a:r>
            <a:r>
              <a:rPr sz="3000" spc="85" dirty="0">
                <a:latin typeface="Arial"/>
                <a:cs typeface="Arial"/>
              </a:rPr>
              <a:t>a</a:t>
            </a:r>
            <a:r>
              <a:rPr sz="3000" spc="-75" dirty="0">
                <a:latin typeface="Arial"/>
                <a:cs typeface="Arial"/>
              </a:rPr>
              <a:t> </a:t>
            </a:r>
            <a:r>
              <a:rPr sz="3000" spc="-265" dirty="0">
                <a:latin typeface="Arial"/>
                <a:cs typeface="Arial"/>
              </a:rPr>
              <a:t>c</a:t>
            </a:r>
            <a:r>
              <a:rPr sz="3000" spc="-260" dirty="0">
                <a:latin typeface="Arial"/>
                <a:cs typeface="Arial"/>
              </a:rPr>
              <a:t>e</a:t>
            </a:r>
            <a:r>
              <a:rPr sz="3000" spc="-35" dirty="0">
                <a:latin typeface="Arial"/>
                <a:cs typeface="Arial"/>
              </a:rPr>
              <a:t>ll  </a:t>
            </a:r>
            <a:r>
              <a:rPr sz="3000" spc="-130" dirty="0">
                <a:latin typeface="Arial"/>
                <a:cs typeface="Arial"/>
              </a:rPr>
              <a:t>phone</a:t>
            </a:r>
            <a:r>
              <a:rPr sz="3000" spc="-114" dirty="0">
                <a:latin typeface="Arial"/>
                <a:cs typeface="Arial"/>
              </a:rPr>
              <a:t> </a:t>
            </a:r>
            <a:r>
              <a:rPr sz="3000" spc="-125" dirty="0">
                <a:latin typeface="Arial"/>
                <a:cs typeface="Arial"/>
              </a:rPr>
              <a:t>or</a:t>
            </a:r>
            <a:r>
              <a:rPr sz="3000" spc="-90" dirty="0">
                <a:latin typeface="Arial"/>
                <a:cs typeface="Arial"/>
              </a:rPr>
              <a:t> </a:t>
            </a:r>
            <a:r>
              <a:rPr sz="3000" spc="-135" dirty="0">
                <a:latin typeface="Arial"/>
                <a:cs typeface="Arial"/>
              </a:rPr>
              <a:t>personal</a:t>
            </a:r>
            <a:r>
              <a:rPr sz="3000" spc="-80" dirty="0">
                <a:latin typeface="Arial"/>
                <a:cs typeface="Arial"/>
              </a:rPr>
              <a:t> </a:t>
            </a:r>
            <a:r>
              <a:rPr sz="3000" spc="-5" dirty="0">
                <a:latin typeface="Arial"/>
                <a:cs typeface="Arial"/>
              </a:rPr>
              <a:t>digital</a:t>
            </a:r>
            <a:r>
              <a:rPr sz="3000" spc="-85" dirty="0">
                <a:latin typeface="Arial"/>
                <a:cs typeface="Arial"/>
              </a:rPr>
              <a:t> </a:t>
            </a:r>
            <a:r>
              <a:rPr sz="3000" spc="-135" dirty="0">
                <a:latin typeface="Arial"/>
                <a:cs typeface="Arial"/>
              </a:rPr>
              <a:t>assistant.</a:t>
            </a:r>
            <a:r>
              <a:rPr sz="3000" spc="-80" dirty="0">
                <a:latin typeface="Arial"/>
                <a:cs typeface="Arial"/>
              </a:rPr>
              <a:t> </a:t>
            </a:r>
            <a:r>
              <a:rPr sz="3000" spc="-20" dirty="0">
                <a:latin typeface="Arial"/>
                <a:cs typeface="Arial"/>
              </a:rPr>
              <a:t>PAN</a:t>
            </a:r>
            <a:r>
              <a:rPr sz="3000" spc="-70" dirty="0">
                <a:latin typeface="Arial"/>
                <a:cs typeface="Arial"/>
              </a:rPr>
              <a:t> </a:t>
            </a:r>
            <a:r>
              <a:rPr sz="3000" spc="-140" dirty="0">
                <a:latin typeface="Arial"/>
                <a:cs typeface="Arial"/>
              </a:rPr>
              <a:t>enables </a:t>
            </a:r>
            <a:r>
              <a:rPr sz="3000" spc="-735" dirty="0">
                <a:latin typeface="Arial"/>
                <a:cs typeface="Arial"/>
              </a:rPr>
              <a:t> </a:t>
            </a:r>
            <a:r>
              <a:rPr sz="3000" spc="-50" dirty="0">
                <a:latin typeface="Arial"/>
                <a:cs typeface="Arial"/>
              </a:rPr>
              <a:t>the</a:t>
            </a:r>
            <a:r>
              <a:rPr sz="3000" spc="-95" dirty="0">
                <a:latin typeface="Arial"/>
                <a:cs typeface="Arial"/>
              </a:rPr>
              <a:t> </a:t>
            </a:r>
            <a:r>
              <a:rPr sz="3000" spc="-165" dirty="0">
                <a:latin typeface="Arial"/>
                <a:cs typeface="Arial"/>
              </a:rPr>
              <a:t>communi</a:t>
            </a:r>
            <a:r>
              <a:rPr sz="3000" spc="-140" dirty="0">
                <a:latin typeface="Arial"/>
                <a:cs typeface="Arial"/>
              </a:rPr>
              <a:t>c</a:t>
            </a:r>
            <a:r>
              <a:rPr sz="3000" spc="-30" dirty="0">
                <a:latin typeface="Arial"/>
                <a:cs typeface="Arial"/>
              </a:rPr>
              <a:t>ation</a:t>
            </a:r>
            <a:r>
              <a:rPr sz="3000" spc="-90" dirty="0">
                <a:latin typeface="Arial"/>
                <a:cs typeface="Arial"/>
              </a:rPr>
              <a:t> </a:t>
            </a:r>
            <a:r>
              <a:rPr sz="3000" spc="-85" dirty="0">
                <a:latin typeface="Arial"/>
                <a:cs typeface="Arial"/>
              </a:rPr>
              <a:t>among</a:t>
            </a:r>
            <a:r>
              <a:rPr sz="3000" spc="-75" dirty="0">
                <a:latin typeface="Arial"/>
                <a:cs typeface="Arial"/>
              </a:rPr>
              <a:t> </a:t>
            </a:r>
            <a:r>
              <a:rPr sz="3000" spc="-50" dirty="0">
                <a:latin typeface="Arial"/>
                <a:cs typeface="Arial"/>
              </a:rPr>
              <a:t>the</a:t>
            </a:r>
            <a:r>
              <a:rPr sz="3000" spc="-345" dirty="0">
                <a:latin typeface="Arial"/>
                <a:cs typeface="Arial"/>
              </a:rPr>
              <a:t>se</a:t>
            </a:r>
            <a:r>
              <a:rPr sz="3000" spc="-90" dirty="0">
                <a:latin typeface="Arial"/>
                <a:cs typeface="Arial"/>
              </a:rPr>
              <a:t> de</a:t>
            </a:r>
            <a:r>
              <a:rPr sz="3000" spc="-80" dirty="0">
                <a:latin typeface="Arial"/>
                <a:cs typeface="Arial"/>
              </a:rPr>
              <a:t>v</a:t>
            </a:r>
            <a:r>
              <a:rPr sz="3000" spc="-165" dirty="0">
                <a:latin typeface="Arial"/>
                <a:cs typeface="Arial"/>
              </a:rPr>
              <a:t>ic</a:t>
            </a:r>
            <a:r>
              <a:rPr sz="3000" spc="-210" dirty="0">
                <a:latin typeface="Arial"/>
                <a:cs typeface="Arial"/>
              </a:rPr>
              <a:t>e</a:t>
            </a:r>
            <a:r>
              <a:rPr sz="3000" spc="-270" dirty="0">
                <a:latin typeface="Arial"/>
                <a:cs typeface="Arial"/>
              </a:rPr>
              <a:t>s.</a:t>
            </a:r>
            <a:endParaRPr sz="3000">
              <a:latin typeface="Arial"/>
              <a:cs typeface="Arial"/>
            </a:endParaRPr>
          </a:p>
          <a:p>
            <a:pPr marL="332740" marR="229235" indent="-320675">
              <a:lnSpc>
                <a:spcPct val="100000"/>
              </a:lnSpc>
              <a:spcBef>
                <a:spcPts val="700"/>
              </a:spcBef>
              <a:buClr>
                <a:srgbClr val="DA1F28"/>
              </a:buClr>
              <a:buSzPct val="59259"/>
              <a:buFont typeface="Wingdings"/>
              <a:buChar char=""/>
              <a:tabLst>
                <a:tab pos="332740" algn="l"/>
                <a:tab pos="333375" algn="l"/>
              </a:tabLst>
            </a:pPr>
            <a:r>
              <a:rPr sz="3000" spc="85" dirty="0">
                <a:latin typeface="Arial"/>
                <a:cs typeface="Arial"/>
              </a:rPr>
              <a:t>It</a:t>
            </a:r>
            <a:r>
              <a:rPr sz="3000" spc="-95" dirty="0">
                <a:latin typeface="Arial"/>
                <a:cs typeface="Arial"/>
              </a:rPr>
              <a:t> </a:t>
            </a:r>
            <a:r>
              <a:rPr sz="3000" spc="-145" dirty="0">
                <a:latin typeface="Arial"/>
                <a:cs typeface="Arial"/>
              </a:rPr>
              <a:t>can</a:t>
            </a:r>
            <a:r>
              <a:rPr sz="3000" spc="-80" dirty="0">
                <a:latin typeface="Arial"/>
                <a:cs typeface="Arial"/>
              </a:rPr>
              <a:t> </a:t>
            </a:r>
            <a:r>
              <a:rPr sz="3000" spc="-180" dirty="0">
                <a:latin typeface="Arial"/>
                <a:cs typeface="Arial"/>
              </a:rPr>
              <a:t>also</a:t>
            </a:r>
            <a:r>
              <a:rPr sz="3000" spc="-75" dirty="0">
                <a:latin typeface="Arial"/>
                <a:cs typeface="Arial"/>
              </a:rPr>
              <a:t> </a:t>
            </a:r>
            <a:r>
              <a:rPr sz="3000" spc="-105" dirty="0">
                <a:latin typeface="Arial"/>
                <a:cs typeface="Arial"/>
              </a:rPr>
              <a:t>be</a:t>
            </a:r>
            <a:r>
              <a:rPr sz="3000" spc="-75" dirty="0">
                <a:latin typeface="Arial"/>
                <a:cs typeface="Arial"/>
              </a:rPr>
              <a:t> </a:t>
            </a:r>
            <a:r>
              <a:rPr sz="3000" spc="-210" dirty="0">
                <a:latin typeface="Arial"/>
                <a:cs typeface="Arial"/>
              </a:rPr>
              <a:t>used</a:t>
            </a:r>
            <a:r>
              <a:rPr sz="3000" spc="-85" dirty="0">
                <a:latin typeface="Arial"/>
                <a:cs typeface="Arial"/>
              </a:rPr>
              <a:t> </a:t>
            </a:r>
            <a:r>
              <a:rPr sz="3000" spc="-70" dirty="0">
                <a:latin typeface="Arial"/>
                <a:cs typeface="Arial"/>
              </a:rPr>
              <a:t>for</a:t>
            </a:r>
            <a:r>
              <a:rPr sz="3000" spc="-80" dirty="0">
                <a:latin typeface="Arial"/>
                <a:cs typeface="Arial"/>
              </a:rPr>
              <a:t> </a:t>
            </a:r>
            <a:r>
              <a:rPr sz="3000" spc="-114" dirty="0">
                <a:latin typeface="Arial"/>
                <a:cs typeface="Arial"/>
              </a:rPr>
              <a:t>communication</a:t>
            </a:r>
            <a:r>
              <a:rPr sz="3000" spc="-90" dirty="0">
                <a:latin typeface="Arial"/>
                <a:cs typeface="Arial"/>
              </a:rPr>
              <a:t> </a:t>
            </a:r>
            <a:r>
              <a:rPr sz="3000" spc="-85" dirty="0">
                <a:latin typeface="Arial"/>
                <a:cs typeface="Arial"/>
              </a:rPr>
              <a:t>among </a:t>
            </a:r>
            <a:r>
              <a:rPr sz="3000" spc="-80" dirty="0">
                <a:latin typeface="Arial"/>
                <a:cs typeface="Arial"/>
              </a:rPr>
              <a:t> </a:t>
            </a:r>
            <a:r>
              <a:rPr sz="3000" spc="-140" dirty="0">
                <a:latin typeface="Arial"/>
                <a:cs typeface="Arial"/>
              </a:rPr>
              <a:t>persona</a:t>
            </a:r>
            <a:r>
              <a:rPr sz="3000" spc="-70" dirty="0">
                <a:latin typeface="Arial"/>
                <a:cs typeface="Arial"/>
              </a:rPr>
              <a:t>l</a:t>
            </a:r>
            <a:r>
              <a:rPr sz="3000" spc="-110" dirty="0">
                <a:latin typeface="Arial"/>
                <a:cs typeface="Arial"/>
              </a:rPr>
              <a:t> </a:t>
            </a:r>
            <a:r>
              <a:rPr sz="3000" spc="-130" dirty="0">
                <a:latin typeface="Arial"/>
                <a:cs typeface="Arial"/>
              </a:rPr>
              <a:t>devi</a:t>
            </a:r>
            <a:r>
              <a:rPr sz="3000" spc="-135" dirty="0">
                <a:latin typeface="Arial"/>
                <a:cs typeface="Arial"/>
              </a:rPr>
              <a:t>c</a:t>
            </a:r>
            <a:r>
              <a:rPr sz="3000" spc="-345" dirty="0">
                <a:latin typeface="Arial"/>
                <a:cs typeface="Arial"/>
              </a:rPr>
              <a:t>es</a:t>
            </a:r>
            <a:r>
              <a:rPr sz="3000" spc="-105" dirty="0">
                <a:latin typeface="Arial"/>
                <a:cs typeface="Arial"/>
              </a:rPr>
              <a:t> </a:t>
            </a:r>
            <a:r>
              <a:rPr sz="3000" spc="-165" dirty="0">
                <a:latin typeface="Arial"/>
                <a:cs typeface="Arial"/>
              </a:rPr>
              <a:t>themselves</a:t>
            </a:r>
            <a:r>
              <a:rPr sz="3000" spc="-75" dirty="0">
                <a:latin typeface="Arial"/>
                <a:cs typeface="Arial"/>
              </a:rPr>
              <a:t> </a:t>
            </a:r>
            <a:r>
              <a:rPr sz="3000" spc="-65" dirty="0">
                <a:latin typeface="Arial"/>
                <a:cs typeface="Arial"/>
              </a:rPr>
              <a:t>f</a:t>
            </a:r>
            <a:r>
              <a:rPr sz="3000" spc="-125" dirty="0">
                <a:latin typeface="Arial"/>
                <a:cs typeface="Arial"/>
              </a:rPr>
              <a:t>o</a:t>
            </a:r>
            <a:r>
              <a:rPr sz="3000" spc="-25" dirty="0">
                <a:latin typeface="Arial"/>
                <a:cs typeface="Arial"/>
              </a:rPr>
              <a:t>r</a:t>
            </a:r>
            <a:r>
              <a:rPr sz="3000" spc="-75" dirty="0">
                <a:latin typeface="Arial"/>
                <a:cs typeface="Arial"/>
              </a:rPr>
              <a:t> </a:t>
            </a:r>
            <a:r>
              <a:rPr sz="3000" spc="-210" dirty="0">
                <a:latin typeface="Arial"/>
                <a:cs typeface="Arial"/>
              </a:rPr>
              <a:t>conn</a:t>
            </a:r>
            <a:r>
              <a:rPr sz="3000" spc="-110" dirty="0">
                <a:latin typeface="Arial"/>
                <a:cs typeface="Arial"/>
              </a:rPr>
              <a:t>ecting</a:t>
            </a:r>
            <a:r>
              <a:rPr sz="3000" spc="-130" dirty="0">
                <a:latin typeface="Arial"/>
                <a:cs typeface="Arial"/>
              </a:rPr>
              <a:t> </a:t>
            </a:r>
            <a:r>
              <a:rPr sz="3000" spc="-50" dirty="0">
                <a:latin typeface="Arial"/>
                <a:cs typeface="Arial"/>
              </a:rPr>
              <a:t>to</a:t>
            </a:r>
            <a:r>
              <a:rPr sz="3000" spc="-75" dirty="0">
                <a:latin typeface="Arial"/>
                <a:cs typeface="Arial"/>
              </a:rPr>
              <a:t> </a:t>
            </a:r>
            <a:r>
              <a:rPr sz="3000" spc="55" dirty="0">
                <a:latin typeface="Arial"/>
                <a:cs typeface="Arial"/>
              </a:rPr>
              <a:t>a  </a:t>
            </a:r>
            <a:r>
              <a:rPr sz="3000" spc="-5" dirty="0">
                <a:latin typeface="Arial"/>
                <a:cs typeface="Arial"/>
              </a:rPr>
              <a:t>digital</a:t>
            </a:r>
            <a:r>
              <a:rPr sz="3000" spc="-100" dirty="0">
                <a:latin typeface="Arial"/>
                <a:cs typeface="Arial"/>
              </a:rPr>
              <a:t> </a:t>
            </a:r>
            <a:r>
              <a:rPr sz="3000" spc="-85" dirty="0">
                <a:latin typeface="Arial"/>
                <a:cs typeface="Arial"/>
              </a:rPr>
              <a:t>level</a:t>
            </a:r>
            <a:r>
              <a:rPr sz="3000" spc="-80" dirty="0">
                <a:latin typeface="Arial"/>
                <a:cs typeface="Arial"/>
              </a:rPr>
              <a:t> </a:t>
            </a:r>
            <a:r>
              <a:rPr sz="3000" spc="-50" dirty="0">
                <a:latin typeface="Arial"/>
                <a:cs typeface="Arial"/>
              </a:rPr>
              <a:t>network</a:t>
            </a:r>
            <a:r>
              <a:rPr sz="3000" spc="-100" dirty="0">
                <a:latin typeface="Arial"/>
                <a:cs typeface="Arial"/>
              </a:rPr>
              <a:t> </a:t>
            </a:r>
            <a:r>
              <a:rPr sz="3000" spc="-30" dirty="0">
                <a:latin typeface="Arial"/>
                <a:cs typeface="Arial"/>
              </a:rPr>
              <a:t>and</a:t>
            </a:r>
            <a:r>
              <a:rPr sz="3000" spc="-90" dirty="0">
                <a:latin typeface="Arial"/>
                <a:cs typeface="Arial"/>
              </a:rPr>
              <a:t> </a:t>
            </a:r>
            <a:r>
              <a:rPr sz="3000" spc="-35" dirty="0">
                <a:latin typeface="Arial"/>
                <a:cs typeface="Arial"/>
              </a:rPr>
              <a:t>internet.</a:t>
            </a:r>
            <a:endParaRPr sz="3000">
              <a:latin typeface="Arial"/>
              <a:cs typeface="Arial"/>
            </a:endParaRPr>
          </a:p>
          <a:p>
            <a:pPr marL="332740" marR="446405" indent="-320675">
              <a:lnSpc>
                <a:spcPct val="100000"/>
              </a:lnSpc>
              <a:spcBef>
                <a:spcPts val="710"/>
              </a:spcBef>
              <a:buClr>
                <a:srgbClr val="DA1F28"/>
              </a:buClr>
              <a:buSzPct val="59259"/>
              <a:buFont typeface="Wingdings"/>
              <a:buChar char=""/>
              <a:tabLst>
                <a:tab pos="332740" algn="l"/>
                <a:tab pos="333375" algn="l"/>
              </a:tabLst>
            </a:pPr>
            <a:r>
              <a:rPr sz="3000" spc="-165" dirty="0">
                <a:latin typeface="Arial"/>
                <a:cs typeface="Arial"/>
              </a:rPr>
              <a:t>The</a:t>
            </a:r>
            <a:r>
              <a:rPr sz="3000" spc="-95" dirty="0">
                <a:latin typeface="Arial"/>
                <a:cs typeface="Arial"/>
              </a:rPr>
              <a:t> </a:t>
            </a:r>
            <a:r>
              <a:rPr sz="3000" spc="-150" dirty="0">
                <a:latin typeface="Arial"/>
                <a:cs typeface="Arial"/>
              </a:rPr>
              <a:t>PANs</a:t>
            </a:r>
            <a:r>
              <a:rPr sz="3000" spc="-70" dirty="0">
                <a:latin typeface="Arial"/>
                <a:cs typeface="Arial"/>
              </a:rPr>
              <a:t> </a:t>
            </a:r>
            <a:r>
              <a:rPr sz="3000" spc="-140" dirty="0">
                <a:latin typeface="Arial"/>
                <a:cs typeface="Arial"/>
              </a:rPr>
              <a:t>ca</a:t>
            </a:r>
            <a:r>
              <a:rPr sz="3000" spc="-150" dirty="0">
                <a:latin typeface="Arial"/>
                <a:cs typeface="Arial"/>
              </a:rPr>
              <a:t>n</a:t>
            </a:r>
            <a:r>
              <a:rPr sz="3000" spc="-85" dirty="0">
                <a:latin typeface="Arial"/>
                <a:cs typeface="Arial"/>
              </a:rPr>
              <a:t> </a:t>
            </a:r>
            <a:r>
              <a:rPr sz="3000" spc="-105" dirty="0">
                <a:latin typeface="Arial"/>
                <a:cs typeface="Arial"/>
              </a:rPr>
              <a:t>be</a:t>
            </a:r>
            <a:r>
              <a:rPr sz="3000" spc="-75" dirty="0">
                <a:latin typeface="Arial"/>
                <a:cs typeface="Arial"/>
              </a:rPr>
              <a:t> </a:t>
            </a:r>
            <a:r>
              <a:rPr sz="3000" spc="-165" dirty="0">
                <a:latin typeface="Arial"/>
                <a:cs typeface="Arial"/>
              </a:rPr>
              <a:t>construct</a:t>
            </a:r>
            <a:r>
              <a:rPr sz="3000" spc="-175" dirty="0">
                <a:latin typeface="Arial"/>
                <a:cs typeface="Arial"/>
              </a:rPr>
              <a:t>e</a:t>
            </a:r>
            <a:r>
              <a:rPr sz="3000" spc="-60" dirty="0">
                <a:latin typeface="Arial"/>
                <a:cs typeface="Arial"/>
              </a:rPr>
              <a:t>d</a:t>
            </a:r>
            <a:r>
              <a:rPr sz="3000" spc="-100" dirty="0">
                <a:latin typeface="Arial"/>
                <a:cs typeface="Arial"/>
              </a:rPr>
              <a:t> </a:t>
            </a:r>
            <a:r>
              <a:rPr sz="3000" spc="-175" dirty="0">
                <a:latin typeface="Arial"/>
                <a:cs typeface="Arial"/>
              </a:rPr>
              <a:t>using</a:t>
            </a:r>
            <a:r>
              <a:rPr sz="3000" spc="-80" dirty="0">
                <a:latin typeface="Arial"/>
                <a:cs typeface="Arial"/>
              </a:rPr>
              <a:t> </a:t>
            </a:r>
            <a:r>
              <a:rPr sz="3000" spc="-190" dirty="0">
                <a:solidFill>
                  <a:srgbClr val="FF0000"/>
                </a:solidFill>
                <a:latin typeface="Arial"/>
                <a:cs typeface="Arial"/>
              </a:rPr>
              <a:t>wireless</a:t>
            </a:r>
            <a:r>
              <a:rPr sz="3000" spc="-90" dirty="0">
                <a:latin typeface="Arial"/>
                <a:cs typeface="Arial"/>
              </a:rPr>
              <a:t> </a:t>
            </a:r>
            <a:r>
              <a:rPr sz="3000" spc="-95" dirty="0">
                <a:latin typeface="Arial"/>
                <a:cs typeface="Arial"/>
              </a:rPr>
              <a:t>or  </a:t>
            </a:r>
            <a:r>
              <a:rPr sz="3000" spc="-155" dirty="0">
                <a:latin typeface="Arial"/>
                <a:cs typeface="Arial"/>
              </a:rPr>
              <a:t>cables.</a:t>
            </a:r>
            <a:endParaRPr sz="3000">
              <a:latin typeface="Arial"/>
              <a:cs typeface="Arial"/>
            </a:endParaRPr>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25400">
              <a:lnSpc>
                <a:spcPct val="100000"/>
              </a:lnSpc>
              <a:spcBef>
                <a:spcPts val="105"/>
              </a:spcBef>
            </a:pPr>
            <a:r>
              <a:rPr spc="-275" dirty="0"/>
              <a:t>LO</a:t>
            </a:r>
            <a:r>
              <a:rPr spc="-280" dirty="0"/>
              <a:t>C</a:t>
            </a:r>
            <a:r>
              <a:rPr spc="-200" dirty="0"/>
              <a:t>AL</a:t>
            </a:r>
            <a:r>
              <a:rPr spc="-155" dirty="0"/>
              <a:t> </a:t>
            </a:r>
            <a:r>
              <a:rPr spc="-265" dirty="0"/>
              <a:t>AREA</a:t>
            </a:r>
            <a:r>
              <a:rPr spc="-120" dirty="0"/>
              <a:t> </a:t>
            </a:r>
            <a:r>
              <a:rPr spc="-185" dirty="0"/>
              <a:t>N</a:t>
            </a:r>
            <a:r>
              <a:rPr spc="-190" dirty="0"/>
              <a:t>E</a:t>
            </a:r>
            <a:r>
              <a:rPr spc="-165" dirty="0"/>
              <a:t>TW</a:t>
            </a:r>
            <a:r>
              <a:rPr spc="-160" dirty="0"/>
              <a:t>O</a:t>
            </a:r>
            <a:r>
              <a:rPr spc="-60" dirty="0"/>
              <a:t>RK(LAN)</a:t>
            </a:r>
          </a:p>
        </p:txBody>
      </p:sp>
      <p:sp>
        <p:nvSpPr>
          <p:cNvPr id="3" name="object 3"/>
          <p:cNvSpPr txBox="1"/>
          <p:nvPr/>
        </p:nvSpPr>
        <p:spPr>
          <a:xfrm>
            <a:off x="0" y="1545158"/>
            <a:ext cx="9143999" cy="4390689"/>
          </a:xfrm>
          <a:prstGeom prst="rect">
            <a:avLst/>
          </a:prstGeom>
        </p:spPr>
        <p:txBody>
          <a:bodyPr vert="horz" wrap="square" lIns="0" tIns="95250" rIns="0" bIns="0" rtlCol="0">
            <a:spAutoFit/>
          </a:bodyPr>
          <a:lstStyle/>
          <a:p>
            <a:pPr marL="332740" marR="492125" indent="-320675">
              <a:lnSpc>
                <a:spcPct val="80000"/>
              </a:lnSpc>
              <a:spcBef>
                <a:spcPts val="750"/>
              </a:spcBef>
              <a:buClr>
                <a:srgbClr val="DA1F28"/>
              </a:buClr>
              <a:buSzPct val="59259"/>
              <a:buFont typeface="Wingdings"/>
              <a:buChar char=""/>
              <a:tabLst>
                <a:tab pos="332740" algn="l"/>
                <a:tab pos="333375" algn="l"/>
              </a:tabLst>
            </a:pPr>
            <a:r>
              <a:rPr sz="3400" spc="-65">
                <a:latin typeface="Arial"/>
                <a:cs typeface="Arial"/>
              </a:rPr>
              <a:t>LAN</a:t>
            </a:r>
            <a:r>
              <a:rPr sz="3400" spc="-85">
                <a:latin typeface="Arial"/>
                <a:cs typeface="Arial"/>
              </a:rPr>
              <a:t> </a:t>
            </a:r>
            <a:r>
              <a:rPr sz="3400" spc="-275">
                <a:latin typeface="Arial"/>
                <a:cs typeface="Arial"/>
              </a:rPr>
              <a:t>is</a:t>
            </a:r>
            <a:r>
              <a:rPr sz="3400" spc="-75">
                <a:latin typeface="Arial"/>
                <a:cs typeface="Arial"/>
              </a:rPr>
              <a:t> </a:t>
            </a:r>
            <a:r>
              <a:rPr sz="3400" spc="85">
                <a:latin typeface="Arial"/>
                <a:cs typeface="Arial"/>
              </a:rPr>
              <a:t>a</a:t>
            </a:r>
            <a:r>
              <a:rPr sz="3400" spc="-80">
                <a:latin typeface="Arial"/>
                <a:cs typeface="Arial"/>
              </a:rPr>
              <a:t> </a:t>
            </a:r>
            <a:r>
              <a:rPr sz="3400" spc="-50">
                <a:latin typeface="Arial"/>
                <a:cs typeface="Arial"/>
              </a:rPr>
              <a:t>network</a:t>
            </a:r>
            <a:r>
              <a:rPr sz="3400" spc="-105">
                <a:latin typeface="Arial"/>
                <a:cs typeface="Arial"/>
              </a:rPr>
              <a:t> </a:t>
            </a:r>
            <a:r>
              <a:rPr sz="3400" spc="-135">
                <a:latin typeface="Arial"/>
                <a:cs typeface="Arial"/>
              </a:rPr>
              <a:t>which</a:t>
            </a:r>
            <a:r>
              <a:rPr sz="3400" spc="-100">
                <a:latin typeface="Arial"/>
                <a:cs typeface="Arial"/>
              </a:rPr>
              <a:t> </a:t>
            </a:r>
            <a:r>
              <a:rPr sz="3400" spc="-275">
                <a:latin typeface="Arial"/>
                <a:cs typeface="Arial"/>
              </a:rPr>
              <a:t>is</a:t>
            </a:r>
            <a:r>
              <a:rPr sz="3400" spc="-75">
                <a:latin typeface="Arial"/>
                <a:cs typeface="Arial"/>
              </a:rPr>
              <a:t> </a:t>
            </a:r>
            <a:r>
              <a:rPr sz="3400" spc="-165">
                <a:latin typeface="Arial"/>
                <a:cs typeface="Arial"/>
              </a:rPr>
              <a:t>desi</a:t>
            </a:r>
            <a:r>
              <a:rPr sz="3400" spc="-215">
                <a:latin typeface="Arial"/>
                <a:cs typeface="Arial"/>
              </a:rPr>
              <a:t>g</a:t>
            </a:r>
            <a:r>
              <a:rPr sz="3400" spc="-110">
                <a:latin typeface="Arial"/>
                <a:cs typeface="Arial"/>
              </a:rPr>
              <a:t>ned</a:t>
            </a:r>
            <a:r>
              <a:rPr sz="3400" spc="-120">
                <a:latin typeface="Arial"/>
                <a:cs typeface="Arial"/>
              </a:rPr>
              <a:t> </a:t>
            </a:r>
            <a:r>
              <a:rPr sz="3400" spc="-50">
                <a:latin typeface="Arial"/>
                <a:cs typeface="Arial"/>
              </a:rPr>
              <a:t>to</a:t>
            </a:r>
            <a:r>
              <a:rPr sz="3400" spc="-75">
                <a:latin typeface="Arial"/>
                <a:cs typeface="Arial"/>
              </a:rPr>
              <a:t> </a:t>
            </a:r>
            <a:r>
              <a:rPr sz="3400" spc="-45">
                <a:latin typeface="Arial"/>
                <a:cs typeface="Arial"/>
              </a:rPr>
              <a:t>operate  </a:t>
            </a:r>
            <a:r>
              <a:rPr sz="3400" spc="-114">
                <a:latin typeface="Arial"/>
                <a:cs typeface="Arial"/>
              </a:rPr>
              <a:t>over</a:t>
            </a:r>
            <a:r>
              <a:rPr sz="3400" spc="-95">
                <a:latin typeface="Arial"/>
                <a:cs typeface="Arial"/>
              </a:rPr>
              <a:t> </a:t>
            </a:r>
            <a:r>
              <a:rPr sz="3400" spc="85">
                <a:latin typeface="Arial"/>
                <a:cs typeface="Arial"/>
              </a:rPr>
              <a:t>a</a:t>
            </a:r>
            <a:r>
              <a:rPr sz="3400" spc="-75">
                <a:latin typeface="Arial"/>
                <a:cs typeface="Arial"/>
              </a:rPr>
              <a:t> </a:t>
            </a:r>
            <a:r>
              <a:rPr sz="3400" spc="-225">
                <a:solidFill>
                  <a:srgbClr val="FF0000"/>
                </a:solidFill>
                <a:latin typeface="Arial"/>
                <a:cs typeface="Arial"/>
              </a:rPr>
              <a:t>s</a:t>
            </a:r>
            <a:r>
              <a:rPr sz="3400" spc="-375">
                <a:solidFill>
                  <a:srgbClr val="FF0000"/>
                </a:solidFill>
                <a:latin typeface="Arial"/>
                <a:cs typeface="Arial"/>
              </a:rPr>
              <a:t>m</a:t>
            </a:r>
            <a:r>
              <a:rPr sz="3400" spc="5">
                <a:solidFill>
                  <a:srgbClr val="FF0000"/>
                </a:solidFill>
                <a:latin typeface="Arial"/>
                <a:cs typeface="Arial"/>
              </a:rPr>
              <a:t>all</a:t>
            </a:r>
            <a:r>
              <a:rPr sz="3400" spc="-55">
                <a:solidFill>
                  <a:srgbClr val="FF0000"/>
                </a:solidFill>
                <a:latin typeface="Arial"/>
                <a:cs typeface="Arial"/>
              </a:rPr>
              <a:t> </a:t>
            </a:r>
            <a:r>
              <a:rPr sz="3400" spc="-150">
                <a:solidFill>
                  <a:srgbClr val="FF0000"/>
                </a:solidFill>
                <a:latin typeface="Arial"/>
                <a:cs typeface="Arial"/>
              </a:rPr>
              <a:t>physica</a:t>
            </a:r>
            <a:r>
              <a:rPr sz="3400" spc="-75">
                <a:solidFill>
                  <a:srgbClr val="FF0000"/>
                </a:solidFill>
                <a:latin typeface="Arial"/>
                <a:cs typeface="Arial"/>
              </a:rPr>
              <a:t>l</a:t>
            </a:r>
            <a:r>
              <a:rPr sz="3400" spc="-95">
                <a:solidFill>
                  <a:srgbClr val="FF0000"/>
                </a:solidFill>
                <a:latin typeface="Arial"/>
                <a:cs typeface="Arial"/>
              </a:rPr>
              <a:t> </a:t>
            </a:r>
            <a:r>
              <a:rPr sz="3400">
                <a:solidFill>
                  <a:srgbClr val="FF0000"/>
                </a:solidFill>
                <a:latin typeface="Arial"/>
                <a:cs typeface="Arial"/>
              </a:rPr>
              <a:t>area</a:t>
            </a:r>
            <a:r>
              <a:rPr sz="3400" spc="-75">
                <a:solidFill>
                  <a:srgbClr val="FF0000"/>
                </a:solidFill>
                <a:latin typeface="Arial"/>
                <a:cs typeface="Arial"/>
              </a:rPr>
              <a:t> </a:t>
            </a:r>
            <a:r>
              <a:rPr sz="3400" spc="-280">
                <a:latin typeface="Arial"/>
                <a:cs typeface="Arial"/>
              </a:rPr>
              <a:t>such</a:t>
            </a:r>
            <a:r>
              <a:rPr sz="3400" spc="-75">
                <a:latin typeface="Arial"/>
                <a:cs typeface="Arial"/>
              </a:rPr>
              <a:t> </a:t>
            </a:r>
            <a:r>
              <a:rPr sz="3400" spc="-229">
                <a:latin typeface="Arial"/>
                <a:cs typeface="Arial"/>
              </a:rPr>
              <a:t>as</a:t>
            </a:r>
            <a:r>
              <a:rPr sz="3400" spc="-75">
                <a:latin typeface="Arial"/>
                <a:cs typeface="Arial"/>
              </a:rPr>
              <a:t> </a:t>
            </a:r>
            <a:r>
              <a:rPr sz="3400" spc="-20">
                <a:latin typeface="Arial"/>
                <a:cs typeface="Arial"/>
              </a:rPr>
              <a:t>an</a:t>
            </a:r>
            <a:r>
              <a:rPr sz="3400" spc="-85">
                <a:latin typeface="Arial"/>
                <a:cs typeface="Arial"/>
              </a:rPr>
              <a:t> </a:t>
            </a:r>
            <a:r>
              <a:rPr sz="3400" spc="-45">
                <a:latin typeface="Arial"/>
                <a:cs typeface="Arial"/>
              </a:rPr>
              <a:t>off</a:t>
            </a:r>
            <a:r>
              <a:rPr sz="3400" spc="-165">
                <a:latin typeface="Arial"/>
                <a:cs typeface="Arial"/>
              </a:rPr>
              <a:t>ic</a:t>
            </a:r>
            <a:r>
              <a:rPr sz="3400" spc="-210">
                <a:latin typeface="Arial"/>
                <a:cs typeface="Arial"/>
              </a:rPr>
              <a:t>e</a:t>
            </a:r>
            <a:r>
              <a:rPr sz="3400" spc="5">
                <a:latin typeface="Arial"/>
                <a:cs typeface="Arial"/>
              </a:rPr>
              <a:t>,  </a:t>
            </a:r>
            <a:r>
              <a:rPr sz="3400" spc="45">
                <a:latin typeface="Arial"/>
                <a:cs typeface="Arial"/>
              </a:rPr>
              <a:t>f</a:t>
            </a:r>
            <a:r>
              <a:rPr sz="3400" spc="75">
                <a:latin typeface="Arial"/>
                <a:cs typeface="Arial"/>
              </a:rPr>
              <a:t>a</a:t>
            </a:r>
            <a:r>
              <a:rPr sz="3400" spc="-114">
                <a:latin typeface="Arial"/>
                <a:cs typeface="Arial"/>
              </a:rPr>
              <a:t>ctor</a:t>
            </a:r>
            <a:r>
              <a:rPr sz="3400" spc="-125">
                <a:latin typeface="Arial"/>
                <a:cs typeface="Arial"/>
              </a:rPr>
              <a:t>y</a:t>
            </a:r>
            <a:r>
              <a:rPr sz="3400" spc="-85">
                <a:latin typeface="Arial"/>
                <a:cs typeface="Arial"/>
              </a:rPr>
              <a:t> </a:t>
            </a:r>
            <a:r>
              <a:rPr sz="3400" spc="-125">
                <a:latin typeface="Arial"/>
                <a:cs typeface="Arial"/>
              </a:rPr>
              <a:t>or</a:t>
            </a:r>
            <a:r>
              <a:rPr sz="3400" spc="-85">
                <a:latin typeface="Arial"/>
                <a:cs typeface="Arial"/>
              </a:rPr>
              <a:t> </a:t>
            </a:r>
            <a:r>
              <a:rPr sz="3400" spc="85">
                <a:latin typeface="Arial"/>
                <a:cs typeface="Arial"/>
              </a:rPr>
              <a:t>a</a:t>
            </a:r>
            <a:r>
              <a:rPr sz="3400" spc="-75">
                <a:latin typeface="Arial"/>
                <a:cs typeface="Arial"/>
              </a:rPr>
              <a:t> </a:t>
            </a:r>
            <a:r>
              <a:rPr sz="3400" spc="-95">
                <a:latin typeface="Arial"/>
                <a:cs typeface="Arial"/>
              </a:rPr>
              <a:t>group</a:t>
            </a:r>
            <a:r>
              <a:rPr sz="3400" spc="-75">
                <a:latin typeface="Arial"/>
                <a:cs typeface="Arial"/>
              </a:rPr>
              <a:t> </a:t>
            </a:r>
            <a:r>
              <a:rPr sz="3400" spc="-85">
                <a:latin typeface="Arial"/>
                <a:cs typeface="Arial"/>
              </a:rPr>
              <a:t>of</a:t>
            </a:r>
            <a:r>
              <a:rPr sz="3400" spc="-90">
                <a:latin typeface="Arial"/>
                <a:cs typeface="Arial"/>
              </a:rPr>
              <a:t> </a:t>
            </a:r>
            <a:r>
              <a:rPr sz="3400" spc="-70">
                <a:latin typeface="Arial"/>
                <a:cs typeface="Arial"/>
              </a:rPr>
              <a:t>b</a:t>
            </a:r>
            <a:r>
              <a:rPr sz="3400" spc="-50">
                <a:latin typeface="Arial"/>
                <a:cs typeface="Arial"/>
              </a:rPr>
              <a:t>uildi</a:t>
            </a:r>
            <a:r>
              <a:rPr sz="3400" spc="-65">
                <a:latin typeface="Arial"/>
                <a:cs typeface="Arial"/>
              </a:rPr>
              <a:t>n</a:t>
            </a:r>
            <a:r>
              <a:rPr sz="3400" spc="-215">
                <a:latin typeface="Arial"/>
                <a:cs typeface="Arial"/>
              </a:rPr>
              <a:t>gs.</a:t>
            </a:r>
            <a:endParaRPr sz="3400">
              <a:latin typeface="Arial"/>
              <a:cs typeface="Arial"/>
            </a:endParaRPr>
          </a:p>
          <a:p>
            <a:pPr marL="332740" marR="5080" indent="-320675">
              <a:lnSpc>
                <a:spcPct val="80000"/>
              </a:lnSpc>
              <a:spcBef>
                <a:spcPts val="700"/>
              </a:spcBef>
              <a:buClr>
                <a:srgbClr val="DA1F28"/>
              </a:buClr>
              <a:buSzPct val="59259"/>
              <a:buFont typeface="Wingdings"/>
              <a:buChar char=""/>
              <a:tabLst>
                <a:tab pos="332740" algn="l"/>
                <a:tab pos="333375" algn="l"/>
              </a:tabLst>
            </a:pPr>
            <a:r>
              <a:rPr sz="3400" spc="-155">
                <a:latin typeface="Arial"/>
                <a:cs typeface="Arial"/>
              </a:rPr>
              <a:t>Exchange</a:t>
            </a:r>
            <a:r>
              <a:rPr sz="3400" spc="-105">
                <a:latin typeface="Arial"/>
                <a:cs typeface="Arial"/>
              </a:rPr>
              <a:t> </a:t>
            </a:r>
            <a:r>
              <a:rPr sz="3400" spc="-85">
                <a:latin typeface="Arial"/>
                <a:cs typeface="Arial"/>
              </a:rPr>
              <a:t>of </a:t>
            </a:r>
            <a:r>
              <a:rPr sz="3400" spc="-50">
                <a:latin typeface="Arial"/>
                <a:cs typeface="Arial"/>
              </a:rPr>
              <a:t>information</a:t>
            </a:r>
            <a:r>
              <a:rPr sz="3400" spc="-105">
                <a:latin typeface="Arial"/>
                <a:cs typeface="Arial"/>
              </a:rPr>
              <a:t> </a:t>
            </a:r>
            <a:r>
              <a:rPr sz="3400" spc="-30">
                <a:latin typeface="Arial"/>
                <a:cs typeface="Arial"/>
              </a:rPr>
              <a:t>and</a:t>
            </a:r>
            <a:r>
              <a:rPr sz="3400" spc="-90">
                <a:latin typeface="Arial"/>
                <a:cs typeface="Arial"/>
              </a:rPr>
              <a:t> </a:t>
            </a:r>
            <a:r>
              <a:rPr sz="3400" spc="-120">
                <a:latin typeface="Arial"/>
                <a:cs typeface="Arial"/>
              </a:rPr>
              <a:t>sharing</a:t>
            </a:r>
            <a:r>
              <a:rPr sz="3400" spc="-105">
                <a:latin typeface="Arial"/>
                <a:cs typeface="Arial"/>
              </a:rPr>
              <a:t> </a:t>
            </a:r>
            <a:r>
              <a:rPr sz="3400" spc="-85">
                <a:latin typeface="Arial"/>
                <a:cs typeface="Arial"/>
              </a:rPr>
              <a:t>of </a:t>
            </a:r>
            <a:r>
              <a:rPr sz="3400" spc="-235">
                <a:latin typeface="Arial"/>
                <a:cs typeface="Arial"/>
              </a:rPr>
              <a:t>resources </a:t>
            </a:r>
            <a:r>
              <a:rPr sz="3400" spc="-735">
                <a:latin typeface="Arial"/>
                <a:cs typeface="Arial"/>
              </a:rPr>
              <a:t> </a:t>
            </a:r>
            <a:r>
              <a:rPr sz="3400" spc="-225">
                <a:latin typeface="Arial"/>
                <a:cs typeface="Arial"/>
              </a:rPr>
              <a:t>becomes</a:t>
            </a:r>
            <a:r>
              <a:rPr sz="3400" spc="-90">
                <a:latin typeface="Arial"/>
                <a:cs typeface="Arial"/>
              </a:rPr>
              <a:t> </a:t>
            </a:r>
            <a:r>
              <a:rPr sz="3400" spc="-165">
                <a:latin typeface="Arial"/>
                <a:cs typeface="Arial"/>
              </a:rPr>
              <a:t>easy</a:t>
            </a:r>
            <a:r>
              <a:rPr sz="3400" spc="-75">
                <a:latin typeface="Arial"/>
                <a:cs typeface="Arial"/>
              </a:rPr>
              <a:t> b</a:t>
            </a:r>
            <a:r>
              <a:rPr sz="3400" spc="-265">
                <a:latin typeface="Arial"/>
                <a:cs typeface="Arial"/>
              </a:rPr>
              <a:t>e</a:t>
            </a:r>
            <a:r>
              <a:rPr sz="3400" spc="-260">
                <a:latin typeface="Arial"/>
                <a:cs typeface="Arial"/>
              </a:rPr>
              <a:t>c</a:t>
            </a:r>
            <a:r>
              <a:rPr sz="3400" spc="-170">
                <a:latin typeface="Arial"/>
                <a:cs typeface="Arial"/>
              </a:rPr>
              <a:t>ause</a:t>
            </a:r>
            <a:r>
              <a:rPr sz="3400" spc="-75">
                <a:latin typeface="Arial"/>
                <a:cs typeface="Arial"/>
              </a:rPr>
              <a:t> </a:t>
            </a:r>
            <a:r>
              <a:rPr sz="3400" spc="-85">
                <a:latin typeface="Arial"/>
                <a:cs typeface="Arial"/>
              </a:rPr>
              <a:t>of</a:t>
            </a:r>
            <a:r>
              <a:rPr sz="3400" spc="-90">
                <a:latin typeface="Arial"/>
                <a:cs typeface="Arial"/>
              </a:rPr>
              <a:t> </a:t>
            </a:r>
            <a:r>
              <a:rPr sz="3400" spc="-50">
                <a:latin typeface="Arial"/>
                <a:cs typeface="Arial"/>
              </a:rPr>
              <a:t>LAN.</a:t>
            </a:r>
            <a:endParaRPr sz="3400">
              <a:latin typeface="Arial"/>
              <a:cs typeface="Arial"/>
            </a:endParaRPr>
          </a:p>
          <a:p>
            <a:pPr marL="332740" marR="623570" indent="-320675">
              <a:lnSpc>
                <a:spcPts val="2590"/>
              </a:lnSpc>
              <a:spcBef>
                <a:spcPts val="690"/>
              </a:spcBef>
              <a:buClr>
                <a:srgbClr val="DA1F28"/>
              </a:buClr>
              <a:buSzPct val="59259"/>
              <a:buFont typeface="Wingdings"/>
              <a:buChar char=""/>
              <a:tabLst>
                <a:tab pos="332740" algn="l"/>
                <a:tab pos="333375" algn="l"/>
              </a:tabLst>
            </a:pPr>
            <a:r>
              <a:rPr sz="3400" spc="-35">
                <a:latin typeface="Arial"/>
                <a:cs typeface="Arial"/>
              </a:rPr>
              <a:t>In</a:t>
            </a:r>
            <a:r>
              <a:rPr sz="3400" spc="-100">
                <a:latin typeface="Arial"/>
                <a:cs typeface="Arial"/>
              </a:rPr>
              <a:t> </a:t>
            </a:r>
            <a:r>
              <a:rPr sz="3400" spc="-65">
                <a:latin typeface="Arial"/>
                <a:cs typeface="Arial"/>
              </a:rPr>
              <a:t>LAN</a:t>
            </a:r>
            <a:r>
              <a:rPr sz="3400" spc="-75">
                <a:latin typeface="Arial"/>
                <a:cs typeface="Arial"/>
              </a:rPr>
              <a:t> </a:t>
            </a:r>
            <a:r>
              <a:rPr sz="3400" spc="5">
                <a:latin typeface="Arial"/>
                <a:cs typeface="Arial"/>
              </a:rPr>
              <a:t>all</a:t>
            </a:r>
            <a:r>
              <a:rPr sz="3400" spc="-60">
                <a:latin typeface="Arial"/>
                <a:cs typeface="Arial"/>
              </a:rPr>
              <a:t> </a:t>
            </a:r>
            <a:r>
              <a:rPr sz="3400" spc="-105">
                <a:latin typeface="Arial"/>
                <a:cs typeface="Arial"/>
              </a:rPr>
              <a:t>machi</a:t>
            </a:r>
            <a:r>
              <a:rPr sz="3400" spc="-100">
                <a:latin typeface="Arial"/>
                <a:cs typeface="Arial"/>
              </a:rPr>
              <a:t>n</a:t>
            </a:r>
            <a:r>
              <a:rPr sz="3400" spc="-345">
                <a:latin typeface="Arial"/>
                <a:cs typeface="Arial"/>
              </a:rPr>
              <a:t>es</a:t>
            </a:r>
            <a:r>
              <a:rPr sz="3400" spc="-100">
                <a:latin typeface="Arial"/>
                <a:cs typeface="Arial"/>
              </a:rPr>
              <a:t> </a:t>
            </a:r>
            <a:r>
              <a:rPr sz="3400" spc="-30">
                <a:latin typeface="Arial"/>
                <a:cs typeface="Arial"/>
              </a:rPr>
              <a:t>are</a:t>
            </a:r>
            <a:r>
              <a:rPr sz="3400" spc="-90">
                <a:latin typeface="Arial"/>
                <a:cs typeface="Arial"/>
              </a:rPr>
              <a:t> </a:t>
            </a:r>
            <a:r>
              <a:rPr sz="3400" spc="-240">
                <a:latin typeface="Arial"/>
                <a:cs typeface="Arial"/>
              </a:rPr>
              <a:t>co</a:t>
            </a:r>
            <a:r>
              <a:rPr sz="3400" spc="-245">
                <a:latin typeface="Arial"/>
                <a:cs typeface="Arial"/>
              </a:rPr>
              <a:t>n</a:t>
            </a:r>
            <a:r>
              <a:rPr sz="3400" spc="-145">
                <a:latin typeface="Arial"/>
                <a:cs typeface="Arial"/>
              </a:rPr>
              <a:t>n</a:t>
            </a:r>
            <a:r>
              <a:rPr sz="3400" spc="-125">
                <a:latin typeface="Arial"/>
                <a:cs typeface="Arial"/>
              </a:rPr>
              <a:t>e</a:t>
            </a:r>
            <a:r>
              <a:rPr sz="3400" spc="-120">
                <a:latin typeface="Arial"/>
                <a:cs typeface="Arial"/>
              </a:rPr>
              <a:t>cted</a:t>
            </a:r>
            <a:r>
              <a:rPr sz="3400" spc="-105">
                <a:latin typeface="Arial"/>
                <a:cs typeface="Arial"/>
              </a:rPr>
              <a:t> </a:t>
            </a:r>
            <a:r>
              <a:rPr sz="3400" spc="-55">
                <a:latin typeface="Arial"/>
                <a:cs typeface="Arial"/>
              </a:rPr>
              <a:t>to</a:t>
            </a:r>
            <a:r>
              <a:rPr sz="3400" spc="-75">
                <a:latin typeface="Arial"/>
                <a:cs typeface="Arial"/>
              </a:rPr>
              <a:t> </a:t>
            </a:r>
            <a:r>
              <a:rPr sz="3400" spc="85">
                <a:latin typeface="Arial"/>
                <a:cs typeface="Arial"/>
              </a:rPr>
              <a:t>a</a:t>
            </a:r>
            <a:r>
              <a:rPr sz="3400" spc="-75">
                <a:latin typeface="Arial"/>
                <a:cs typeface="Arial"/>
              </a:rPr>
              <a:t> </a:t>
            </a:r>
            <a:r>
              <a:rPr sz="3400" spc="-145">
                <a:latin typeface="Arial"/>
                <a:cs typeface="Arial"/>
              </a:rPr>
              <a:t>single  </a:t>
            </a:r>
            <a:r>
              <a:rPr sz="3400" spc="-95">
                <a:latin typeface="Arial"/>
                <a:cs typeface="Arial"/>
              </a:rPr>
              <a:t>cable.</a:t>
            </a:r>
            <a:endParaRPr sz="3400">
              <a:latin typeface="Arial"/>
              <a:cs typeface="Arial"/>
            </a:endParaRPr>
          </a:p>
          <a:p>
            <a:pPr marL="332740" marR="493395" indent="-320675">
              <a:lnSpc>
                <a:spcPct val="80000"/>
              </a:lnSpc>
              <a:spcBef>
                <a:spcPts val="720"/>
              </a:spcBef>
              <a:buClr>
                <a:srgbClr val="DA1F28"/>
              </a:buClr>
              <a:buSzPct val="59259"/>
              <a:buFont typeface="Wingdings"/>
              <a:buChar char=""/>
              <a:tabLst>
                <a:tab pos="332740" algn="l"/>
                <a:tab pos="333375" algn="l"/>
              </a:tabLst>
            </a:pPr>
            <a:r>
              <a:rPr sz="3400" spc="20">
                <a:latin typeface="Arial"/>
                <a:cs typeface="Arial"/>
              </a:rPr>
              <a:t>Dif</a:t>
            </a:r>
            <a:r>
              <a:rPr sz="3400">
                <a:latin typeface="Arial"/>
                <a:cs typeface="Arial"/>
              </a:rPr>
              <a:t>f</a:t>
            </a:r>
            <a:r>
              <a:rPr sz="3400" spc="-105">
                <a:latin typeface="Arial"/>
                <a:cs typeface="Arial"/>
              </a:rPr>
              <a:t>er</a:t>
            </a:r>
            <a:r>
              <a:rPr sz="3400" spc="-114">
                <a:latin typeface="Arial"/>
                <a:cs typeface="Arial"/>
              </a:rPr>
              <a:t>e</a:t>
            </a:r>
            <a:r>
              <a:rPr sz="3400">
                <a:latin typeface="Arial"/>
                <a:cs typeface="Arial"/>
              </a:rPr>
              <a:t>nt</a:t>
            </a:r>
            <a:r>
              <a:rPr sz="3400" spc="-110">
                <a:latin typeface="Arial"/>
                <a:cs typeface="Arial"/>
              </a:rPr>
              <a:t> </a:t>
            </a:r>
            <a:r>
              <a:rPr sz="3400" spc="-130">
                <a:latin typeface="Arial"/>
                <a:cs typeface="Arial"/>
              </a:rPr>
              <a:t>types</a:t>
            </a:r>
            <a:r>
              <a:rPr sz="3400" spc="-75">
                <a:latin typeface="Arial"/>
                <a:cs typeface="Arial"/>
              </a:rPr>
              <a:t> </a:t>
            </a:r>
            <a:r>
              <a:rPr sz="3400" spc="-85">
                <a:latin typeface="Arial"/>
                <a:cs typeface="Arial"/>
              </a:rPr>
              <a:t>of</a:t>
            </a:r>
            <a:r>
              <a:rPr sz="3400" spc="-75">
                <a:latin typeface="Arial"/>
                <a:cs typeface="Arial"/>
              </a:rPr>
              <a:t> </a:t>
            </a:r>
            <a:r>
              <a:rPr sz="3400" spc="-40">
                <a:latin typeface="Arial"/>
                <a:cs typeface="Arial"/>
              </a:rPr>
              <a:t>to</a:t>
            </a:r>
            <a:r>
              <a:rPr sz="3400" spc="-65">
                <a:latin typeface="Arial"/>
                <a:cs typeface="Arial"/>
              </a:rPr>
              <a:t>p</a:t>
            </a:r>
            <a:r>
              <a:rPr sz="3400" spc="-185">
                <a:latin typeface="Arial"/>
                <a:cs typeface="Arial"/>
              </a:rPr>
              <a:t>ologies</a:t>
            </a:r>
            <a:r>
              <a:rPr sz="3400" spc="-75">
                <a:latin typeface="Arial"/>
                <a:cs typeface="Arial"/>
              </a:rPr>
              <a:t> </a:t>
            </a:r>
            <a:r>
              <a:rPr sz="3400" spc="-295">
                <a:latin typeface="Arial"/>
                <a:cs typeface="Arial"/>
              </a:rPr>
              <a:t>s</a:t>
            </a:r>
            <a:r>
              <a:rPr sz="3400" spc="-340">
                <a:latin typeface="Arial"/>
                <a:cs typeface="Arial"/>
              </a:rPr>
              <a:t>u</a:t>
            </a:r>
            <a:r>
              <a:rPr sz="3400" spc="-250">
                <a:latin typeface="Arial"/>
                <a:cs typeface="Arial"/>
              </a:rPr>
              <a:t>ch</a:t>
            </a:r>
            <a:r>
              <a:rPr sz="3400" spc="-70">
                <a:latin typeface="Arial"/>
                <a:cs typeface="Arial"/>
              </a:rPr>
              <a:t> </a:t>
            </a:r>
            <a:r>
              <a:rPr sz="3400" spc="-229">
                <a:latin typeface="Arial"/>
                <a:cs typeface="Arial"/>
              </a:rPr>
              <a:t>as</a:t>
            </a:r>
            <a:r>
              <a:rPr sz="3400" spc="-75">
                <a:latin typeface="Arial"/>
                <a:cs typeface="Arial"/>
              </a:rPr>
              <a:t> </a:t>
            </a:r>
            <a:r>
              <a:rPr sz="3400" spc="-70">
                <a:latin typeface="Arial"/>
                <a:cs typeface="Arial"/>
              </a:rPr>
              <a:t>star,</a:t>
            </a:r>
            <a:r>
              <a:rPr sz="3400" spc="-75">
                <a:latin typeface="Arial"/>
                <a:cs typeface="Arial"/>
              </a:rPr>
              <a:t> </a:t>
            </a:r>
            <a:r>
              <a:rPr sz="3400" spc="-15">
                <a:latin typeface="Arial"/>
                <a:cs typeface="Arial"/>
              </a:rPr>
              <a:t>tr</a:t>
            </a:r>
            <a:r>
              <a:rPr sz="3400" spc="-20">
                <a:latin typeface="Arial"/>
                <a:cs typeface="Arial"/>
              </a:rPr>
              <a:t>e</a:t>
            </a:r>
            <a:r>
              <a:rPr sz="3400" spc="-60">
                <a:latin typeface="Arial"/>
                <a:cs typeface="Arial"/>
              </a:rPr>
              <a:t>e,  </a:t>
            </a:r>
            <a:r>
              <a:rPr sz="3400" spc="-70">
                <a:latin typeface="Arial"/>
                <a:cs typeface="Arial"/>
              </a:rPr>
              <a:t>b</a:t>
            </a:r>
            <a:r>
              <a:rPr sz="3400" spc="-80">
                <a:latin typeface="Arial"/>
                <a:cs typeface="Arial"/>
              </a:rPr>
              <a:t>u</a:t>
            </a:r>
            <a:r>
              <a:rPr sz="3400" spc="-270">
                <a:latin typeface="Arial"/>
                <a:cs typeface="Arial"/>
              </a:rPr>
              <a:t>s,</a:t>
            </a:r>
            <a:r>
              <a:rPr sz="3400" spc="-75">
                <a:latin typeface="Arial"/>
                <a:cs typeface="Arial"/>
              </a:rPr>
              <a:t> </a:t>
            </a:r>
            <a:r>
              <a:rPr sz="3400" spc="-20">
                <a:latin typeface="Arial"/>
                <a:cs typeface="Arial"/>
              </a:rPr>
              <a:t>r</a:t>
            </a:r>
            <a:r>
              <a:rPr sz="3400" spc="-60">
                <a:latin typeface="Arial"/>
                <a:cs typeface="Arial"/>
              </a:rPr>
              <a:t>ing,</a:t>
            </a:r>
            <a:r>
              <a:rPr sz="3400" spc="-105">
                <a:latin typeface="Arial"/>
                <a:cs typeface="Arial"/>
              </a:rPr>
              <a:t> </a:t>
            </a:r>
            <a:r>
              <a:rPr sz="3400" spc="-140">
                <a:latin typeface="Arial"/>
                <a:cs typeface="Arial"/>
              </a:rPr>
              <a:t>etc</a:t>
            </a:r>
            <a:r>
              <a:rPr sz="3400" spc="-75">
                <a:latin typeface="Arial"/>
                <a:cs typeface="Arial"/>
              </a:rPr>
              <a:t> </a:t>
            </a:r>
            <a:r>
              <a:rPr sz="3400" spc="-110">
                <a:latin typeface="Arial"/>
                <a:cs typeface="Arial"/>
              </a:rPr>
              <a:t>Ca</a:t>
            </a:r>
            <a:r>
              <a:rPr sz="3400" spc="-100">
                <a:latin typeface="Arial"/>
                <a:cs typeface="Arial"/>
              </a:rPr>
              <a:t>n</a:t>
            </a:r>
            <a:r>
              <a:rPr sz="3400" spc="-65">
                <a:latin typeface="Arial"/>
                <a:cs typeface="Arial"/>
              </a:rPr>
              <a:t> </a:t>
            </a:r>
            <a:r>
              <a:rPr sz="3400" spc="-105">
                <a:latin typeface="Arial"/>
                <a:cs typeface="Arial"/>
              </a:rPr>
              <a:t>be</a:t>
            </a:r>
            <a:r>
              <a:rPr sz="3400" spc="-75">
                <a:latin typeface="Arial"/>
                <a:cs typeface="Arial"/>
              </a:rPr>
              <a:t> </a:t>
            </a:r>
            <a:r>
              <a:rPr sz="3400" spc="-325">
                <a:latin typeface="Arial"/>
                <a:cs typeface="Arial"/>
              </a:rPr>
              <a:t>u</a:t>
            </a:r>
            <a:r>
              <a:rPr sz="3400" spc="-305">
                <a:latin typeface="Arial"/>
                <a:cs typeface="Arial"/>
              </a:rPr>
              <a:t>s</a:t>
            </a:r>
            <a:r>
              <a:rPr sz="3400" spc="-105">
                <a:latin typeface="Arial"/>
                <a:cs typeface="Arial"/>
              </a:rPr>
              <a:t>ed</a:t>
            </a:r>
            <a:endParaRPr sz="3400">
              <a:latin typeface="Arial"/>
              <a:cs typeface="Arial"/>
            </a:endParaRPr>
          </a:p>
          <a:p>
            <a:pPr marL="332740" indent="-320675">
              <a:lnSpc>
                <a:spcPct val="100000"/>
              </a:lnSpc>
              <a:spcBef>
                <a:spcPts val="50"/>
              </a:spcBef>
              <a:buClr>
                <a:srgbClr val="DA1F28"/>
              </a:buClr>
              <a:buSzPct val="59259"/>
              <a:tabLst>
                <a:tab pos="332740" algn="l"/>
                <a:tab pos="333375" algn="l"/>
              </a:tabLst>
            </a:pPr>
            <a:endParaRPr sz="2700">
              <a:latin typeface="Arial"/>
              <a:cs typeface="Arial"/>
            </a:endParaRPr>
          </a:p>
        </p:txBody>
      </p:sp>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65201"/>
            <a:ext cx="7632065" cy="697230"/>
          </a:xfrm>
          <a:prstGeom prst="rect">
            <a:avLst/>
          </a:prstGeom>
        </p:spPr>
        <p:txBody>
          <a:bodyPr vert="horz" wrap="square" lIns="0" tIns="13335" rIns="0" bIns="0" rtlCol="0">
            <a:spAutoFit/>
          </a:bodyPr>
          <a:lstStyle/>
          <a:p>
            <a:pPr marL="12700">
              <a:lnSpc>
                <a:spcPct val="100000"/>
              </a:lnSpc>
              <a:spcBef>
                <a:spcPts val="105"/>
              </a:spcBef>
            </a:pPr>
            <a:r>
              <a:rPr spc="-105" dirty="0"/>
              <a:t>WIDE</a:t>
            </a:r>
            <a:r>
              <a:rPr spc="-125" dirty="0"/>
              <a:t> </a:t>
            </a:r>
            <a:r>
              <a:rPr spc="-265" dirty="0"/>
              <a:t>AREA</a:t>
            </a:r>
            <a:r>
              <a:rPr spc="-155" dirty="0"/>
              <a:t> </a:t>
            </a:r>
            <a:r>
              <a:rPr spc="-210" dirty="0"/>
              <a:t>NETWO</a:t>
            </a:r>
            <a:r>
              <a:rPr spc="-195" dirty="0"/>
              <a:t>R</a:t>
            </a:r>
            <a:r>
              <a:rPr spc="35" dirty="0"/>
              <a:t>K(WAN)</a:t>
            </a:r>
          </a:p>
        </p:txBody>
      </p:sp>
      <p:sp>
        <p:nvSpPr>
          <p:cNvPr id="3" name="object 3"/>
          <p:cNvSpPr txBox="1"/>
          <p:nvPr/>
        </p:nvSpPr>
        <p:spPr>
          <a:xfrm>
            <a:off x="0" y="1545158"/>
            <a:ext cx="9143999" cy="4022896"/>
          </a:xfrm>
          <a:prstGeom prst="rect">
            <a:avLst/>
          </a:prstGeom>
        </p:spPr>
        <p:txBody>
          <a:bodyPr vert="horz" wrap="square" lIns="0" tIns="95250" rIns="0" bIns="0" rtlCol="0">
            <a:spAutoFit/>
          </a:bodyPr>
          <a:lstStyle/>
          <a:p>
            <a:pPr marL="332740" marR="5080" indent="-320675">
              <a:lnSpc>
                <a:spcPct val="80000"/>
              </a:lnSpc>
              <a:spcBef>
                <a:spcPts val="750"/>
              </a:spcBef>
              <a:buClr>
                <a:srgbClr val="DA1F28"/>
              </a:buClr>
              <a:buSzPct val="59259"/>
              <a:buFont typeface="Wingdings"/>
              <a:buChar char=""/>
              <a:tabLst>
                <a:tab pos="332740" algn="l"/>
                <a:tab pos="333375" algn="l"/>
              </a:tabLst>
            </a:pPr>
            <a:r>
              <a:rPr sz="3000" spc="-100" dirty="0">
                <a:latin typeface="Arial"/>
                <a:cs typeface="Arial"/>
              </a:rPr>
              <a:t>When</a:t>
            </a:r>
            <a:r>
              <a:rPr sz="3000" spc="-110" dirty="0">
                <a:latin typeface="Arial"/>
                <a:cs typeface="Arial"/>
              </a:rPr>
              <a:t> </a:t>
            </a:r>
            <a:r>
              <a:rPr sz="3000" spc="-50" dirty="0">
                <a:latin typeface="Arial"/>
                <a:cs typeface="Arial"/>
              </a:rPr>
              <a:t>network</a:t>
            </a:r>
            <a:r>
              <a:rPr sz="3000" spc="-95" dirty="0">
                <a:latin typeface="Arial"/>
                <a:cs typeface="Arial"/>
              </a:rPr>
              <a:t> </a:t>
            </a:r>
            <a:r>
              <a:rPr sz="3000" spc="-270" dirty="0">
                <a:latin typeface="Arial"/>
                <a:cs typeface="Arial"/>
              </a:rPr>
              <a:t>s</a:t>
            </a:r>
            <a:r>
              <a:rPr sz="3000" spc="-305" dirty="0">
                <a:latin typeface="Arial"/>
                <a:cs typeface="Arial"/>
              </a:rPr>
              <a:t>p</a:t>
            </a:r>
            <a:r>
              <a:rPr sz="3000" spc="-190" dirty="0">
                <a:latin typeface="Arial"/>
                <a:cs typeface="Arial"/>
              </a:rPr>
              <a:t>ans</a:t>
            </a:r>
            <a:r>
              <a:rPr sz="3000" spc="-75" dirty="0">
                <a:latin typeface="Arial"/>
                <a:cs typeface="Arial"/>
              </a:rPr>
              <a:t> </a:t>
            </a:r>
            <a:r>
              <a:rPr sz="3000" spc="-235" dirty="0">
                <a:latin typeface="Arial"/>
                <a:cs typeface="Arial"/>
              </a:rPr>
              <a:t>o</a:t>
            </a:r>
            <a:r>
              <a:rPr sz="3000" spc="-90" dirty="0">
                <a:latin typeface="Arial"/>
                <a:cs typeface="Arial"/>
              </a:rPr>
              <a:t>ve</a:t>
            </a:r>
            <a:r>
              <a:rPr sz="3000" spc="-60" dirty="0">
                <a:latin typeface="Arial"/>
                <a:cs typeface="Arial"/>
              </a:rPr>
              <a:t>r</a:t>
            </a:r>
            <a:r>
              <a:rPr sz="3000" spc="-80" dirty="0">
                <a:latin typeface="Arial"/>
                <a:cs typeface="Arial"/>
              </a:rPr>
              <a:t> </a:t>
            </a:r>
            <a:r>
              <a:rPr sz="3000" spc="85" dirty="0">
                <a:latin typeface="Arial"/>
                <a:cs typeface="Arial"/>
              </a:rPr>
              <a:t>a</a:t>
            </a:r>
            <a:r>
              <a:rPr sz="3000" spc="-85" dirty="0">
                <a:latin typeface="Arial"/>
                <a:cs typeface="Arial"/>
              </a:rPr>
              <a:t> </a:t>
            </a:r>
            <a:r>
              <a:rPr sz="3000" spc="-25" dirty="0">
                <a:solidFill>
                  <a:srgbClr val="FF0000"/>
                </a:solidFill>
                <a:latin typeface="Arial"/>
                <a:cs typeface="Arial"/>
              </a:rPr>
              <a:t>lar</a:t>
            </a:r>
            <a:r>
              <a:rPr sz="3000" spc="-40" dirty="0">
                <a:solidFill>
                  <a:srgbClr val="FF0000"/>
                </a:solidFill>
                <a:latin typeface="Arial"/>
                <a:cs typeface="Arial"/>
              </a:rPr>
              <a:t>g</a:t>
            </a:r>
            <a:r>
              <a:rPr sz="3000" spc="-150" dirty="0">
                <a:solidFill>
                  <a:srgbClr val="FF0000"/>
                </a:solidFill>
                <a:latin typeface="Arial"/>
                <a:cs typeface="Arial"/>
              </a:rPr>
              <a:t>e</a:t>
            </a:r>
            <a:r>
              <a:rPr sz="3000" spc="-75" dirty="0">
                <a:solidFill>
                  <a:srgbClr val="FF0000"/>
                </a:solidFill>
                <a:latin typeface="Arial"/>
                <a:cs typeface="Arial"/>
              </a:rPr>
              <a:t> </a:t>
            </a:r>
            <a:r>
              <a:rPr sz="3000" spc="-130" dirty="0">
                <a:solidFill>
                  <a:srgbClr val="FF0000"/>
                </a:solidFill>
                <a:latin typeface="Arial"/>
                <a:cs typeface="Arial"/>
              </a:rPr>
              <a:t>distance</a:t>
            </a:r>
            <a:r>
              <a:rPr sz="3000" spc="-100" dirty="0">
                <a:solidFill>
                  <a:srgbClr val="FF0000"/>
                </a:solidFill>
                <a:latin typeface="Arial"/>
                <a:cs typeface="Arial"/>
              </a:rPr>
              <a:t> </a:t>
            </a:r>
            <a:r>
              <a:rPr sz="3000" spc="-95" dirty="0">
                <a:latin typeface="Arial"/>
                <a:cs typeface="Arial"/>
              </a:rPr>
              <a:t>or  </a:t>
            </a:r>
            <a:r>
              <a:rPr sz="3000" spc="-114" dirty="0">
                <a:latin typeface="Arial"/>
                <a:cs typeface="Arial"/>
              </a:rPr>
              <a:t>when</a:t>
            </a:r>
            <a:r>
              <a:rPr sz="3000" spc="-105" dirty="0">
                <a:latin typeface="Arial"/>
                <a:cs typeface="Arial"/>
              </a:rPr>
              <a:t> </a:t>
            </a:r>
            <a:r>
              <a:rPr sz="3000" spc="-50" dirty="0">
                <a:latin typeface="Arial"/>
                <a:cs typeface="Arial"/>
              </a:rPr>
              <a:t>the</a:t>
            </a:r>
            <a:r>
              <a:rPr sz="3000" spc="-75" dirty="0">
                <a:latin typeface="Arial"/>
                <a:cs typeface="Arial"/>
              </a:rPr>
              <a:t> </a:t>
            </a:r>
            <a:r>
              <a:rPr sz="3000" spc="-175" dirty="0">
                <a:latin typeface="Arial"/>
                <a:cs typeface="Arial"/>
              </a:rPr>
              <a:t>com</a:t>
            </a:r>
            <a:r>
              <a:rPr sz="3000" spc="-170" dirty="0">
                <a:latin typeface="Arial"/>
                <a:cs typeface="Arial"/>
              </a:rPr>
              <a:t>p</a:t>
            </a:r>
            <a:r>
              <a:rPr sz="3000" spc="-135" dirty="0">
                <a:latin typeface="Arial"/>
                <a:cs typeface="Arial"/>
              </a:rPr>
              <a:t>uters</a:t>
            </a:r>
            <a:r>
              <a:rPr sz="3000" spc="-70" dirty="0">
                <a:latin typeface="Arial"/>
                <a:cs typeface="Arial"/>
              </a:rPr>
              <a:t> </a:t>
            </a:r>
            <a:r>
              <a:rPr sz="3000" spc="-55" dirty="0">
                <a:latin typeface="Arial"/>
                <a:cs typeface="Arial"/>
              </a:rPr>
              <a:t>to</a:t>
            </a:r>
            <a:r>
              <a:rPr sz="3000" spc="-75" dirty="0">
                <a:latin typeface="Arial"/>
                <a:cs typeface="Arial"/>
              </a:rPr>
              <a:t> b</a:t>
            </a:r>
            <a:r>
              <a:rPr sz="3000" spc="-150" dirty="0">
                <a:latin typeface="Arial"/>
                <a:cs typeface="Arial"/>
              </a:rPr>
              <a:t>e</a:t>
            </a:r>
            <a:r>
              <a:rPr sz="3000" spc="-75" dirty="0">
                <a:latin typeface="Arial"/>
                <a:cs typeface="Arial"/>
              </a:rPr>
              <a:t> </a:t>
            </a:r>
            <a:r>
              <a:rPr sz="3000" spc="-240" dirty="0">
                <a:latin typeface="Arial"/>
                <a:cs typeface="Arial"/>
              </a:rPr>
              <a:t>co</a:t>
            </a:r>
            <a:r>
              <a:rPr sz="3000" spc="-245" dirty="0">
                <a:latin typeface="Arial"/>
                <a:cs typeface="Arial"/>
              </a:rPr>
              <a:t>n</a:t>
            </a:r>
            <a:r>
              <a:rPr sz="3000" spc="-145" dirty="0">
                <a:latin typeface="Arial"/>
                <a:cs typeface="Arial"/>
              </a:rPr>
              <a:t>n</a:t>
            </a:r>
            <a:r>
              <a:rPr sz="3000" spc="-125" dirty="0">
                <a:latin typeface="Arial"/>
                <a:cs typeface="Arial"/>
              </a:rPr>
              <a:t>e</a:t>
            </a:r>
            <a:r>
              <a:rPr sz="3000" spc="-120" dirty="0">
                <a:latin typeface="Arial"/>
                <a:cs typeface="Arial"/>
              </a:rPr>
              <a:t>cted</a:t>
            </a:r>
            <a:r>
              <a:rPr sz="3000" spc="-105" dirty="0">
                <a:latin typeface="Arial"/>
                <a:cs typeface="Arial"/>
              </a:rPr>
              <a:t> </a:t>
            </a:r>
            <a:r>
              <a:rPr sz="3000" spc="-55" dirty="0">
                <a:latin typeface="Arial"/>
                <a:cs typeface="Arial"/>
              </a:rPr>
              <a:t>to</a:t>
            </a:r>
            <a:r>
              <a:rPr sz="3000" spc="-75" dirty="0">
                <a:latin typeface="Arial"/>
                <a:cs typeface="Arial"/>
              </a:rPr>
              <a:t> </a:t>
            </a:r>
            <a:r>
              <a:rPr sz="3000" spc="-145" dirty="0">
                <a:latin typeface="Arial"/>
                <a:cs typeface="Arial"/>
              </a:rPr>
              <a:t>each</a:t>
            </a:r>
            <a:r>
              <a:rPr sz="3000" spc="-85" dirty="0">
                <a:latin typeface="Arial"/>
                <a:cs typeface="Arial"/>
              </a:rPr>
              <a:t> </a:t>
            </a:r>
            <a:r>
              <a:rPr sz="3000" spc="-70" dirty="0">
                <a:latin typeface="Arial"/>
                <a:cs typeface="Arial"/>
              </a:rPr>
              <a:t>other  </a:t>
            </a:r>
            <a:r>
              <a:rPr sz="3000" spc="-30" dirty="0">
                <a:latin typeface="Arial"/>
                <a:cs typeface="Arial"/>
              </a:rPr>
              <a:t>are </a:t>
            </a:r>
            <a:r>
              <a:rPr sz="3000" spc="100" dirty="0">
                <a:latin typeface="Arial"/>
                <a:cs typeface="Arial"/>
              </a:rPr>
              <a:t>at </a:t>
            </a:r>
            <a:r>
              <a:rPr sz="3000" spc="-60" dirty="0">
                <a:latin typeface="Arial"/>
                <a:cs typeface="Arial"/>
              </a:rPr>
              <a:t>widely </a:t>
            </a:r>
            <a:r>
              <a:rPr sz="3000" spc="-75" dirty="0">
                <a:latin typeface="Arial"/>
                <a:cs typeface="Arial"/>
              </a:rPr>
              <a:t>separated </a:t>
            </a:r>
            <a:r>
              <a:rPr sz="3000" spc="-155" dirty="0">
                <a:latin typeface="Arial"/>
                <a:cs typeface="Arial"/>
              </a:rPr>
              <a:t>locations </a:t>
            </a:r>
            <a:r>
              <a:rPr sz="3000" spc="85" dirty="0">
                <a:latin typeface="Arial"/>
                <a:cs typeface="Arial"/>
              </a:rPr>
              <a:t>a </a:t>
            </a:r>
            <a:r>
              <a:rPr sz="3000" spc="-120" dirty="0">
                <a:latin typeface="Arial"/>
                <a:cs typeface="Arial"/>
              </a:rPr>
              <a:t>local </a:t>
            </a:r>
            <a:r>
              <a:rPr sz="3000" dirty="0">
                <a:latin typeface="Arial"/>
                <a:cs typeface="Arial"/>
              </a:rPr>
              <a:t>area </a:t>
            </a:r>
            <a:r>
              <a:rPr sz="3000" spc="5" dirty="0">
                <a:latin typeface="Arial"/>
                <a:cs typeface="Arial"/>
              </a:rPr>
              <a:t> </a:t>
            </a:r>
            <a:r>
              <a:rPr sz="3000" spc="-145" dirty="0">
                <a:latin typeface="Arial"/>
                <a:cs typeface="Arial"/>
              </a:rPr>
              <a:t>n</a:t>
            </a:r>
            <a:r>
              <a:rPr sz="3000" spc="-125" dirty="0">
                <a:latin typeface="Arial"/>
                <a:cs typeface="Arial"/>
              </a:rPr>
              <a:t>e</a:t>
            </a:r>
            <a:r>
              <a:rPr sz="3000" spc="-15" dirty="0">
                <a:latin typeface="Arial"/>
                <a:cs typeface="Arial"/>
              </a:rPr>
              <a:t>twork</a:t>
            </a:r>
            <a:r>
              <a:rPr sz="3000" spc="-105" dirty="0">
                <a:latin typeface="Arial"/>
                <a:cs typeface="Arial"/>
              </a:rPr>
              <a:t> </a:t>
            </a:r>
            <a:r>
              <a:rPr sz="3000" spc="-135" dirty="0">
                <a:latin typeface="Arial"/>
                <a:cs typeface="Arial"/>
              </a:rPr>
              <a:t>cann</a:t>
            </a:r>
            <a:r>
              <a:rPr sz="3000" spc="-55" dirty="0">
                <a:latin typeface="Arial"/>
                <a:cs typeface="Arial"/>
              </a:rPr>
              <a:t>ot</a:t>
            </a:r>
            <a:r>
              <a:rPr sz="3000" spc="-105" dirty="0">
                <a:latin typeface="Arial"/>
                <a:cs typeface="Arial"/>
              </a:rPr>
              <a:t> be</a:t>
            </a:r>
            <a:r>
              <a:rPr sz="3000" spc="-75" dirty="0">
                <a:latin typeface="Arial"/>
                <a:cs typeface="Arial"/>
              </a:rPr>
              <a:t> </a:t>
            </a:r>
            <a:r>
              <a:rPr sz="3000" spc="-325" dirty="0">
                <a:latin typeface="Arial"/>
                <a:cs typeface="Arial"/>
              </a:rPr>
              <a:t>u</a:t>
            </a:r>
            <a:r>
              <a:rPr sz="3000" spc="-305" dirty="0">
                <a:latin typeface="Arial"/>
                <a:cs typeface="Arial"/>
              </a:rPr>
              <a:t>s</a:t>
            </a:r>
            <a:r>
              <a:rPr sz="3000" spc="-70" dirty="0">
                <a:latin typeface="Arial"/>
                <a:cs typeface="Arial"/>
              </a:rPr>
              <a:t>ed.</a:t>
            </a:r>
            <a:r>
              <a:rPr sz="3000" spc="-75" dirty="0">
                <a:latin typeface="Arial"/>
                <a:cs typeface="Arial"/>
              </a:rPr>
              <a:t> </a:t>
            </a:r>
            <a:r>
              <a:rPr sz="3000" spc="-80" dirty="0">
                <a:latin typeface="Arial"/>
                <a:cs typeface="Arial"/>
              </a:rPr>
              <a:t>A</a:t>
            </a:r>
            <a:r>
              <a:rPr sz="3000" spc="-70" dirty="0">
                <a:latin typeface="Arial"/>
                <a:cs typeface="Arial"/>
              </a:rPr>
              <a:t> wide</a:t>
            </a:r>
            <a:r>
              <a:rPr sz="3000" spc="-100" dirty="0">
                <a:latin typeface="Arial"/>
                <a:cs typeface="Arial"/>
              </a:rPr>
              <a:t> </a:t>
            </a:r>
            <a:r>
              <a:rPr sz="3000" dirty="0">
                <a:latin typeface="Arial"/>
                <a:cs typeface="Arial"/>
              </a:rPr>
              <a:t>area  network(WAN)</a:t>
            </a:r>
            <a:r>
              <a:rPr sz="3000" spc="-105" dirty="0">
                <a:latin typeface="Arial"/>
                <a:cs typeface="Arial"/>
              </a:rPr>
              <a:t> </a:t>
            </a:r>
            <a:r>
              <a:rPr sz="3000" spc="-275" dirty="0">
                <a:latin typeface="Arial"/>
                <a:cs typeface="Arial"/>
              </a:rPr>
              <a:t>is</a:t>
            </a:r>
            <a:r>
              <a:rPr sz="3000" spc="-75" dirty="0">
                <a:latin typeface="Arial"/>
                <a:cs typeface="Arial"/>
              </a:rPr>
              <a:t> </a:t>
            </a:r>
            <a:r>
              <a:rPr sz="3000" spc="-90" dirty="0">
                <a:latin typeface="Arial"/>
                <a:cs typeface="Arial"/>
              </a:rPr>
              <a:t>inst</a:t>
            </a:r>
            <a:r>
              <a:rPr sz="3000" spc="-120" dirty="0">
                <a:latin typeface="Arial"/>
                <a:cs typeface="Arial"/>
              </a:rPr>
              <a:t>a</a:t>
            </a:r>
            <a:r>
              <a:rPr sz="3000" spc="-60" dirty="0">
                <a:latin typeface="Arial"/>
                <a:cs typeface="Arial"/>
              </a:rPr>
              <a:t>lled.</a:t>
            </a:r>
            <a:endParaRPr sz="3000">
              <a:latin typeface="Arial"/>
              <a:cs typeface="Arial"/>
            </a:endParaRPr>
          </a:p>
          <a:p>
            <a:pPr marL="332740" marR="332740" indent="-320675">
              <a:lnSpc>
                <a:spcPct val="80000"/>
              </a:lnSpc>
              <a:spcBef>
                <a:spcPts val="695"/>
              </a:spcBef>
              <a:buClr>
                <a:srgbClr val="DA1F28"/>
              </a:buClr>
              <a:buSzPct val="59259"/>
              <a:buFont typeface="Wingdings"/>
              <a:buChar char=""/>
              <a:tabLst>
                <a:tab pos="332740" algn="l"/>
                <a:tab pos="333375" algn="l"/>
              </a:tabLst>
            </a:pPr>
            <a:r>
              <a:rPr sz="3000" spc="-165" dirty="0">
                <a:latin typeface="Arial"/>
                <a:cs typeface="Arial"/>
              </a:rPr>
              <a:t>The</a:t>
            </a:r>
            <a:r>
              <a:rPr sz="3000" spc="-95" dirty="0">
                <a:latin typeface="Arial"/>
                <a:cs typeface="Arial"/>
              </a:rPr>
              <a:t> </a:t>
            </a:r>
            <a:r>
              <a:rPr sz="3000" spc="-165" dirty="0">
                <a:latin typeface="Arial"/>
                <a:cs typeface="Arial"/>
              </a:rPr>
              <a:t>communi</a:t>
            </a:r>
            <a:r>
              <a:rPr sz="3000" spc="-140" dirty="0">
                <a:latin typeface="Arial"/>
                <a:cs typeface="Arial"/>
              </a:rPr>
              <a:t>c</a:t>
            </a:r>
            <a:r>
              <a:rPr sz="3000" spc="-30" dirty="0">
                <a:latin typeface="Arial"/>
                <a:cs typeface="Arial"/>
              </a:rPr>
              <a:t>ation</a:t>
            </a:r>
            <a:r>
              <a:rPr sz="3000" spc="-90" dirty="0">
                <a:latin typeface="Arial"/>
                <a:cs typeface="Arial"/>
              </a:rPr>
              <a:t> </a:t>
            </a:r>
            <a:r>
              <a:rPr sz="3000" spc="-80" dirty="0">
                <a:latin typeface="Arial"/>
                <a:cs typeface="Arial"/>
              </a:rPr>
              <a:t>between</a:t>
            </a:r>
            <a:r>
              <a:rPr sz="3000" spc="-100" dirty="0">
                <a:latin typeface="Arial"/>
                <a:cs typeface="Arial"/>
              </a:rPr>
              <a:t> </a:t>
            </a:r>
            <a:r>
              <a:rPr sz="3000" spc="-50" dirty="0">
                <a:latin typeface="Arial"/>
                <a:cs typeface="Arial"/>
              </a:rPr>
              <a:t>differe</a:t>
            </a:r>
            <a:r>
              <a:rPr sz="3000" spc="-65" dirty="0">
                <a:latin typeface="Arial"/>
                <a:cs typeface="Arial"/>
              </a:rPr>
              <a:t>n</a:t>
            </a:r>
            <a:r>
              <a:rPr sz="3000" spc="120" dirty="0">
                <a:latin typeface="Arial"/>
                <a:cs typeface="Arial"/>
              </a:rPr>
              <a:t>t</a:t>
            </a:r>
            <a:r>
              <a:rPr sz="3000" spc="-120" dirty="0">
                <a:latin typeface="Arial"/>
                <a:cs typeface="Arial"/>
              </a:rPr>
              <a:t> </a:t>
            </a:r>
            <a:r>
              <a:rPr sz="3000" spc="-270" dirty="0">
                <a:latin typeface="Arial"/>
                <a:cs typeface="Arial"/>
              </a:rPr>
              <a:t>users</a:t>
            </a:r>
            <a:r>
              <a:rPr sz="3000" spc="-80" dirty="0">
                <a:latin typeface="Arial"/>
                <a:cs typeface="Arial"/>
              </a:rPr>
              <a:t> </a:t>
            </a:r>
            <a:r>
              <a:rPr sz="3000" spc="-70" dirty="0">
                <a:latin typeface="Arial"/>
                <a:cs typeface="Arial"/>
              </a:rPr>
              <a:t>of  </a:t>
            </a:r>
            <a:r>
              <a:rPr sz="3000" spc="-15" dirty="0">
                <a:latin typeface="Arial"/>
                <a:cs typeface="Arial"/>
              </a:rPr>
              <a:t>WAN</a:t>
            </a:r>
            <a:r>
              <a:rPr sz="3000" spc="-70" dirty="0">
                <a:latin typeface="Arial"/>
                <a:cs typeface="Arial"/>
              </a:rPr>
              <a:t> </a:t>
            </a:r>
            <a:r>
              <a:rPr sz="3000" spc="-275" dirty="0">
                <a:latin typeface="Arial"/>
                <a:cs typeface="Arial"/>
              </a:rPr>
              <a:t>is</a:t>
            </a:r>
            <a:r>
              <a:rPr sz="3000" spc="-70" dirty="0">
                <a:latin typeface="Arial"/>
                <a:cs typeface="Arial"/>
              </a:rPr>
              <a:t> </a:t>
            </a:r>
            <a:r>
              <a:rPr sz="3000" spc="-135" dirty="0">
                <a:latin typeface="Arial"/>
                <a:cs typeface="Arial"/>
              </a:rPr>
              <a:t>established</a:t>
            </a:r>
            <a:r>
              <a:rPr sz="3000" spc="-80" dirty="0">
                <a:latin typeface="Arial"/>
                <a:cs typeface="Arial"/>
              </a:rPr>
              <a:t> </a:t>
            </a:r>
            <a:r>
              <a:rPr sz="3000" spc="-175" dirty="0">
                <a:latin typeface="Arial"/>
                <a:cs typeface="Arial"/>
              </a:rPr>
              <a:t>using</a:t>
            </a:r>
            <a:r>
              <a:rPr sz="3000" spc="-90" dirty="0">
                <a:latin typeface="Arial"/>
                <a:cs typeface="Arial"/>
              </a:rPr>
              <a:t> </a:t>
            </a:r>
            <a:r>
              <a:rPr sz="3000" spc="-145" dirty="0">
                <a:latin typeface="Arial"/>
                <a:cs typeface="Arial"/>
              </a:rPr>
              <a:t>leased</a:t>
            </a:r>
            <a:r>
              <a:rPr sz="3000" spc="-85" dirty="0">
                <a:latin typeface="Arial"/>
                <a:cs typeface="Arial"/>
              </a:rPr>
              <a:t> </a:t>
            </a:r>
            <a:r>
              <a:rPr sz="3000" spc="-95" dirty="0">
                <a:latin typeface="Arial"/>
                <a:cs typeface="Arial"/>
              </a:rPr>
              <a:t>telephone </a:t>
            </a:r>
            <a:r>
              <a:rPr sz="3000" spc="-145" dirty="0">
                <a:latin typeface="Arial"/>
                <a:cs typeface="Arial"/>
              </a:rPr>
              <a:t>lines, </a:t>
            </a:r>
            <a:r>
              <a:rPr sz="3000" spc="-735" dirty="0">
                <a:latin typeface="Arial"/>
                <a:cs typeface="Arial"/>
              </a:rPr>
              <a:t> </a:t>
            </a:r>
            <a:r>
              <a:rPr sz="3000" spc="-130" dirty="0">
                <a:latin typeface="Arial"/>
                <a:cs typeface="Arial"/>
              </a:rPr>
              <a:t>sa</a:t>
            </a:r>
            <a:r>
              <a:rPr sz="3000" spc="-90" dirty="0">
                <a:latin typeface="Arial"/>
                <a:cs typeface="Arial"/>
              </a:rPr>
              <a:t>t</a:t>
            </a:r>
            <a:r>
              <a:rPr sz="3000" spc="-40" dirty="0">
                <a:latin typeface="Arial"/>
                <a:cs typeface="Arial"/>
              </a:rPr>
              <a:t>ellite</a:t>
            </a:r>
            <a:r>
              <a:rPr sz="3000" spc="-75" dirty="0">
                <a:latin typeface="Arial"/>
                <a:cs typeface="Arial"/>
              </a:rPr>
              <a:t> </a:t>
            </a:r>
            <a:r>
              <a:rPr sz="3000" spc="-114" dirty="0">
                <a:latin typeface="Arial"/>
                <a:cs typeface="Arial"/>
              </a:rPr>
              <a:t>link</a:t>
            </a:r>
            <a:r>
              <a:rPr sz="3000" spc="-140" dirty="0">
                <a:latin typeface="Arial"/>
                <a:cs typeface="Arial"/>
              </a:rPr>
              <a:t>s</a:t>
            </a:r>
            <a:r>
              <a:rPr sz="3000" spc="-90" dirty="0">
                <a:latin typeface="Arial"/>
                <a:cs typeface="Arial"/>
              </a:rPr>
              <a:t> </a:t>
            </a:r>
            <a:r>
              <a:rPr sz="3000" spc="-30" dirty="0">
                <a:latin typeface="Arial"/>
                <a:cs typeface="Arial"/>
              </a:rPr>
              <a:t>and</a:t>
            </a:r>
            <a:r>
              <a:rPr sz="3000" spc="-95" dirty="0">
                <a:latin typeface="Arial"/>
                <a:cs typeface="Arial"/>
              </a:rPr>
              <a:t> </a:t>
            </a:r>
            <a:r>
              <a:rPr sz="3000" spc="-90" dirty="0">
                <a:latin typeface="Arial"/>
                <a:cs typeface="Arial"/>
              </a:rPr>
              <a:t>simil</a:t>
            </a:r>
            <a:r>
              <a:rPr sz="3000" spc="-125" dirty="0">
                <a:latin typeface="Arial"/>
                <a:cs typeface="Arial"/>
              </a:rPr>
              <a:t>a</a:t>
            </a:r>
            <a:r>
              <a:rPr sz="3000" spc="-25" dirty="0">
                <a:latin typeface="Arial"/>
                <a:cs typeface="Arial"/>
              </a:rPr>
              <a:t>r</a:t>
            </a:r>
            <a:r>
              <a:rPr sz="3000" spc="-75" dirty="0">
                <a:latin typeface="Arial"/>
                <a:cs typeface="Arial"/>
              </a:rPr>
              <a:t> </a:t>
            </a:r>
            <a:r>
              <a:rPr sz="3000" spc="-130" dirty="0">
                <a:latin typeface="Arial"/>
                <a:cs typeface="Arial"/>
              </a:rPr>
              <a:t>chann</a:t>
            </a:r>
            <a:r>
              <a:rPr sz="3000" spc="-180" dirty="0">
                <a:latin typeface="Arial"/>
                <a:cs typeface="Arial"/>
              </a:rPr>
              <a:t>els.</a:t>
            </a:r>
            <a:endParaRPr sz="3000">
              <a:latin typeface="Arial"/>
              <a:cs typeface="Arial"/>
            </a:endParaRPr>
          </a:p>
          <a:p>
            <a:pPr marL="332740" marR="325755" indent="-320675">
              <a:lnSpc>
                <a:spcPct val="80000"/>
              </a:lnSpc>
              <a:spcBef>
                <a:spcPts val="700"/>
              </a:spcBef>
              <a:buClr>
                <a:srgbClr val="DA1F28"/>
              </a:buClr>
              <a:buSzPct val="59259"/>
              <a:buFont typeface="Wingdings"/>
              <a:buChar char=""/>
              <a:tabLst>
                <a:tab pos="332740" algn="l"/>
                <a:tab pos="333375" algn="l"/>
              </a:tabLst>
            </a:pPr>
            <a:r>
              <a:rPr sz="3000" spc="85" dirty="0">
                <a:latin typeface="Arial"/>
                <a:cs typeface="Arial"/>
              </a:rPr>
              <a:t>It</a:t>
            </a:r>
            <a:r>
              <a:rPr sz="3000" spc="-95" dirty="0">
                <a:latin typeface="Arial"/>
                <a:cs typeface="Arial"/>
              </a:rPr>
              <a:t> </a:t>
            </a:r>
            <a:r>
              <a:rPr sz="3000" spc="-275" dirty="0">
                <a:latin typeface="Arial"/>
                <a:cs typeface="Arial"/>
              </a:rPr>
              <a:t>is</a:t>
            </a:r>
            <a:r>
              <a:rPr sz="3000" spc="-75" dirty="0">
                <a:latin typeface="Arial"/>
                <a:cs typeface="Arial"/>
              </a:rPr>
              <a:t> </a:t>
            </a:r>
            <a:r>
              <a:rPr sz="3000" spc="-220" dirty="0">
                <a:latin typeface="Arial"/>
                <a:cs typeface="Arial"/>
              </a:rPr>
              <a:t>ch</a:t>
            </a:r>
            <a:r>
              <a:rPr sz="3000" spc="-204" dirty="0">
                <a:latin typeface="Arial"/>
                <a:cs typeface="Arial"/>
              </a:rPr>
              <a:t>e</a:t>
            </a:r>
            <a:r>
              <a:rPr sz="3000" spc="25" dirty="0">
                <a:latin typeface="Arial"/>
                <a:cs typeface="Arial"/>
              </a:rPr>
              <a:t>a</a:t>
            </a:r>
            <a:r>
              <a:rPr sz="3000" spc="20" dirty="0">
                <a:latin typeface="Arial"/>
                <a:cs typeface="Arial"/>
              </a:rPr>
              <a:t>p</a:t>
            </a:r>
            <a:r>
              <a:rPr sz="3000" spc="-90" dirty="0">
                <a:latin typeface="Arial"/>
                <a:cs typeface="Arial"/>
              </a:rPr>
              <a:t>er</a:t>
            </a:r>
            <a:r>
              <a:rPr sz="3000" spc="-100" dirty="0">
                <a:latin typeface="Arial"/>
                <a:cs typeface="Arial"/>
              </a:rPr>
              <a:t> </a:t>
            </a:r>
            <a:r>
              <a:rPr sz="3000" spc="-30" dirty="0">
                <a:latin typeface="Arial"/>
                <a:cs typeface="Arial"/>
              </a:rPr>
              <a:t>and</a:t>
            </a:r>
            <a:r>
              <a:rPr sz="3000" spc="-90" dirty="0">
                <a:latin typeface="Arial"/>
                <a:cs typeface="Arial"/>
              </a:rPr>
              <a:t> </a:t>
            </a:r>
            <a:r>
              <a:rPr sz="3000" spc="-120" dirty="0">
                <a:latin typeface="Arial"/>
                <a:cs typeface="Arial"/>
              </a:rPr>
              <a:t>mor</a:t>
            </a:r>
            <a:r>
              <a:rPr sz="3000" spc="-100" dirty="0">
                <a:latin typeface="Arial"/>
                <a:cs typeface="Arial"/>
              </a:rPr>
              <a:t>e</a:t>
            </a:r>
            <a:r>
              <a:rPr sz="3000" spc="-80" dirty="0">
                <a:latin typeface="Arial"/>
                <a:cs typeface="Arial"/>
              </a:rPr>
              <a:t> </a:t>
            </a:r>
            <a:r>
              <a:rPr sz="3000" spc="-85" dirty="0">
                <a:latin typeface="Arial"/>
                <a:cs typeface="Arial"/>
              </a:rPr>
              <a:t>efficie</a:t>
            </a:r>
            <a:r>
              <a:rPr sz="3000" spc="-120" dirty="0">
                <a:latin typeface="Arial"/>
                <a:cs typeface="Arial"/>
              </a:rPr>
              <a:t>n</a:t>
            </a:r>
            <a:r>
              <a:rPr sz="3000" spc="120" dirty="0">
                <a:latin typeface="Arial"/>
                <a:cs typeface="Arial"/>
              </a:rPr>
              <a:t>t</a:t>
            </a:r>
            <a:r>
              <a:rPr sz="3000" spc="-105" dirty="0">
                <a:latin typeface="Arial"/>
                <a:cs typeface="Arial"/>
              </a:rPr>
              <a:t> </a:t>
            </a:r>
            <a:r>
              <a:rPr sz="3000" spc="-55" dirty="0">
                <a:latin typeface="Arial"/>
                <a:cs typeface="Arial"/>
              </a:rPr>
              <a:t>to</a:t>
            </a:r>
            <a:r>
              <a:rPr sz="3000" spc="-75" dirty="0">
                <a:latin typeface="Arial"/>
                <a:cs typeface="Arial"/>
              </a:rPr>
              <a:t> </a:t>
            </a:r>
            <a:r>
              <a:rPr sz="3000" spc="-254" dirty="0">
                <a:latin typeface="Arial"/>
                <a:cs typeface="Arial"/>
              </a:rPr>
              <a:t>use</a:t>
            </a:r>
            <a:r>
              <a:rPr sz="3000" spc="-80" dirty="0">
                <a:latin typeface="Arial"/>
                <a:cs typeface="Arial"/>
              </a:rPr>
              <a:t> </a:t>
            </a:r>
            <a:r>
              <a:rPr sz="3000" dirty="0">
                <a:latin typeface="Arial"/>
                <a:cs typeface="Arial"/>
              </a:rPr>
              <a:t>t</a:t>
            </a:r>
            <a:r>
              <a:rPr sz="3000" spc="5" dirty="0">
                <a:latin typeface="Arial"/>
                <a:cs typeface="Arial"/>
              </a:rPr>
              <a:t>h</a:t>
            </a:r>
            <a:r>
              <a:rPr sz="3000" spc="-150" dirty="0">
                <a:latin typeface="Arial"/>
                <a:cs typeface="Arial"/>
              </a:rPr>
              <a:t>e</a:t>
            </a:r>
            <a:r>
              <a:rPr sz="3000" spc="-90" dirty="0">
                <a:latin typeface="Arial"/>
                <a:cs typeface="Arial"/>
              </a:rPr>
              <a:t> </a:t>
            </a:r>
            <a:r>
              <a:rPr sz="3000" spc="-114" dirty="0">
                <a:latin typeface="Arial"/>
                <a:cs typeface="Arial"/>
              </a:rPr>
              <a:t>phone  </a:t>
            </a:r>
            <a:r>
              <a:rPr sz="3000" spc="-50" dirty="0">
                <a:latin typeface="Arial"/>
                <a:cs typeface="Arial"/>
              </a:rPr>
              <a:t>network</a:t>
            </a:r>
            <a:r>
              <a:rPr sz="3000" spc="-110" dirty="0">
                <a:latin typeface="Arial"/>
                <a:cs typeface="Arial"/>
              </a:rPr>
              <a:t> </a:t>
            </a:r>
            <a:r>
              <a:rPr sz="3000" spc="-70" dirty="0">
                <a:latin typeface="Arial"/>
                <a:cs typeface="Arial"/>
              </a:rPr>
              <a:t>for</a:t>
            </a:r>
            <a:r>
              <a:rPr sz="3000" spc="-95" dirty="0">
                <a:latin typeface="Arial"/>
                <a:cs typeface="Arial"/>
              </a:rPr>
              <a:t> </a:t>
            </a:r>
            <a:r>
              <a:rPr sz="3000" spc="-50" dirty="0">
                <a:latin typeface="Arial"/>
                <a:cs typeface="Arial"/>
              </a:rPr>
              <a:t>the</a:t>
            </a:r>
            <a:r>
              <a:rPr sz="3000" spc="-75" dirty="0">
                <a:latin typeface="Arial"/>
                <a:cs typeface="Arial"/>
              </a:rPr>
              <a:t> </a:t>
            </a:r>
            <a:r>
              <a:rPr sz="3000" spc="-15" dirty="0">
                <a:latin typeface="Arial"/>
                <a:cs typeface="Arial"/>
              </a:rPr>
              <a:t>link.</a:t>
            </a:r>
            <a:endParaRPr sz="3000">
              <a:latin typeface="Arial"/>
              <a:cs typeface="Arial"/>
            </a:endParaRPr>
          </a:p>
          <a:p>
            <a:pPr marL="332740" marR="601345" indent="-320675">
              <a:lnSpc>
                <a:spcPts val="2590"/>
              </a:lnSpc>
              <a:spcBef>
                <a:spcPts val="685"/>
              </a:spcBef>
              <a:buClr>
                <a:srgbClr val="DA1F28"/>
              </a:buClr>
              <a:buSzPct val="59259"/>
              <a:buFont typeface="Wingdings"/>
              <a:buChar char=""/>
              <a:tabLst>
                <a:tab pos="332740" algn="l"/>
                <a:tab pos="333375" algn="l"/>
              </a:tabLst>
            </a:pPr>
            <a:endParaRPr sz="2700">
              <a:latin typeface="Arial"/>
              <a:cs typeface="Arial"/>
            </a:endParaRPr>
          </a:p>
        </p:txBody>
      </p:sp>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0130" y="459689"/>
            <a:ext cx="7546340" cy="514350"/>
          </a:xfrm>
          <a:prstGeom prst="rect">
            <a:avLst/>
          </a:prstGeom>
        </p:spPr>
        <p:txBody>
          <a:bodyPr vert="horz" wrap="square" lIns="0" tIns="13335" rIns="0" bIns="0" rtlCol="0">
            <a:spAutoFit/>
          </a:bodyPr>
          <a:lstStyle/>
          <a:p>
            <a:pPr marL="12700">
              <a:lnSpc>
                <a:spcPct val="100000"/>
              </a:lnSpc>
              <a:spcBef>
                <a:spcPts val="105"/>
              </a:spcBef>
            </a:pPr>
            <a:r>
              <a:rPr sz="3200" spc="-130" dirty="0"/>
              <a:t>METROPOLITAN</a:t>
            </a:r>
            <a:r>
              <a:rPr sz="3200" spc="-135" dirty="0"/>
              <a:t> </a:t>
            </a:r>
            <a:r>
              <a:rPr sz="3200" spc="-195" dirty="0"/>
              <a:t>AREA</a:t>
            </a:r>
            <a:r>
              <a:rPr sz="3200" spc="-90" dirty="0"/>
              <a:t> </a:t>
            </a:r>
            <a:r>
              <a:rPr sz="3200" spc="-65" dirty="0"/>
              <a:t>NETWORK(MAN)</a:t>
            </a:r>
            <a:endParaRPr sz="3200"/>
          </a:p>
        </p:txBody>
      </p:sp>
      <p:sp>
        <p:nvSpPr>
          <p:cNvPr id="3" name="object 3"/>
          <p:cNvSpPr txBox="1"/>
          <p:nvPr/>
        </p:nvSpPr>
        <p:spPr>
          <a:xfrm>
            <a:off x="691387" y="1625930"/>
            <a:ext cx="7883525" cy="3727302"/>
          </a:xfrm>
          <a:prstGeom prst="rect">
            <a:avLst/>
          </a:prstGeom>
        </p:spPr>
        <p:txBody>
          <a:bodyPr vert="horz" wrap="square" lIns="0" tIns="13335" rIns="0" bIns="0" rtlCol="0">
            <a:spAutoFit/>
          </a:bodyPr>
          <a:lstStyle/>
          <a:p>
            <a:pPr marL="332740" marR="250190" indent="-320675">
              <a:lnSpc>
                <a:spcPct val="100000"/>
              </a:lnSpc>
              <a:spcBef>
                <a:spcPts val="105"/>
              </a:spcBef>
              <a:buClr>
                <a:srgbClr val="DA1F28"/>
              </a:buClr>
              <a:buSzPct val="60344"/>
              <a:buFont typeface="Wingdings"/>
              <a:buChar char=""/>
              <a:tabLst>
                <a:tab pos="333375" algn="l"/>
              </a:tabLst>
            </a:pPr>
            <a:r>
              <a:rPr sz="3400" spc="95" dirty="0">
                <a:latin typeface="Arial"/>
                <a:cs typeface="Arial"/>
              </a:rPr>
              <a:t>It</a:t>
            </a:r>
            <a:r>
              <a:rPr sz="3400" spc="-90" dirty="0">
                <a:latin typeface="Arial"/>
                <a:cs typeface="Arial"/>
              </a:rPr>
              <a:t> </a:t>
            </a:r>
            <a:r>
              <a:rPr sz="3400" spc="-295">
                <a:latin typeface="Arial"/>
                <a:cs typeface="Arial"/>
              </a:rPr>
              <a:t>is</a:t>
            </a:r>
            <a:r>
              <a:rPr sz="3400" spc="-95">
                <a:latin typeface="Arial"/>
                <a:cs typeface="Arial"/>
              </a:rPr>
              <a:t> </a:t>
            </a:r>
            <a:r>
              <a:rPr lang="en-US" sz="3400" spc="-70" dirty="0">
                <a:latin typeface="Arial"/>
                <a:cs typeface="Arial"/>
              </a:rPr>
              <a:t>interconnects with the computer resources in a geographic region of the size of metropolitan area(city)</a:t>
            </a:r>
          </a:p>
          <a:p>
            <a:pPr marL="332740" marR="250190" indent="-320675">
              <a:lnSpc>
                <a:spcPct val="100000"/>
              </a:lnSpc>
              <a:spcBef>
                <a:spcPts val="105"/>
              </a:spcBef>
              <a:buClr>
                <a:srgbClr val="DA1F28"/>
              </a:buClr>
              <a:buSzPct val="60344"/>
              <a:tabLst>
                <a:tab pos="333375" algn="l"/>
              </a:tabLst>
            </a:pPr>
            <a:endParaRPr lang="en-US" sz="3400" spc="-70" dirty="0">
              <a:latin typeface="Arial"/>
              <a:cs typeface="Arial"/>
            </a:endParaRPr>
          </a:p>
          <a:p>
            <a:pPr marL="332740" marR="250190" indent="-320675">
              <a:lnSpc>
                <a:spcPct val="100000"/>
              </a:lnSpc>
              <a:spcBef>
                <a:spcPts val="105"/>
              </a:spcBef>
              <a:buClr>
                <a:srgbClr val="DA1F28"/>
              </a:buClr>
              <a:buSzPct val="60344"/>
              <a:buFont typeface="Wingdings"/>
              <a:buChar char=""/>
              <a:tabLst>
                <a:tab pos="333375" algn="l"/>
              </a:tabLst>
            </a:pPr>
            <a:r>
              <a:rPr lang="en-US" sz="3400" spc="-70" dirty="0">
                <a:latin typeface="Arial"/>
                <a:cs typeface="Arial"/>
              </a:rPr>
              <a:t>MAN Devices</a:t>
            </a:r>
          </a:p>
          <a:p>
            <a:pPr marL="789940" marR="250190" lvl="1" indent="-320675">
              <a:spcBef>
                <a:spcPts val="105"/>
              </a:spcBef>
              <a:buClr>
                <a:srgbClr val="DA1F28"/>
              </a:buClr>
              <a:buSzPct val="60344"/>
              <a:buFont typeface="Wingdings" pitchFamily="2" charset="2"/>
              <a:buChar char="v"/>
              <a:tabLst>
                <a:tab pos="333375" algn="l"/>
              </a:tabLst>
            </a:pPr>
            <a:r>
              <a:rPr lang="en-US" sz="3400" spc="-70" dirty="0">
                <a:latin typeface="Arial"/>
                <a:cs typeface="Arial"/>
              </a:rPr>
              <a:t>Switch/hub</a:t>
            </a:r>
          </a:p>
          <a:p>
            <a:pPr marL="789940" marR="250190" lvl="1" indent="-320675">
              <a:spcBef>
                <a:spcPts val="105"/>
              </a:spcBef>
              <a:buClr>
                <a:srgbClr val="DA1F28"/>
              </a:buClr>
              <a:buSzPct val="60344"/>
              <a:buFont typeface="Wingdings" pitchFamily="2" charset="2"/>
              <a:buChar char="v"/>
              <a:tabLst>
                <a:tab pos="333375" algn="l"/>
              </a:tabLst>
            </a:pPr>
            <a:r>
              <a:rPr lang="en-US" sz="3400" spc="-70" dirty="0">
                <a:latin typeface="Arial"/>
                <a:cs typeface="Arial"/>
              </a:rPr>
              <a:t>Routers/bridges</a:t>
            </a:r>
            <a:endParaRPr sz="3400">
              <a:latin typeface="Arial"/>
              <a:cs typeface="Arial"/>
            </a:endParaRPr>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95275" y="219011"/>
            <a:ext cx="5591175" cy="3488054"/>
            <a:chOff x="295275" y="219011"/>
            <a:chExt cx="5591175" cy="3488054"/>
          </a:xfrm>
        </p:grpSpPr>
        <p:pic>
          <p:nvPicPr>
            <p:cNvPr id="3" name="object 3"/>
            <p:cNvPicPr/>
            <p:nvPr/>
          </p:nvPicPr>
          <p:blipFill>
            <a:blip r:embed="rId2" cstate="print"/>
            <a:stretch>
              <a:fillRect/>
            </a:stretch>
          </p:blipFill>
          <p:spPr>
            <a:xfrm>
              <a:off x="2895600" y="1371599"/>
              <a:ext cx="2762694" cy="2325497"/>
            </a:xfrm>
            <a:prstGeom prst="rect">
              <a:avLst/>
            </a:prstGeom>
          </p:spPr>
        </p:pic>
        <p:sp>
          <p:nvSpPr>
            <p:cNvPr id="4" name="object 4"/>
            <p:cNvSpPr/>
            <p:nvPr/>
          </p:nvSpPr>
          <p:spPr>
            <a:xfrm>
              <a:off x="2890773" y="1366774"/>
              <a:ext cx="2990850" cy="2335530"/>
            </a:xfrm>
            <a:custGeom>
              <a:avLst/>
              <a:gdLst/>
              <a:ahLst/>
              <a:cxnLst/>
              <a:rect l="l" t="t" r="r" b="b"/>
              <a:pathLst>
                <a:path w="2990850" h="2335529">
                  <a:moveTo>
                    <a:pt x="0" y="2335022"/>
                  </a:moveTo>
                  <a:lnTo>
                    <a:pt x="2990850" y="2335022"/>
                  </a:lnTo>
                  <a:lnTo>
                    <a:pt x="2990850" y="0"/>
                  </a:lnTo>
                  <a:lnTo>
                    <a:pt x="0" y="0"/>
                  </a:lnTo>
                  <a:lnTo>
                    <a:pt x="0" y="2335022"/>
                  </a:lnTo>
                  <a:close/>
                </a:path>
              </a:pathLst>
            </a:custGeom>
            <a:ln w="9525">
              <a:solidFill>
                <a:srgbClr val="000000"/>
              </a:solidFill>
            </a:ln>
          </p:spPr>
          <p:txBody>
            <a:bodyPr wrap="square" lIns="0" tIns="0" rIns="0" bIns="0" rtlCol="0"/>
            <a:lstStyle/>
            <a:p>
              <a:endParaRPr/>
            </a:p>
          </p:txBody>
        </p:sp>
        <p:pic>
          <p:nvPicPr>
            <p:cNvPr id="5" name="object 5"/>
            <p:cNvPicPr/>
            <p:nvPr/>
          </p:nvPicPr>
          <p:blipFill>
            <a:blip r:embed="rId3" cstate="print"/>
            <a:stretch>
              <a:fillRect/>
            </a:stretch>
          </p:blipFill>
          <p:spPr>
            <a:xfrm>
              <a:off x="304800" y="228600"/>
              <a:ext cx="2743200" cy="2029967"/>
            </a:xfrm>
            <a:prstGeom prst="rect">
              <a:avLst/>
            </a:prstGeom>
          </p:spPr>
        </p:pic>
        <p:sp>
          <p:nvSpPr>
            <p:cNvPr id="6" name="object 6"/>
            <p:cNvSpPr/>
            <p:nvPr/>
          </p:nvSpPr>
          <p:spPr>
            <a:xfrm>
              <a:off x="300037" y="223774"/>
              <a:ext cx="2752725" cy="2039620"/>
            </a:xfrm>
            <a:custGeom>
              <a:avLst/>
              <a:gdLst/>
              <a:ahLst/>
              <a:cxnLst/>
              <a:rect l="l" t="t" r="r" b="b"/>
              <a:pathLst>
                <a:path w="2752725" h="2039620">
                  <a:moveTo>
                    <a:pt x="0" y="2039492"/>
                  </a:moveTo>
                  <a:lnTo>
                    <a:pt x="2752725" y="2039492"/>
                  </a:lnTo>
                  <a:lnTo>
                    <a:pt x="2752725" y="0"/>
                  </a:lnTo>
                  <a:lnTo>
                    <a:pt x="0" y="0"/>
                  </a:lnTo>
                  <a:lnTo>
                    <a:pt x="0" y="2039492"/>
                  </a:lnTo>
                  <a:close/>
                </a:path>
              </a:pathLst>
            </a:custGeom>
            <a:ln w="9525">
              <a:solidFill>
                <a:srgbClr val="000000"/>
              </a:solidFill>
            </a:ln>
          </p:spPr>
          <p:txBody>
            <a:bodyPr wrap="square" lIns="0" tIns="0" rIns="0" bIns="0" rtlCol="0"/>
            <a:lstStyle/>
            <a:p>
              <a:endParaRPr/>
            </a:p>
          </p:txBody>
        </p:sp>
      </p:grpSp>
      <p:pic>
        <p:nvPicPr>
          <p:cNvPr id="7" name="object 7"/>
          <p:cNvPicPr/>
          <p:nvPr/>
        </p:nvPicPr>
        <p:blipFill>
          <a:blip r:embed="rId4" cstate="print"/>
          <a:stretch>
            <a:fillRect/>
          </a:stretch>
        </p:blipFill>
        <p:spPr>
          <a:xfrm>
            <a:off x="5638800" y="4267212"/>
            <a:ext cx="3058899" cy="2183384"/>
          </a:xfrm>
          <a:prstGeom prst="rect">
            <a:avLst/>
          </a:prstGeom>
        </p:spPr>
      </p:pic>
      <p:pic>
        <p:nvPicPr>
          <p:cNvPr id="8" name="object 8"/>
          <p:cNvPicPr/>
          <p:nvPr/>
        </p:nvPicPr>
        <p:blipFill>
          <a:blip r:embed="rId5" cstate="print"/>
          <a:stretch>
            <a:fillRect/>
          </a:stretch>
        </p:blipFill>
        <p:spPr>
          <a:xfrm>
            <a:off x="6109451" y="228600"/>
            <a:ext cx="2465420" cy="2286146"/>
          </a:xfrm>
          <a:prstGeom prst="rect">
            <a:avLst/>
          </a:prstGeom>
        </p:spPr>
      </p:pic>
      <p:pic>
        <p:nvPicPr>
          <p:cNvPr id="9" name="object 9"/>
          <p:cNvPicPr/>
          <p:nvPr/>
        </p:nvPicPr>
        <p:blipFill>
          <a:blip r:embed="rId6" cstate="print"/>
          <a:stretch>
            <a:fillRect/>
          </a:stretch>
        </p:blipFill>
        <p:spPr>
          <a:xfrm>
            <a:off x="228600" y="3898341"/>
            <a:ext cx="4267200" cy="2749270"/>
          </a:xfrm>
          <a:prstGeom prst="rect">
            <a:avLst/>
          </a:prstGeom>
        </p:spPr>
      </p:pic>
      <p:sp>
        <p:nvSpPr>
          <p:cNvPr id="10" name="object 10"/>
          <p:cNvSpPr txBox="1"/>
          <p:nvPr/>
        </p:nvSpPr>
        <p:spPr>
          <a:xfrm>
            <a:off x="6013450" y="222250"/>
            <a:ext cx="2629535" cy="2338070"/>
          </a:xfrm>
          <a:prstGeom prst="rect">
            <a:avLst/>
          </a:prstGeom>
          <a:ln w="12700">
            <a:solidFill>
              <a:srgbClr val="000000"/>
            </a:solidFill>
          </a:ln>
        </p:spPr>
        <p:txBody>
          <a:bodyPr vert="horz" wrap="square" lIns="0" tIns="46990" rIns="0" bIns="0" rtlCol="0">
            <a:spAutoFit/>
          </a:bodyPr>
          <a:lstStyle/>
          <a:p>
            <a:pPr marL="153035">
              <a:lnSpc>
                <a:spcPct val="100000"/>
              </a:lnSpc>
              <a:spcBef>
                <a:spcPts val="370"/>
              </a:spcBef>
            </a:pPr>
            <a:r>
              <a:rPr sz="1800" b="1" spc="-10" dirty="0">
                <a:latin typeface="Arial"/>
                <a:cs typeface="Arial"/>
              </a:rPr>
              <a:t>WAN</a:t>
            </a:r>
            <a:endParaRPr sz="1800">
              <a:latin typeface="Arial"/>
              <a:cs typeface="Arial"/>
            </a:endParaRPr>
          </a:p>
        </p:txBody>
      </p:sp>
      <p:sp>
        <p:nvSpPr>
          <p:cNvPr id="11" name="object 11"/>
          <p:cNvSpPr txBox="1"/>
          <p:nvPr/>
        </p:nvSpPr>
        <p:spPr>
          <a:xfrm>
            <a:off x="5633973" y="4262450"/>
            <a:ext cx="3081020" cy="2193290"/>
          </a:xfrm>
          <a:prstGeom prst="rect">
            <a:avLst/>
          </a:prstGeom>
          <a:ln w="9525">
            <a:solidFill>
              <a:srgbClr val="000000"/>
            </a:solidFill>
          </a:ln>
        </p:spPr>
        <p:txBody>
          <a:bodyPr vert="horz" wrap="square" lIns="0" tIns="0" rIns="0" bIns="0" rtlCol="0">
            <a:spAutoFit/>
          </a:bodyPr>
          <a:lstStyle/>
          <a:p>
            <a:pPr marL="304165">
              <a:lnSpc>
                <a:spcPts val="1930"/>
              </a:lnSpc>
            </a:pPr>
            <a:r>
              <a:rPr sz="1800" b="1" spc="-15" dirty="0">
                <a:latin typeface="Arial"/>
                <a:cs typeface="Arial"/>
              </a:rPr>
              <a:t>MAN</a:t>
            </a:r>
            <a:endParaRPr sz="1800">
              <a:latin typeface="Arial"/>
              <a:cs typeface="Arial"/>
            </a:endParaRPr>
          </a:p>
        </p:txBody>
      </p:sp>
      <p:sp>
        <p:nvSpPr>
          <p:cNvPr id="12" name="object 12"/>
          <p:cNvSpPr txBox="1"/>
          <p:nvPr/>
        </p:nvSpPr>
        <p:spPr>
          <a:xfrm>
            <a:off x="223837" y="3873462"/>
            <a:ext cx="4276725" cy="2785745"/>
          </a:xfrm>
          <a:prstGeom prst="rect">
            <a:avLst/>
          </a:prstGeom>
          <a:ln w="9525">
            <a:solidFill>
              <a:srgbClr val="000000"/>
            </a:solidFill>
          </a:ln>
        </p:spPr>
        <p:txBody>
          <a:bodyPr vert="horz" wrap="square" lIns="0" tIns="100330" rIns="0" bIns="0" rtlCol="0">
            <a:spAutoFit/>
          </a:bodyPr>
          <a:lstStyle/>
          <a:p>
            <a:pPr marL="172085">
              <a:lnSpc>
                <a:spcPct val="100000"/>
              </a:lnSpc>
              <a:spcBef>
                <a:spcPts val="790"/>
              </a:spcBef>
            </a:pPr>
            <a:r>
              <a:rPr sz="1800" b="1" spc="-70" dirty="0">
                <a:latin typeface="Arial"/>
                <a:cs typeface="Arial"/>
              </a:rPr>
              <a:t>CAN</a:t>
            </a:r>
            <a:endParaRPr sz="1800">
              <a:latin typeface="Arial"/>
              <a:cs typeface="Arial"/>
            </a:endParaRPr>
          </a:p>
        </p:txBody>
      </p:sp>
      <p:sp>
        <p:nvSpPr>
          <p:cNvPr id="13" name="object 13"/>
          <p:cNvSpPr txBox="1"/>
          <p:nvPr/>
        </p:nvSpPr>
        <p:spPr>
          <a:xfrm>
            <a:off x="3965575" y="1446021"/>
            <a:ext cx="503555" cy="299720"/>
          </a:xfrm>
          <a:prstGeom prst="rect">
            <a:avLst/>
          </a:prstGeom>
        </p:spPr>
        <p:txBody>
          <a:bodyPr vert="horz" wrap="square" lIns="0" tIns="12700" rIns="0" bIns="0" rtlCol="0">
            <a:spAutoFit/>
          </a:bodyPr>
          <a:lstStyle/>
          <a:p>
            <a:pPr marL="12700">
              <a:lnSpc>
                <a:spcPct val="100000"/>
              </a:lnSpc>
              <a:spcBef>
                <a:spcPts val="100"/>
              </a:spcBef>
            </a:pPr>
            <a:r>
              <a:rPr sz="1800" b="1" spc="-15" dirty="0">
                <a:latin typeface="Arial"/>
                <a:cs typeface="Arial"/>
              </a:rPr>
              <a:t>PAN</a:t>
            </a:r>
            <a:endParaRPr sz="1800">
              <a:latin typeface="Arial"/>
              <a:cs typeface="Arial"/>
            </a:endParaRPr>
          </a:p>
        </p:txBody>
      </p:sp>
      <p:sp>
        <p:nvSpPr>
          <p:cNvPr id="14" name="object 14"/>
          <p:cNvSpPr txBox="1"/>
          <p:nvPr/>
        </p:nvSpPr>
        <p:spPr>
          <a:xfrm>
            <a:off x="383540" y="455117"/>
            <a:ext cx="479425" cy="300355"/>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LAN</a:t>
            </a:r>
            <a:endParaRPr sz="1800">
              <a:latin typeface="Arial"/>
              <a:cs typeface="Arial"/>
            </a:endParaRP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57198" y="1524000"/>
          <a:ext cx="8229604" cy="5181599"/>
        </p:xfrm>
        <a:graphic>
          <a:graphicData uri="http://schemas.openxmlformats.org/drawingml/2006/table">
            <a:tbl>
              <a:tblPr firstRow="1" bandRow="1">
                <a:tableStyleId>{2D5ABB26-0587-4C30-8999-92F81FD0307C}</a:tableStyleId>
              </a:tblPr>
              <a:tblGrid>
                <a:gridCol w="2057401">
                  <a:extLst>
                    <a:ext uri="{9D8B030D-6E8A-4147-A177-3AD203B41FA5}">
                      <a16:colId xmlns:a16="http://schemas.microsoft.com/office/drawing/2014/main" val="20000"/>
                    </a:ext>
                  </a:extLst>
                </a:gridCol>
                <a:gridCol w="2057401">
                  <a:extLst>
                    <a:ext uri="{9D8B030D-6E8A-4147-A177-3AD203B41FA5}">
                      <a16:colId xmlns:a16="http://schemas.microsoft.com/office/drawing/2014/main" val="20001"/>
                    </a:ext>
                  </a:extLst>
                </a:gridCol>
                <a:gridCol w="2057401">
                  <a:extLst>
                    <a:ext uri="{9D8B030D-6E8A-4147-A177-3AD203B41FA5}">
                      <a16:colId xmlns:a16="http://schemas.microsoft.com/office/drawing/2014/main" val="20002"/>
                    </a:ext>
                  </a:extLst>
                </a:gridCol>
                <a:gridCol w="2057401">
                  <a:extLst>
                    <a:ext uri="{9D8B030D-6E8A-4147-A177-3AD203B41FA5}">
                      <a16:colId xmlns:a16="http://schemas.microsoft.com/office/drawing/2014/main" val="20003"/>
                    </a:ext>
                  </a:extLst>
                </a:gridCol>
              </a:tblGrid>
              <a:tr h="396165">
                <a:tc>
                  <a:txBody>
                    <a:bodyPr/>
                    <a:lstStyle/>
                    <a:p>
                      <a:pPr algn="ctr">
                        <a:lnSpc>
                          <a:spcPct val="100000"/>
                        </a:lnSpc>
                        <a:spcBef>
                          <a:spcPts val="545"/>
                        </a:spcBef>
                      </a:pPr>
                      <a:r>
                        <a:rPr sz="2000" b="1" spc="-160" dirty="0">
                          <a:solidFill>
                            <a:srgbClr val="FFFFFF"/>
                          </a:solidFill>
                          <a:latin typeface="Arial"/>
                          <a:cs typeface="Arial"/>
                        </a:rPr>
                        <a:t>PARAMETERS</a:t>
                      </a:r>
                      <a:endParaRPr sz="2000">
                        <a:latin typeface="Arial"/>
                        <a:cs typeface="Arial"/>
                      </a:endParaRPr>
                    </a:p>
                  </a:txBody>
                  <a:tcPr marL="0" marR="0" marT="692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CA1BE"/>
                    </a:solidFill>
                  </a:tcPr>
                </a:tc>
                <a:tc>
                  <a:txBody>
                    <a:bodyPr/>
                    <a:lstStyle/>
                    <a:p>
                      <a:pPr algn="ctr">
                        <a:lnSpc>
                          <a:spcPct val="100000"/>
                        </a:lnSpc>
                        <a:spcBef>
                          <a:spcPts val="545"/>
                        </a:spcBef>
                      </a:pPr>
                      <a:r>
                        <a:rPr sz="2000" b="1" spc="-45" dirty="0">
                          <a:solidFill>
                            <a:srgbClr val="FFFFFF"/>
                          </a:solidFill>
                          <a:latin typeface="Arial"/>
                          <a:cs typeface="Arial"/>
                        </a:rPr>
                        <a:t>LAN</a:t>
                      </a:r>
                      <a:endParaRPr sz="2000">
                        <a:latin typeface="Arial"/>
                        <a:cs typeface="Arial"/>
                      </a:endParaRPr>
                    </a:p>
                  </a:txBody>
                  <a:tcPr marL="0" marR="0" marT="692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CA1BE"/>
                    </a:solidFill>
                  </a:tcPr>
                </a:tc>
                <a:tc>
                  <a:txBody>
                    <a:bodyPr/>
                    <a:lstStyle/>
                    <a:p>
                      <a:pPr algn="ctr">
                        <a:lnSpc>
                          <a:spcPct val="100000"/>
                        </a:lnSpc>
                        <a:spcBef>
                          <a:spcPts val="545"/>
                        </a:spcBef>
                      </a:pPr>
                      <a:r>
                        <a:rPr sz="2000" b="1" spc="-5" dirty="0">
                          <a:solidFill>
                            <a:srgbClr val="FFFFFF"/>
                          </a:solidFill>
                          <a:latin typeface="Arial"/>
                          <a:cs typeface="Arial"/>
                        </a:rPr>
                        <a:t>WAN</a:t>
                      </a:r>
                      <a:endParaRPr sz="2000">
                        <a:latin typeface="Arial"/>
                        <a:cs typeface="Arial"/>
                      </a:endParaRPr>
                    </a:p>
                  </a:txBody>
                  <a:tcPr marL="0" marR="0" marT="692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CA1BE"/>
                    </a:solidFill>
                  </a:tcPr>
                </a:tc>
                <a:tc>
                  <a:txBody>
                    <a:bodyPr/>
                    <a:lstStyle/>
                    <a:p>
                      <a:pPr algn="ctr">
                        <a:lnSpc>
                          <a:spcPct val="100000"/>
                        </a:lnSpc>
                        <a:spcBef>
                          <a:spcPts val="545"/>
                        </a:spcBef>
                      </a:pPr>
                      <a:r>
                        <a:rPr sz="2000" b="1" spc="-15" dirty="0">
                          <a:solidFill>
                            <a:srgbClr val="FFFFFF"/>
                          </a:solidFill>
                          <a:latin typeface="Arial"/>
                          <a:cs typeface="Arial"/>
                        </a:rPr>
                        <a:t>MAN</a:t>
                      </a:r>
                      <a:endParaRPr sz="2000">
                        <a:latin typeface="Arial"/>
                        <a:cs typeface="Arial"/>
                      </a:endParaRPr>
                    </a:p>
                  </a:txBody>
                  <a:tcPr marL="0" marR="0" marT="692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CA1BE"/>
                    </a:solidFill>
                  </a:tcPr>
                </a:tc>
                <a:extLst>
                  <a:ext uri="{0D108BD9-81ED-4DB2-BD59-A6C34878D82A}">
                    <a16:rowId xmlns:a16="http://schemas.microsoft.com/office/drawing/2014/main" val="10000"/>
                  </a:ext>
                </a:extLst>
              </a:tr>
              <a:tr h="610833">
                <a:tc>
                  <a:txBody>
                    <a:bodyPr/>
                    <a:lstStyle/>
                    <a:p>
                      <a:pPr algn="ctr">
                        <a:lnSpc>
                          <a:spcPct val="100000"/>
                        </a:lnSpc>
                        <a:spcBef>
                          <a:spcPts val="790"/>
                        </a:spcBef>
                      </a:pPr>
                      <a:r>
                        <a:rPr sz="1600" b="1" dirty="0">
                          <a:solidFill>
                            <a:srgbClr val="21798F"/>
                          </a:solidFill>
                          <a:latin typeface="Arial"/>
                          <a:cs typeface="Arial"/>
                        </a:rPr>
                        <a:t>Ow</a:t>
                      </a:r>
                      <a:r>
                        <a:rPr sz="1600" b="1" spc="-5" dirty="0">
                          <a:solidFill>
                            <a:srgbClr val="21798F"/>
                          </a:solidFill>
                          <a:latin typeface="Arial"/>
                          <a:cs typeface="Arial"/>
                        </a:rPr>
                        <a:t>n</a:t>
                      </a:r>
                      <a:r>
                        <a:rPr sz="1600" b="1" dirty="0">
                          <a:solidFill>
                            <a:srgbClr val="21798F"/>
                          </a:solidFill>
                          <a:latin typeface="Arial"/>
                          <a:cs typeface="Arial"/>
                        </a:rPr>
                        <a:t>e</a:t>
                      </a:r>
                      <a:r>
                        <a:rPr sz="1600" b="1" spc="5" dirty="0">
                          <a:solidFill>
                            <a:srgbClr val="21798F"/>
                          </a:solidFill>
                          <a:latin typeface="Arial"/>
                          <a:cs typeface="Arial"/>
                        </a:rPr>
                        <a:t>r</a:t>
                      </a:r>
                      <a:r>
                        <a:rPr sz="1600" b="1" dirty="0">
                          <a:solidFill>
                            <a:srgbClr val="21798F"/>
                          </a:solidFill>
                          <a:latin typeface="Arial"/>
                          <a:cs typeface="Arial"/>
                        </a:rPr>
                        <a:t>s</a:t>
                      </a:r>
                      <a:r>
                        <a:rPr sz="1600" b="1" spc="-10" dirty="0">
                          <a:solidFill>
                            <a:srgbClr val="21798F"/>
                          </a:solidFill>
                          <a:latin typeface="Arial"/>
                          <a:cs typeface="Arial"/>
                        </a:rPr>
                        <a:t>h</a:t>
                      </a:r>
                      <a:r>
                        <a:rPr sz="1600" b="1" dirty="0">
                          <a:solidFill>
                            <a:srgbClr val="21798F"/>
                          </a:solidFill>
                          <a:latin typeface="Arial"/>
                          <a:cs typeface="Arial"/>
                        </a:rPr>
                        <a:t>ip</a:t>
                      </a:r>
                      <a:r>
                        <a:rPr sz="1600" b="1" spc="-30" dirty="0">
                          <a:solidFill>
                            <a:srgbClr val="21798F"/>
                          </a:solidFill>
                          <a:latin typeface="Arial"/>
                          <a:cs typeface="Arial"/>
                        </a:rPr>
                        <a:t> </a:t>
                      </a:r>
                      <a:r>
                        <a:rPr sz="1600" b="1" dirty="0">
                          <a:solidFill>
                            <a:srgbClr val="21798F"/>
                          </a:solidFill>
                          <a:latin typeface="Arial"/>
                          <a:cs typeface="Arial"/>
                        </a:rPr>
                        <a:t>of</a:t>
                      </a:r>
                      <a:endParaRPr sz="1600">
                        <a:latin typeface="Arial"/>
                        <a:cs typeface="Arial"/>
                      </a:endParaRPr>
                    </a:p>
                    <a:p>
                      <a:pPr algn="ctr">
                        <a:lnSpc>
                          <a:spcPct val="100000"/>
                        </a:lnSpc>
                      </a:pPr>
                      <a:r>
                        <a:rPr sz="1600" b="1" spc="-30" dirty="0">
                          <a:solidFill>
                            <a:srgbClr val="21798F"/>
                          </a:solidFill>
                          <a:latin typeface="Arial"/>
                          <a:cs typeface="Arial"/>
                        </a:rPr>
                        <a:t>network</a:t>
                      </a:r>
                      <a:endParaRPr sz="1600">
                        <a:latin typeface="Arial"/>
                        <a:cs typeface="Arial"/>
                      </a:endParaRPr>
                    </a:p>
                  </a:txBody>
                  <a:tcPr marL="0" marR="0" marT="1003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FE8"/>
                    </a:solidFill>
                  </a:tcPr>
                </a:tc>
                <a:tc>
                  <a:txBody>
                    <a:bodyPr/>
                    <a:lstStyle/>
                    <a:p>
                      <a:pPr>
                        <a:lnSpc>
                          <a:spcPct val="100000"/>
                        </a:lnSpc>
                        <a:spcBef>
                          <a:spcPts val="25"/>
                        </a:spcBef>
                      </a:pPr>
                      <a:endParaRPr sz="1500">
                        <a:latin typeface="Times New Roman"/>
                        <a:cs typeface="Times New Roman"/>
                      </a:endParaRPr>
                    </a:p>
                    <a:p>
                      <a:pPr algn="ctr">
                        <a:lnSpc>
                          <a:spcPct val="100000"/>
                        </a:lnSpc>
                      </a:pPr>
                      <a:r>
                        <a:rPr sz="1600" b="1" spc="-10" dirty="0">
                          <a:latin typeface="Arial"/>
                          <a:cs typeface="Arial"/>
                        </a:rPr>
                        <a:t>Private</a:t>
                      </a:r>
                      <a:endParaRPr sz="1600">
                        <a:latin typeface="Arial"/>
                        <a:cs typeface="Arial"/>
                      </a:endParaRPr>
                    </a:p>
                  </a:txBody>
                  <a:tcPr marL="0" marR="0" marT="31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FE8"/>
                    </a:solidFill>
                  </a:tcPr>
                </a:tc>
                <a:tc>
                  <a:txBody>
                    <a:bodyPr/>
                    <a:lstStyle/>
                    <a:p>
                      <a:pPr>
                        <a:lnSpc>
                          <a:spcPct val="100000"/>
                        </a:lnSpc>
                        <a:spcBef>
                          <a:spcPts val="25"/>
                        </a:spcBef>
                      </a:pPr>
                      <a:endParaRPr sz="1500">
                        <a:latin typeface="Times New Roman"/>
                        <a:cs typeface="Times New Roman"/>
                      </a:endParaRPr>
                    </a:p>
                    <a:p>
                      <a:pPr marL="635" algn="ctr">
                        <a:lnSpc>
                          <a:spcPct val="100000"/>
                        </a:lnSpc>
                      </a:pPr>
                      <a:r>
                        <a:rPr sz="1600" b="1" dirty="0">
                          <a:latin typeface="Arial"/>
                          <a:cs typeface="Arial"/>
                        </a:rPr>
                        <a:t>P</a:t>
                      </a:r>
                      <a:r>
                        <a:rPr sz="1600" b="1" spc="5" dirty="0">
                          <a:latin typeface="Arial"/>
                          <a:cs typeface="Arial"/>
                        </a:rPr>
                        <a:t>r</a:t>
                      </a:r>
                      <a:r>
                        <a:rPr sz="1600" b="1" dirty="0">
                          <a:latin typeface="Arial"/>
                          <a:cs typeface="Arial"/>
                        </a:rPr>
                        <a:t>i</a:t>
                      </a:r>
                      <a:r>
                        <a:rPr sz="1600" b="1" spc="-5" dirty="0">
                          <a:latin typeface="Arial"/>
                          <a:cs typeface="Arial"/>
                        </a:rPr>
                        <a:t>v</a:t>
                      </a:r>
                      <a:r>
                        <a:rPr sz="1600" b="1" spc="-10" dirty="0">
                          <a:latin typeface="Arial"/>
                          <a:cs typeface="Arial"/>
                        </a:rPr>
                        <a:t>a</a:t>
                      </a:r>
                      <a:r>
                        <a:rPr sz="1600" b="1" dirty="0">
                          <a:latin typeface="Arial"/>
                          <a:cs typeface="Arial"/>
                        </a:rPr>
                        <a:t>te</a:t>
                      </a:r>
                      <a:r>
                        <a:rPr sz="1600" b="1" spc="-60" dirty="0">
                          <a:latin typeface="Arial"/>
                          <a:cs typeface="Arial"/>
                        </a:rPr>
                        <a:t> </a:t>
                      </a:r>
                      <a:r>
                        <a:rPr sz="1600" b="1" dirty="0">
                          <a:latin typeface="Arial"/>
                          <a:cs typeface="Arial"/>
                        </a:rPr>
                        <a:t>or</a:t>
                      </a:r>
                      <a:r>
                        <a:rPr sz="1600" b="1" spc="-40" dirty="0">
                          <a:latin typeface="Arial"/>
                          <a:cs typeface="Arial"/>
                        </a:rPr>
                        <a:t> </a:t>
                      </a:r>
                      <a:r>
                        <a:rPr sz="1600" b="1" spc="-5" dirty="0">
                          <a:latin typeface="Arial"/>
                          <a:cs typeface="Arial"/>
                        </a:rPr>
                        <a:t>pub</a:t>
                      </a:r>
                      <a:r>
                        <a:rPr sz="1600" b="1" dirty="0">
                          <a:latin typeface="Arial"/>
                          <a:cs typeface="Arial"/>
                        </a:rPr>
                        <a:t>lic</a:t>
                      </a:r>
                      <a:endParaRPr sz="1600">
                        <a:latin typeface="Arial"/>
                        <a:cs typeface="Arial"/>
                      </a:endParaRPr>
                    </a:p>
                  </a:txBody>
                  <a:tcPr marL="0" marR="0" marT="31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FE8"/>
                    </a:solidFill>
                  </a:tcPr>
                </a:tc>
                <a:tc>
                  <a:txBody>
                    <a:bodyPr/>
                    <a:lstStyle/>
                    <a:p>
                      <a:pPr>
                        <a:lnSpc>
                          <a:spcPct val="100000"/>
                        </a:lnSpc>
                        <a:spcBef>
                          <a:spcPts val="25"/>
                        </a:spcBef>
                      </a:pPr>
                      <a:endParaRPr sz="1500">
                        <a:latin typeface="Times New Roman"/>
                        <a:cs typeface="Times New Roman"/>
                      </a:endParaRPr>
                    </a:p>
                    <a:p>
                      <a:pPr marL="1270" algn="ctr">
                        <a:lnSpc>
                          <a:spcPct val="100000"/>
                        </a:lnSpc>
                      </a:pPr>
                      <a:r>
                        <a:rPr sz="1600" b="1" dirty="0">
                          <a:latin typeface="Arial"/>
                          <a:cs typeface="Arial"/>
                        </a:rPr>
                        <a:t>P</a:t>
                      </a:r>
                      <a:r>
                        <a:rPr sz="1600" b="1" spc="5" dirty="0">
                          <a:latin typeface="Arial"/>
                          <a:cs typeface="Arial"/>
                        </a:rPr>
                        <a:t>r</a:t>
                      </a:r>
                      <a:r>
                        <a:rPr sz="1600" b="1" dirty="0">
                          <a:latin typeface="Arial"/>
                          <a:cs typeface="Arial"/>
                        </a:rPr>
                        <a:t>i</a:t>
                      </a:r>
                      <a:r>
                        <a:rPr sz="1600" b="1" spc="-5" dirty="0">
                          <a:latin typeface="Arial"/>
                          <a:cs typeface="Arial"/>
                        </a:rPr>
                        <a:t>v</a:t>
                      </a:r>
                      <a:r>
                        <a:rPr sz="1600" b="1" spc="-10" dirty="0">
                          <a:latin typeface="Arial"/>
                          <a:cs typeface="Arial"/>
                        </a:rPr>
                        <a:t>a</a:t>
                      </a:r>
                      <a:r>
                        <a:rPr sz="1600" b="1" dirty="0">
                          <a:latin typeface="Arial"/>
                          <a:cs typeface="Arial"/>
                        </a:rPr>
                        <a:t>te</a:t>
                      </a:r>
                      <a:r>
                        <a:rPr sz="1600" b="1" spc="-60" dirty="0">
                          <a:latin typeface="Arial"/>
                          <a:cs typeface="Arial"/>
                        </a:rPr>
                        <a:t> </a:t>
                      </a:r>
                      <a:r>
                        <a:rPr sz="1600" b="1" dirty="0">
                          <a:latin typeface="Arial"/>
                          <a:cs typeface="Arial"/>
                        </a:rPr>
                        <a:t>or</a:t>
                      </a:r>
                      <a:r>
                        <a:rPr sz="1600" b="1" spc="-40" dirty="0">
                          <a:latin typeface="Arial"/>
                          <a:cs typeface="Arial"/>
                        </a:rPr>
                        <a:t> </a:t>
                      </a:r>
                      <a:r>
                        <a:rPr sz="1600" b="1" spc="-5" dirty="0">
                          <a:latin typeface="Arial"/>
                          <a:cs typeface="Arial"/>
                        </a:rPr>
                        <a:t>pub</a:t>
                      </a:r>
                      <a:r>
                        <a:rPr sz="1600" b="1" dirty="0">
                          <a:latin typeface="Arial"/>
                          <a:cs typeface="Arial"/>
                        </a:rPr>
                        <a:t>lic</a:t>
                      </a:r>
                      <a:endParaRPr sz="1600">
                        <a:latin typeface="Arial"/>
                        <a:cs typeface="Arial"/>
                      </a:endParaRPr>
                    </a:p>
                  </a:txBody>
                  <a:tcPr marL="0" marR="0" marT="31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FE8"/>
                    </a:solidFill>
                  </a:tcPr>
                </a:tc>
                <a:extLst>
                  <a:ext uri="{0D108BD9-81ED-4DB2-BD59-A6C34878D82A}">
                    <a16:rowId xmlns:a16="http://schemas.microsoft.com/office/drawing/2014/main" val="10001"/>
                  </a:ext>
                </a:extLst>
              </a:tr>
              <a:tr h="776156">
                <a:tc>
                  <a:txBody>
                    <a:bodyPr/>
                    <a:lstStyle/>
                    <a:p>
                      <a:pPr marL="349885" marR="317500" indent="-24765">
                        <a:lnSpc>
                          <a:spcPct val="100000"/>
                        </a:lnSpc>
                        <a:spcBef>
                          <a:spcPts val="790"/>
                        </a:spcBef>
                      </a:pPr>
                      <a:r>
                        <a:rPr sz="1600" b="1" dirty="0">
                          <a:solidFill>
                            <a:srgbClr val="21798F"/>
                          </a:solidFill>
                          <a:latin typeface="Arial"/>
                          <a:cs typeface="Arial"/>
                        </a:rPr>
                        <a:t>Geographical  </a:t>
                      </a:r>
                      <a:r>
                        <a:rPr sz="1600" b="1" spc="-5" dirty="0">
                          <a:solidFill>
                            <a:srgbClr val="21798F"/>
                          </a:solidFill>
                          <a:latin typeface="Arial"/>
                          <a:cs typeface="Arial"/>
                        </a:rPr>
                        <a:t>area</a:t>
                      </a:r>
                      <a:r>
                        <a:rPr sz="1600" b="1" spc="-105" dirty="0">
                          <a:solidFill>
                            <a:srgbClr val="21798F"/>
                          </a:solidFill>
                          <a:latin typeface="Arial"/>
                          <a:cs typeface="Arial"/>
                        </a:rPr>
                        <a:t> </a:t>
                      </a:r>
                      <a:r>
                        <a:rPr sz="1600" b="1" spc="-95" dirty="0">
                          <a:solidFill>
                            <a:srgbClr val="21798F"/>
                          </a:solidFill>
                          <a:latin typeface="Arial"/>
                          <a:cs typeface="Arial"/>
                        </a:rPr>
                        <a:t>covered</a:t>
                      </a:r>
                      <a:endParaRPr sz="1600">
                        <a:latin typeface="Arial"/>
                        <a:cs typeface="Arial"/>
                      </a:endParaRPr>
                    </a:p>
                  </a:txBody>
                  <a:tcPr marL="0" marR="0" marT="1003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FF4"/>
                    </a:solidFill>
                  </a:tcPr>
                </a:tc>
                <a:tc>
                  <a:txBody>
                    <a:bodyPr/>
                    <a:lstStyle/>
                    <a:p>
                      <a:pPr>
                        <a:lnSpc>
                          <a:spcPct val="100000"/>
                        </a:lnSpc>
                        <a:spcBef>
                          <a:spcPts val="25"/>
                        </a:spcBef>
                      </a:pPr>
                      <a:endParaRPr sz="1500">
                        <a:latin typeface="Times New Roman"/>
                        <a:cs typeface="Times New Roman"/>
                      </a:endParaRPr>
                    </a:p>
                    <a:p>
                      <a:pPr algn="ctr">
                        <a:lnSpc>
                          <a:spcPct val="100000"/>
                        </a:lnSpc>
                        <a:spcBef>
                          <a:spcPts val="5"/>
                        </a:spcBef>
                      </a:pPr>
                      <a:r>
                        <a:rPr sz="1600" b="1" spc="-90" dirty="0">
                          <a:latin typeface="Arial"/>
                          <a:cs typeface="Arial"/>
                        </a:rPr>
                        <a:t>Small</a:t>
                      </a:r>
                      <a:endParaRPr sz="1600">
                        <a:latin typeface="Arial"/>
                        <a:cs typeface="Arial"/>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FF4"/>
                    </a:solidFill>
                  </a:tcPr>
                </a:tc>
                <a:tc>
                  <a:txBody>
                    <a:bodyPr/>
                    <a:lstStyle/>
                    <a:p>
                      <a:pPr>
                        <a:lnSpc>
                          <a:spcPct val="100000"/>
                        </a:lnSpc>
                        <a:spcBef>
                          <a:spcPts val="25"/>
                        </a:spcBef>
                      </a:pPr>
                      <a:endParaRPr sz="1500">
                        <a:latin typeface="Times New Roman"/>
                        <a:cs typeface="Times New Roman"/>
                      </a:endParaRPr>
                    </a:p>
                    <a:p>
                      <a:pPr algn="ctr">
                        <a:lnSpc>
                          <a:spcPct val="100000"/>
                        </a:lnSpc>
                        <a:spcBef>
                          <a:spcPts val="5"/>
                        </a:spcBef>
                      </a:pPr>
                      <a:r>
                        <a:rPr sz="1600" b="1" dirty="0">
                          <a:latin typeface="Arial"/>
                          <a:cs typeface="Arial"/>
                        </a:rPr>
                        <a:t>Ve</a:t>
                      </a:r>
                      <a:r>
                        <a:rPr sz="1600" b="1" spc="5" dirty="0">
                          <a:latin typeface="Arial"/>
                          <a:cs typeface="Arial"/>
                        </a:rPr>
                        <a:t>r</a:t>
                      </a:r>
                      <a:r>
                        <a:rPr sz="1600" b="1" dirty="0">
                          <a:latin typeface="Arial"/>
                          <a:cs typeface="Arial"/>
                        </a:rPr>
                        <a:t>y</a:t>
                      </a:r>
                      <a:r>
                        <a:rPr sz="1600" b="1" spc="-60" dirty="0">
                          <a:latin typeface="Arial"/>
                          <a:cs typeface="Arial"/>
                        </a:rPr>
                        <a:t> </a:t>
                      </a:r>
                      <a:r>
                        <a:rPr sz="1600" b="1" dirty="0">
                          <a:latin typeface="Arial"/>
                          <a:cs typeface="Arial"/>
                        </a:rPr>
                        <a:t>large</a:t>
                      </a:r>
                      <a:endParaRPr sz="1600">
                        <a:latin typeface="Arial"/>
                        <a:cs typeface="Arial"/>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FF4"/>
                    </a:solidFill>
                  </a:tcPr>
                </a:tc>
                <a:tc>
                  <a:txBody>
                    <a:bodyPr/>
                    <a:lstStyle/>
                    <a:p>
                      <a:pPr>
                        <a:lnSpc>
                          <a:spcPct val="100000"/>
                        </a:lnSpc>
                        <a:spcBef>
                          <a:spcPts val="25"/>
                        </a:spcBef>
                      </a:pPr>
                      <a:endParaRPr sz="1500">
                        <a:latin typeface="Times New Roman"/>
                        <a:cs typeface="Times New Roman"/>
                      </a:endParaRPr>
                    </a:p>
                    <a:p>
                      <a:pPr marL="1270" algn="ctr">
                        <a:lnSpc>
                          <a:spcPct val="100000"/>
                        </a:lnSpc>
                        <a:spcBef>
                          <a:spcPts val="5"/>
                        </a:spcBef>
                      </a:pPr>
                      <a:r>
                        <a:rPr sz="1600" b="1" spc="-40" dirty="0">
                          <a:latin typeface="Arial"/>
                          <a:cs typeface="Arial"/>
                        </a:rPr>
                        <a:t>Moderate</a:t>
                      </a:r>
                      <a:endParaRPr sz="1600">
                        <a:latin typeface="Arial"/>
                        <a:cs typeface="Arial"/>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FF4"/>
                    </a:solidFill>
                  </a:tcPr>
                </a:tc>
                <a:extLst>
                  <a:ext uri="{0D108BD9-81ED-4DB2-BD59-A6C34878D82A}">
                    <a16:rowId xmlns:a16="http://schemas.microsoft.com/office/drawing/2014/main" val="10002"/>
                  </a:ext>
                </a:extLst>
              </a:tr>
              <a:tr h="776749">
                <a:tc>
                  <a:txBody>
                    <a:bodyPr/>
                    <a:lstStyle/>
                    <a:p>
                      <a:pPr marL="343535" marR="337185" indent="85090">
                        <a:lnSpc>
                          <a:spcPct val="100000"/>
                        </a:lnSpc>
                        <a:spcBef>
                          <a:spcPts val="795"/>
                        </a:spcBef>
                      </a:pPr>
                      <a:r>
                        <a:rPr sz="1600" b="1" dirty="0">
                          <a:solidFill>
                            <a:srgbClr val="21798F"/>
                          </a:solidFill>
                          <a:latin typeface="Arial"/>
                          <a:cs typeface="Arial"/>
                        </a:rPr>
                        <a:t>D</a:t>
                      </a:r>
                      <a:r>
                        <a:rPr sz="1600" b="1" spc="5" dirty="0">
                          <a:solidFill>
                            <a:srgbClr val="21798F"/>
                          </a:solidFill>
                          <a:latin typeface="Arial"/>
                          <a:cs typeface="Arial"/>
                        </a:rPr>
                        <a:t>e</a:t>
                      </a:r>
                      <a:r>
                        <a:rPr sz="1600" b="1" dirty="0">
                          <a:solidFill>
                            <a:srgbClr val="21798F"/>
                          </a:solidFill>
                          <a:latin typeface="Arial"/>
                          <a:cs typeface="Arial"/>
                        </a:rPr>
                        <a:t>sign</a:t>
                      </a:r>
                      <a:r>
                        <a:rPr sz="1600" b="1" spc="-55" dirty="0">
                          <a:solidFill>
                            <a:srgbClr val="21798F"/>
                          </a:solidFill>
                          <a:latin typeface="Arial"/>
                          <a:cs typeface="Arial"/>
                        </a:rPr>
                        <a:t> </a:t>
                      </a:r>
                      <a:r>
                        <a:rPr sz="1600" b="1" dirty="0">
                          <a:solidFill>
                            <a:srgbClr val="21798F"/>
                          </a:solidFill>
                          <a:latin typeface="Arial"/>
                          <a:cs typeface="Arial"/>
                        </a:rPr>
                        <a:t>a</a:t>
                      </a:r>
                      <a:r>
                        <a:rPr sz="1600" b="1" spc="-10" dirty="0">
                          <a:solidFill>
                            <a:srgbClr val="21798F"/>
                          </a:solidFill>
                          <a:latin typeface="Arial"/>
                          <a:cs typeface="Arial"/>
                        </a:rPr>
                        <a:t>n</a:t>
                      </a:r>
                      <a:r>
                        <a:rPr sz="1600" b="1" dirty="0">
                          <a:solidFill>
                            <a:srgbClr val="21798F"/>
                          </a:solidFill>
                          <a:latin typeface="Arial"/>
                          <a:cs typeface="Arial"/>
                        </a:rPr>
                        <a:t>d  </a:t>
                      </a:r>
                      <a:r>
                        <a:rPr sz="1600" b="1" spc="-5" dirty="0">
                          <a:solidFill>
                            <a:srgbClr val="21798F"/>
                          </a:solidFill>
                          <a:latin typeface="Arial"/>
                          <a:cs typeface="Arial"/>
                        </a:rPr>
                        <a:t>main</a:t>
                      </a:r>
                      <a:r>
                        <a:rPr sz="1600" b="1" spc="-10" dirty="0">
                          <a:solidFill>
                            <a:srgbClr val="21798F"/>
                          </a:solidFill>
                          <a:latin typeface="Arial"/>
                          <a:cs typeface="Arial"/>
                        </a:rPr>
                        <a:t>t</a:t>
                      </a:r>
                      <a:r>
                        <a:rPr sz="1600" b="1" dirty="0">
                          <a:solidFill>
                            <a:srgbClr val="21798F"/>
                          </a:solidFill>
                          <a:latin typeface="Arial"/>
                          <a:cs typeface="Arial"/>
                        </a:rPr>
                        <a:t>ena</a:t>
                      </a:r>
                      <a:r>
                        <a:rPr sz="1600" b="1" spc="-10" dirty="0">
                          <a:solidFill>
                            <a:srgbClr val="21798F"/>
                          </a:solidFill>
                          <a:latin typeface="Arial"/>
                          <a:cs typeface="Arial"/>
                        </a:rPr>
                        <a:t>n</a:t>
                      </a:r>
                      <a:r>
                        <a:rPr sz="1600" b="1" dirty="0">
                          <a:solidFill>
                            <a:srgbClr val="21798F"/>
                          </a:solidFill>
                          <a:latin typeface="Arial"/>
                          <a:cs typeface="Arial"/>
                        </a:rPr>
                        <a:t>ce</a:t>
                      </a:r>
                      <a:endParaRPr sz="1600">
                        <a:latin typeface="Arial"/>
                        <a:cs typeface="Arial"/>
                      </a:endParaRPr>
                    </a:p>
                  </a:txBody>
                  <a:tcPr marL="0" marR="0" marT="1009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FE8"/>
                    </a:solidFill>
                  </a:tcPr>
                </a:tc>
                <a:tc>
                  <a:txBody>
                    <a:bodyPr/>
                    <a:lstStyle/>
                    <a:p>
                      <a:pPr>
                        <a:lnSpc>
                          <a:spcPct val="100000"/>
                        </a:lnSpc>
                        <a:spcBef>
                          <a:spcPts val="30"/>
                        </a:spcBef>
                      </a:pPr>
                      <a:endParaRPr sz="1500">
                        <a:latin typeface="Times New Roman"/>
                        <a:cs typeface="Times New Roman"/>
                      </a:endParaRPr>
                    </a:p>
                    <a:p>
                      <a:pPr algn="ctr">
                        <a:lnSpc>
                          <a:spcPct val="100000"/>
                        </a:lnSpc>
                      </a:pPr>
                      <a:r>
                        <a:rPr sz="1600" b="1" spc="-120" dirty="0">
                          <a:latin typeface="Arial"/>
                          <a:cs typeface="Arial"/>
                        </a:rPr>
                        <a:t>Easy</a:t>
                      </a:r>
                      <a:endParaRPr sz="1600">
                        <a:latin typeface="Arial"/>
                        <a:cs typeface="Arial"/>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FE8"/>
                    </a:solidFill>
                  </a:tcPr>
                </a:tc>
                <a:tc>
                  <a:txBody>
                    <a:bodyPr/>
                    <a:lstStyle/>
                    <a:p>
                      <a:pPr>
                        <a:lnSpc>
                          <a:spcPct val="100000"/>
                        </a:lnSpc>
                        <a:spcBef>
                          <a:spcPts val="30"/>
                        </a:spcBef>
                      </a:pPr>
                      <a:endParaRPr sz="1500">
                        <a:latin typeface="Times New Roman"/>
                        <a:cs typeface="Times New Roman"/>
                      </a:endParaRPr>
                    </a:p>
                    <a:p>
                      <a:pPr marL="635" algn="ctr">
                        <a:lnSpc>
                          <a:spcPct val="100000"/>
                        </a:lnSpc>
                      </a:pPr>
                      <a:r>
                        <a:rPr sz="1600" b="1" spc="-15" dirty="0">
                          <a:latin typeface="Arial"/>
                          <a:cs typeface="Arial"/>
                        </a:rPr>
                        <a:t>Not</a:t>
                      </a:r>
                      <a:r>
                        <a:rPr sz="1600" b="1" spc="-100" dirty="0">
                          <a:latin typeface="Arial"/>
                          <a:cs typeface="Arial"/>
                        </a:rPr>
                        <a:t> easy</a:t>
                      </a:r>
                      <a:endParaRPr sz="1600">
                        <a:latin typeface="Arial"/>
                        <a:cs typeface="Arial"/>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FE8"/>
                    </a:solidFill>
                  </a:tcPr>
                </a:tc>
                <a:tc>
                  <a:txBody>
                    <a:bodyPr/>
                    <a:lstStyle/>
                    <a:p>
                      <a:pPr>
                        <a:lnSpc>
                          <a:spcPct val="100000"/>
                        </a:lnSpc>
                        <a:spcBef>
                          <a:spcPts val="30"/>
                        </a:spcBef>
                      </a:pPr>
                      <a:endParaRPr sz="1500">
                        <a:latin typeface="Times New Roman"/>
                        <a:cs typeface="Times New Roman"/>
                      </a:endParaRPr>
                    </a:p>
                    <a:p>
                      <a:pPr marL="1270" algn="ctr">
                        <a:lnSpc>
                          <a:spcPct val="100000"/>
                        </a:lnSpc>
                      </a:pPr>
                      <a:r>
                        <a:rPr sz="1600" b="1" spc="-15" dirty="0">
                          <a:latin typeface="Arial"/>
                          <a:cs typeface="Arial"/>
                        </a:rPr>
                        <a:t>Not</a:t>
                      </a:r>
                      <a:r>
                        <a:rPr sz="1600" b="1" spc="-100" dirty="0">
                          <a:latin typeface="Arial"/>
                          <a:cs typeface="Arial"/>
                        </a:rPr>
                        <a:t> easy</a:t>
                      </a:r>
                      <a:endParaRPr sz="1600">
                        <a:latin typeface="Arial"/>
                        <a:cs typeface="Arial"/>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FE8"/>
                    </a:solidFill>
                  </a:tcPr>
                </a:tc>
                <a:extLst>
                  <a:ext uri="{0D108BD9-81ED-4DB2-BD59-A6C34878D82A}">
                    <a16:rowId xmlns:a16="http://schemas.microsoft.com/office/drawing/2014/main" val="10003"/>
                  </a:ext>
                </a:extLst>
              </a:tr>
              <a:tr h="1177862">
                <a:tc>
                  <a:txBody>
                    <a:bodyPr/>
                    <a:lstStyle/>
                    <a:p>
                      <a:pPr>
                        <a:lnSpc>
                          <a:spcPct val="100000"/>
                        </a:lnSpc>
                        <a:spcBef>
                          <a:spcPts val="15"/>
                        </a:spcBef>
                      </a:pPr>
                      <a:endParaRPr sz="1950">
                        <a:latin typeface="Times New Roman"/>
                        <a:cs typeface="Times New Roman"/>
                      </a:endParaRPr>
                    </a:p>
                    <a:p>
                      <a:pPr marL="558165" marR="208915" indent="-341630">
                        <a:lnSpc>
                          <a:spcPct val="100000"/>
                        </a:lnSpc>
                        <a:spcBef>
                          <a:spcPts val="5"/>
                        </a:spcBef>
                      </a:pPr>
                      <a:r>
                        <a:rPr sz="1600" b="1" spc="-5" dirty="0">
                          <a:solidFill>
                            <a:srgbClr val="21798F"/>
                          </a:solidFill>
                          <a:latin typeface="Arial"/>
                          <a:cs typeface="Arial"/>
                        </a:rPr>
                        <a:t>Comm</a:t>
                      </a:r>
                      <a:r>
                        <a:rPr sz="1600" b="1" dirty="0">
                          <a:solidFill>
                            <a:srgbClr val="21798F"/>
                          </a:solidFill>
                          <a:latin typeface="Arial"/>
                          <a:cs typeface="Arial"/>
                        </a:rPr>
                        <a:t>u</a:t>
                      </a:r>
                      <a:r>
                        <a:rPr sz="1600" b="1" spc="-5" dirty="0">
                          <a:solidFill>
                            <a:srgbClr val="21798F"/>
                          </a:solidFill>
                          <a:latin typeface="Arial"/>
                          <a:cs typeface="Arial"/>
                        </a:rPr>
                        <a:t>n</a:t>
                      </a:r>
                      <a:r>
                        <a:rPr sz="1600" b="1" dirty="0">
                          <a:solidFill>
                            <a:srgbClr val="21798F"/>
                          </a:solidFill>
                          <a:latin typeface="Arial"/>
                          <a:cs typeface="Arial"/>
                        </a:rPr>
                        <a:t>ic</a:t>
                      </a:r>
                      <a:r>
                        <a:rPr sz="1600" b="1" spc="-10" dirty="0">
                          <a:solidFill>
                            <a:srgbClr val="21798F"/>
                          </a:solidFill>
                          <a:latin typeface="Arial"/>
                          <a:cs typeface="Arial"/>
                        </a:rPr>
                        <a:t>a</a:t>
                      </a:r>
                      <a:r>
                        <a:rPr sz="1600" b="1" dirty="0">
                          <a:solidFill>
                            <a:srgbClr val="21798F"/>
                          </a:solidFill>
                          <a:latin typeface="Arial"/>
                          <a:cs typeface="Arial"/>
                        </a:rPr>
                        <a:t>tion  </a:t>
                      </a:r>
                      <a:r>
                        <a:rPr sz="1600" b="1" spc="-45" dirty="0">
                          <a:solidFill>
                            <a:srgbClr val="21798F"/>
                          </a:solidFill>
                          <a:latin typeface="Arial"/>
                          <a:cs typeface="Arial"/>
                        </a:rPr>
                        <a:t>medium</a:t>
                      </a:r>
                      <a:endParaRPr sz="1600">
                        <a:latin typeface="Arial"/>
                        <a:cs typeface="Arial"/>
                      </a:endParaRPr>
                    </a:p>
                  </a:txBody>
                  <a:tcPr marL="0" marR="0" marT="19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FF4"/>
                    </a:solidFill>
                  </a:tcPr>
                </a:tc>
                <a:tc>
                  <a:txBody>
                    <a:bodyPr/>
                    <a:lstStyle/>
                    <a:p>
                      <a:pPr>
                        <a:lnSpc>
                          <a:spcPct val="100000"/>
                        </a:lnSpc>
                      </a:pPr>
                      <a:endParaRPr sz="1800">
                        <a:latin typeface="Times New Roman"/>
                        <a:cs typeface="Times New Roman"/>
                      </a:endParaRPr>
                    </a:p>
                    <a:p>
                      <a:pPr algn="ctr">
                        <a:lnSpc>
                          <a:spcPct val="100000"/>
                        </a:lnSpc>
                        <a:spcBef>
                          <a:spcPts val="1150"/>
                        </a:spcBef>
                      </a:pPr>
                      <a:r>
                        <a:rPr sz="1600" b="1" spc="-5" dirty="0">
                          <a:latin typeface="Arial"/>
                          <a:cs typeface="Arial"/>
                        </a:rPr>
                        <a:t>Coa</a:t>
                      </a:r>
                      <a:r>
                        <a:rPr sz="1600" b="1" dirty="0">
                          <a:latin typeface="Arial"/>
                          <a:cs typeface="Arial"/>
                        </a:rPr>
                        <a:t>xial</a:t>
                      </a:r>
                      <a:r>
                        <a:rPr sz="1600" b="1" spc="-40" dirty="0">
                          <a:latin typeface="Arial"/>
                          <a:cs typeface="Arial"/>
                        </a:rPr>
                        <a:t> </a:t>
                      </a:r>
                      <a:r>
                        <a:rPr sz="1600" b="1" spc="-10" dirty="0">
                          <a:latin typeface="Arial"/>
                          <a:cs typeface="Arial"/>
                        </a:rPr>
                        <a:t>c</a:t>
                      </a:r>
                      <a:r>
                        <a:rPr sz="1600" b="1" dirty="0">
                          <a:latin typeface="Arial"/>
                          <a:cs typeface="Arial"/>
                        </a:rPr>
                        <a:t>a</a:t>
                      </a:r>
                      <a:r>
                        <a:rPr sz="1600" b="1" spc="-10" dirty="0">
                          <a:latin typeface="Arial"/>
                          <a:cs typeface="Arial"/>
                        </a:rPr>
                        <a:t>b</a:t>
                      </a:r>
                      <a:r>
                        <a:rPr sz="1600" b="1" dirty="0">
                          <a:latin typeface="Arial"/>
                          <a:cs typeface="Arial"/>
                        </a:rPr>
                        <a:t>le</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FF4"/>
                    </a:solidFill>
                  </a:tcPr>
                </a:tc>
                <a:tc>
                  <a:txBody>
                    <a:bodyPr/>
                    <a:lstStyle/>
                    <a:p>
                      <a:pPr>
                        <a:lnSpc>
                          <a:spcPct val="100000"/>
                        </a:lnSpc>
                        <a:spcBef>
                          <a:spcPts val="15"/>
                        </a:spcBef>
                      </a:pPr>
                      <a:endParaRPr sz="1950">
                        <a:latin typeface="Times New Roman"/>
                        <a:cs typeface="Times New Roman"/>
                      </a:endParaRPr>
                    </a:p>
                    <a:p>
                      <a:pPr marL="723900" marR="189865" indent="-527685">
                        <a:lnSpc>
                          <a:spcPct val="100000"/>
                        </a:lnSpc>
                        <a:spcBef>
                          <a:spcPts val="5"/>
                        </a:spcBef>
                      </a:pPr>
                      <a:r>
                        <a:rPr sz="1600" b="1" spc="-40">
                          <a:latin typeface="Arial"/>
                          <a:cs typeface="Arial"/>
                        </a:rPr>
                        <a:t> </a:t>
                      </a:r>
                      <a:r>
                        <a:rPr sz="1600" b="1" dirty="0">
                          <a:latin typeface="Arial"/>
                          <a:cs typeface="Arial"/>
                        </a:rPr>
                        <a:t>s</a:t>
                      </a:r>
                      <a:r>
                        <a:rPr sz="1600" b="1" spc="-10" dirty="0">
                          <a:latin typeface="Arial"/>
                          <a:cs typeface="Arial"/>
                        </a:rPr>
                        <a:t>a</a:t>
                      </a:r>
                      <a:r>
                        <a:rPr sz="1600" b="1" dirty="0">
                          <a:latin typeface="Arial"/>
                          <a:cs typeface="Arial"/>
                        </a:rPr>
                        <a:t>tellite  </a:t>
                      </a:r>
                      <a:r>
                        <a:rPr sz="1600" b="1" spc="-75" dirty="0">
                          <a:latin typeface="Arial"/>
                          <a:cs typeface="Arial"/>
                        </a:rPr>
                        <a:t>links</a:t>
                      </a:r>
                      <a:endParaRPr sz="1600">
                        <a:latin typeface="Arial"/>
                        <a:cs typeface="Arial"/>
                      </a:endParaRPr>
                    </a:p>
                  </a:txBody>
                  <a:tcPr marL="0" marR="0" marT="19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FF4"/>
                    </a:solidFill>
                  </a:tcPr>
                </a:tc>
                <a:tc>
                  <a:txBody>
                    <a:bodyPr/>
                    <a:lstStyle/>
                    <a:p>
                      <a:pPr marL="264795" marR="255270" algn="ctr">
                        <a:lnSpc>
                          <a:spcPct val="100000"/>
                        </a:lnSpc>
                        <a:spcBef>
                          <a:spcPts val="340"/>
                        </a:spcBef>
                      </a:pPr>
                      <a:r>
                        <a:rPr sz="1600" b="1" spc="-5" dirty="0">
                          <a:latin typeface="Arial"/>
                          <a:cs typeface="Arial"/>
                        </a:rPr>
                        <a:t>Coa</a:t>
                      </a:r>
                      <a:r>
                        <a:rPr sz="1600" b="1" dirty="0">
                          <a:latin typeface="Arial"/>
                          <a:cs typeface="Arial"/>
                        </a:rPr>
                        <a:t>xial</a:t>
                      </a:r>
                      <a:r>
                        <a:rPr sz="1600" b="1" spc="-40" dirty="0">
                          <a:latin typeface="Arial"/>
                          <a:cs typeface="Arial"/>
                        </a:rPr>
                        <a:t> </a:t>
                      </a:r>
                      <a:r>
                        <a:rPr sz="1600" b="1" spc="-10" dirty="0">
                          <a:latin typeface="Arial"/>
                          <a:cs typeface="Arial"/>
                        </a:rPr>
                        <a:t>c</a:t>
                      </a:r>
                      <a:r>
                        <a:rPr sz="1600" b="1" dirty="0">
                          <a:latin typeface="Arial"/>
                          <a:cs typeface="Arial"/>
                        </a:rPr>
                        <a:t>a</a:t>
                      </a:r>
                      <a:r>
                        <a:rPr sz="1600" b="1" spc="-10" dirty="0">
                          <a:latin typeface="Arial"/>
                          <a:cs typeface="Arial"/>
                        </a:rPr>
                        <a:t>b</a:t>
                      </a:r>
                      <a:r>
                        <a:rPr sz="1600" b="1" dirty="0">
                          <a:latin typeface="Arial"/>
                          <a:cs typeface="Arial"/>
                        </a:rPr>
                        <a:t>les</a:t>
                      </a:r>
                      <a:r>
                        <a:rPr sz="1600" b="1">
                          <a:latin typeface="Arial"/>
                          <a:cs typeface="Arial"/>
                        </a:rPr>
                        <a:t>,  </a:t>
                      </a:r>
                      <a:r>
                        <a:rPr sz="1600" b="1" spc="-55">
                          <a:latin typeface="Arial"/>
                          <a:cs typeface="Arial"/>
                        </a:rPr>
                        <a:t> </a:t>
                      </a:r>
                      <a:r>
                        <a:rPr sz="1600" b="1" dirty="0">
                          <a:latin typeface="Arial"/>
                          <a:cs typeface="Arial"/>
                        </a:rPr>
                        <a:t>o</a:t>
                      </a:r>
                      <a:r>
                        <a:rPr sz="1600" b="1" spc="-5" dirty="0">
                          <a:latin typeface="Arial"/>
                          <a:cs typeface="Arial"/>
                        </a:rPr>
                        <a:t>p</a:t>
                      </a:r>
                      <a:r>
                        <a:rPr sz="1600" b="1" dirty="0">
                          <a:latin typeface="Arial"/>
                          <a:cs typeface="Arial"/>
                        </a:rPr>
                        <a:t>tical  </a:t>
                      </a:r>
                      <a:r>
                        <a:rPr sz="1600" b="1" spc="-20" dirty="0">
                          <a:latin typeface="Arial"/>
                          <a:cs typeface="Arial"/>
                        </a:rPr>
                        <a:t>fibre, </a:t>
                      </a:r>
                      <a:r>
                        <a:rPr sz="1600" b="1" spc="-95" dirty="0">
                          <a:latin typeface="Arial"/>
                          <a:cs typeface="Arial"/>
                        </a:rPr>
                        <a:t>cables, </a:t>
                      </a:r>
                      <a:r>
                        <a:rPr sz="1600" b="1" spc="-90" dirty="0">
                          <a:latin typeface="Arial"/>
                          <a:cs typeface="Arial"/>
                        </a:rPr>
                        <a:t> </a:t>
                      </a:r>
                      <a:r>
                        <a:rPr sz="1600" b="1" spc="-114" dirty="0">
                          <a:latin typeface="Arial"/>
                          <a:cs typeface="Arial"/>
                        </a:rPr>
                        <a:t>wireless</a:t>
                      </a:r>
                      <a:endParaRPr sz="1600">
                        <a:latin typeface="Arial"/>
                        <a:cs typeface="Arial"/>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FF4"/>
                    </a:solidFill>
                  </a:tcPr>
                </a:tc>
                <a:extLst>
                  <a:ext uri="{0D108BD9-81ED-4DB2-BD59-A6C34878D82A}">
                    <a16:rowId xmlns:a16="http://schemas.microsoft.com/office/drawing/2014/main" val="10004"/>
                  </a:ext>
                </a:extLst>
              </a:tr>
              <a:tr h="610799">
                <a:tc>
                  <a:txBody>
                    <a:bodyPr/>
                    <a:lstStyle/>
                    <a:p>
                      <a:pPr algn="ctr">
                        <a:lnSpc>
                          <a:spcPct val="100000"/>
                        </a:lnSpc>
                        <a:spcBef>
                          <a:spcPts val="1630"/>
                        </a:spcBef>
                      </a:pPr>
                      <a:r>
                        <a:rPr sz="1800" b="1" spc="-35" dirty="0">
                          <a:solidFill>
                            <a:srgbClr val="21798F"/>
                          </a:solidFill>
                          <a:latin typeface="Arial"/>
                          <a:cs typeface="Arial"/>
                        </a:rPr>
                        <a:t>Bandwidth</a:t>
                      </a:r>
                      <a:endParaRPr sz="1800">
                        <a:latin typeface="Arial"/>
                        <a:cs typeface="Arial"/>
                      </a:endParaRPr>
                    </a:p>
                  </a:txBody>
                  <a:tcPr marL="0" marR="0" marT="2070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FE8"/>
                    </a:solidFill>
                  </a:tcPr>
                </a:tc>
                <a:tc>
                  <a:txBody>
                    <a:bodyPr/>
                    <a:lstStyle/>
                    <a:p>
                      <a:pPr algn="ctr">
                        <a:lnSpc>
                          <a:spcPct val="100000"/>
                        </a:lnSpc>
                        <a:spcBef>
                          <a:spcPts val="1630"/>
                        </a:spcBef>
                      </a:pPr>
                      <a:r>
                        <a:rPr sz="1800" b="1" spc="-105" dirty="0">
                          <a:latin typeface="Arial"/>
                          <a:cs typeface="Arial"/>
                        </a:rPr>
                        <a:t>Low</a:t>
                      </a:r>
                      <a:endParaRPr sz="1800">
                        <a:latin typeface="Arial"/>
                        <a:cs typeface="Arial"/>
                      </a:endParaRPr>
                    </a:p>
                  </a:txBody>
                  <a:tcPr marL="0" marR="0" marT="2070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FE8"/>
                    </a:solidFill>
                  </a:tcPr>
                </a:tc>
                <a:tc>
                  <a:txBody>
                    <a:bodyPr/>
                    <a:lstStyle/>
                    <a:p>
                      <a:pPr marL="635" algn="ctr">
                        <a:lnSpc>
                          <a:spcPct val="100000"/>
                        </a:lnSpc>
                        <a:spcBef>
                          <a:spcPts val="1630"/>
                        </a:spcBef>
                      </a:pPr>
                      <a:r>
                        <a:rPr sz="1800" b="1" spc="-35" dirty="0">
                          <a:latin typeface="Arial"/>
                          <a:cs typeface="Arial"/>
                        </a:rPr>
                        <a:t>High</a:t>
                      </a:r>
                      <a:endParaRPr sz="1800">
                        <a:latin typeface="Arial"/>
                        <a:cs typeface="Arial"/>
                      </a:endParaRPr>
                    </a:p>
                  </a:txBody>
                  <a:tcPr marL="0" marR="0" marT="2070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FE8"/>
                    </a:solidFill>
                  </a:tcPr>
                </a:tc>
                <a:tc>
                  <a:txBody>
                    <a:bodyPr/>
                    <a:lstStyle/>
                    <a:p>
                      <a:pPr marL="1270" algn="ctr">
                        <a:lnSpc>
                          <a:spcPct val="100000"/>
                        </a:lnSpc>
                        <a:spcBef>
                          <a:spcPts val="1630"/>
                        </a:spcBef>
                      </a:pPr>
                      <a:r>
                        <a:rPr sz="1800" b="1" spc="-40" dirty="0">
                          <a:latin typeface="Arial"/>
                          <a:cs typeface="Arial"/>
                        </a:rPr>
                        <a:t>moderate</a:t>
                      </a:r>
                      <a:endParaRPr sz="1800">
                        <a:latin typeface="Arial"/>
                        <a:cs typeface="Arial"/>
                      </a:endParaRPr>
                    </a:p>
                  </a:txBody>
                  <a:tcPr marL="0" marR="0" marT="2070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FE8"/>
                    </a:solidFill>
                  </a:tcPr>
                </a:tc>
                <a:extLst>
                  <a:ext uri="{0D108BD9-81ED-4DB2-BD59-A6C34878D82A}">
                    <a16:rowId xmlns:a16="http://schemas.microsoft.com/office/drawing/2014/main" val="10005"/>
                  </a:ext>
                </a:extLst>
              </a:tr>
              <a:tr h="833035">
                <a:tc>
                  <a:txBody>
                    <a:bodyPr/>
                    <a:lstStyle/>
                    <a:p>
                      <a:pPr marL="299085" marR="293370" indent="374650">
                        <a:lnSpc>
                          <a:spcPct val="100000"/>
                        </a:lnSpc>
                        <a:spcBef>
                          <a:spcPts val="550"/>
                        </a:spcBef>
                      </a:pPr>
                      <a:r>
                        <a:rPr sz="1800" b="1" spc="40" dirty="0">
                          <a:solidFill>
                            <a:srgbClr val="21798F"/>
                          </a:solidFill>
                          <a:latin typeface="Arial"/>
                          <a:cs typeface="Arial"/>
                        </a:rPr>
                        <a:t>Data </a:t>
                      </a:r>
                      <a:r>
                        <a:rPr sz="1800" b="1" spc="45" dirty="0">
                          <a:solidFill>
                            <a:srgbClr val="21798F"/>
                          </a:solidFill>
                          <a:latin typeface="Arial"/>
                          <a:cs typeface="Arial"/>
                        </a:rPr>
                        <a:t> </a:t>
                      </a:r>
                      <a:r>
                        <a:rPr sz="1800" b="1" dirty="0">
                          <a:solidFill>
                            <a:srgbClr val="21798F"/>
                          </a:solidFill>
                          <a:latin typeface="Arial"/>
                          <a:cs typeface="Arial"/>
                        </a:rPr>
                        <a:t>rate</a:t>
                      </a:r>
                      <a:r>
                        <a:rPr sz="1800" b="1" spc="-10" dirty="0">
                          <a:solidFill>
                            <a:srgbClr val="21798F"/>
                          </a:solidFill>
                          <a:latin typeface="Arial"/>
                          <a:cs typeface="Arial"/>
                        </a:rPr>
                        <a:t>s</a:t>
                      </a:r>
                      <a:r>
                        <a:rPr sz="1800" b="1" dirty="0">
                          <a:solidFill>
                            <a:srgbClr val="21798F"/>
                          </a:solidFill>
                          <a:latin typeface="Arial"/>
                          <a:cs typeface="Arial"/>
                        </a:rPr>
                        <a:t>(sp</a:t>
                      </a:r>
                      <a:r>
                        <a:rPr sz="1800" b="1" spc="-10" dirty="0">
                          <a:solidFill>
                            <a:srgbClr val="21798F"/>
                          </a:solidFill>
                          <a:latin typeface="Arial"/>
                          <a:cs typeface="Arial"/>
                        </a:rPr>
                        <a:t>e</a:t>
                      </a:r>
                      <a:r>
                        <a:rPr sz="1800" b="1" dirty="0">
                          <a:solidFill>
                            <a:srgbClr val="21798F"/>
                          </a:solidFill>
                          <a:latin typeface="Arial"/>
                          <a:cs typeface="Arial"/>
                        </a:rPr>
                        <a:t>e</a:t>
                      </a:r>
                      <a:r>
                        <a:rPr sz="1800" b="1" spc="-10" dirty="0">
                          <a:solidFill>
                            <a:srgbClr val="21798F"/>
                          </a:solidFill>
                          <a:latin typeface="Arial"/>
                          <a:cs typeface="Arial"/>
                        </a:rPr>
                        <a:t>d</a:t>
                      </a:r>
                      <a:r>
                        <a:rPr sz="1800" b="1" dirty="0">
                          <a:solidFill>
                            <a:srgbClr val="21798F"/>
                          </a:solidFill>
                          <a:latin typeface="Arial"/>
                          <a:cs typeface="Arial"/>
                        </a:rPr>
                        <a:t>)</a:t>
                      </a:r>
                      <a:endParaRPr sz="1800">
                        <a:latin typeface="Arial"/>
                        <a:cs typeface="Arial"/>
                      </a:endParaRPr>
                    </a:p>
                  </a:txBody>
                  <a:tcPr marL="0" marR="0" marT="698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FF4"/>
                    </a:solidFill>
                  </a:tcPr>
                </a:tc>
                <a:tc>
                  <a:txBody>
                    <a:bodyPr/>
                    <a:lstStyle/>
                    <a:p>
                      <a:pPr algn="ctr">
                        <a:lnSpc>
                          <a:spcPct val="100000"/>
                        </a:lnSpc>
                        <a:spcBef>
                          <a:spcPts val="1630"/>
                        </a:spcBef>
                      </a:pPr>
                      <a:r>
                        <a:rPr sz="1800" b="1" spc="-35" dirty="0">
                          <a:latin typeface="Arial"/>
                          <a:cs typeface="Arial"/>
                        </a:rPr>
                        <a:t>High</a:t>
                      </a:r>
                      <a:endParaRPr sz="1800">
                        <a:latin typeface="Arial"/>
                        <a:cs typeface="Arial"/>
                      </a:endParaRPr>
                    </a:p>
                  </a:txBody>
                  <a:tcPr marL="0" marR="0" marT="2070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FF4"/>
                    </a:solidFill>
                  </a:tcPr>
                </a:tc>
                <a:tc>
                  <a:txBody>
                    <a:bodyPr/>
                    <a:lstStyle/>
                    <a:p>
                      <a:pPr algn="ctr">
                        <a:lnSpc>
                          <a:spcPct val="100000"/>
                        </a:lnSpc>
                        <a:spcBef>
                          <a:spcPts val="1630"/>
                        </a:spcBef>
                      </a:pPr>
                      <a:r>
                        <a:rPr sz="1800" b="1" spc="-105" dirty="0">
                          <a:latin typeface="Arial"/>
                          <a:cs typeface="Arial"/>
                        </a:rPr>
                        <a:t>Low</a:t>
                      </a:r>
                      <a:endParaRPr sz="1800">
                        <a:latin typeface="Arial"/>
                        <a:cs typeface="Arial"/>
                      </a:endParaRPr>
                    </a:p>
                  </a:txBody>
                  <a:tcPr marL="0" marR="0" marT="2070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FF4"/>
                    </a:solidFill>
                  </a:tcPr>
                </a:tc>
                <a:tc>
                  <a:txBody>
                    <a:bodyPr/>
                    <a:lstStyle/>
                    <a:p>
                      <a:pPr marL="1270" algn="ctr">
                        <a:lnSpc>
                          <a:spcPct val="100000"/>
                        </a:lnSpc>
                        <a:spcBef>
                          <a:spcPts val="1630"/>
                        </a:spcBef>
                      </a:pPr>
                      <a:r>
                        <a:rPr sz="1800" b="1" spc="-40" dirty="0">
                          <a:latin typeface="Arial"/>
                          <a:cs typeface="Arial"/>
                        </a:rPr>
                        <a:t>moderate</a:t>
                      </a:r>
                      <a:endParaRPr sz="1800">
                        <a:latin typeface="Arial"/>
                        <a:cs typeface="Arial"/>
                      </a:endParaRPr>
                    </a:p>
                  </a:txBody>
                  <a:tcPr marL="0" marR="0" marT="2070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FF4"/>
                    </a:solidFill>
                  </a:tcPr>
                </a:tc>
                <a:extLst>
                  <a:ext uri="{0D108BD9-81ED-4DB2-BD59-A6C34878D82A}">
                    <a16:rowId xmlns:a16="http://schemas.microsoft.com/office/drawing/2014/main" val="10006"/>
                  </a:ext>
                </a:extLst>
              </a:tr>
            </a:tbl>
          </a:graphicData>
        </a:graphic>
      </p:graphicFrame>
      <p:sp>
        <p:nvSpPr>
          <p:cNvPr id="3" name="object 3"/>
          <p:cNvSpPr txBox="1">
            <a:spLocks noGrp="1"/>
          </p:cNvSpPr>
          <p:nvPr>
            <p:ph type="title"/>
          </p:nvPr>
        </p:nvSpPr>
        <p:spPr>
          <a:xfrm>
            <a:off x="998626" y="459689"/>
            <a:ext cx="7380605" cy="514350"/>
          </a:xfrm>
          <a:prstGeom prst="rect">
            <a:avLst/>
          </a:prstGeom>
        </p:spPr>
        <p:txBody>
          <a:bodyPr vert="horz" wrap="square" lIns="0" tIns="13335" rIns="0" bIns="0" rtlCol="0">
            <a:spAutoFit/>
          </a:bodyPr>
          <a:lstStyle/>
          <a:p>
            <a:pPr marL="12700">
              <a:lnSpc>
                <a:spcPct val="100000"/>
              </a:lnSpc>
              <a:spcBef>
                <a:spcPts val="105"/>
              </a:spcBef>
            </a:pPr>
            <a:r>
              <a:rPr sz="3200" spc="-229" dirty="0"/>
              <a:t>DI</a:t>
            </a:r>
            <a:r>
              <a:rPr sz="3200" spc="-305" dirty="0"/>
              <a:t>S</a:t>
            </a:r>
            <a:r>
              <a:rPr sz="3200" spc="-35" dirty="0"/>
              <a:t>TI</a:t>
            </a:r>
            <a:r>
              <a:rPr sz="3200" spc="-45" dirty="0"/>
              <a:t>N</a:t>
            </a:r>
            <a:r>
              <a:rPr sz="3200" spc="-204" dirty="0"/>
              <a:t>GUISH</a:t>
            </a:r>
            <a:r>
              <a:rPr sz="3200" spc="-130" dirty="0"/>
              <a:t> </a:t>
            </a:r>
            <a:r>
              <a:rPr sz="3200" spc="-300" dirty="0"/>
              <a:t>BE</a:t>
            </a:r>
            <a:r>
              <a:rPr sz="3200" spc="-254" dirty="0"/>
              <a:t>T</a:t>
            </a:r>
            <a:r>
              <a:rPr sz="3200" spc="-150" dirty="0"/>
              <a:t>WEEN</a:t>
            </a:r>
            <a:r>
              <a:rPr sz="3200" spc="-105" dirty="0"/>
              <a:t> </a:t>
            </a:r>
            <a:r>
              <a:rPr sz="3200" spc="-30" dirty="0"/>
              <a:t>LAN,WAN,</a:t>
            </a:r>
            <a:r>
              <a:rPr sz="3200" spc="-35" dirty="0"/>
              <a:t>M</a:t>
            </a:r>
            <a:r>
              <a:rPr sz="3200" spc="-10" dirty="0"/>
              <a:t>AN</a:t>
            </a:r>
            <a:endParaRPr sz="3200"/>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65201"/>
            <a:ext cx="8762999" cy="697230"/>
          </a:xfrm>
        </p:spPr>
        <p:txBody>
          <a:bodyPr/>
          <a:lstStyle/>
          <a:p>
            <a:r>
              <a:rPr lang="en-US" b="1" dirty="0">
                <a:solidFill>
                  <a:schemeClr val="tx1"/>
                </a:solidFill>
              </a:rPr>
              <a:t>Characteristics of Computer N/W</a:t>
            </a:r>
          </a:p>
        </p:txBody>
      </p:sp>
      <p:sp>
        <p:nvSpPr>
          <p:cNvPr id="3" name="Content Placeholder 2"/>
          <p:cNvSpPr>
            <a:spLocks noGrp="1"/>
          </p:cNvSpPr>
          <p:nvPr>
            <p:ph idx="1"/>
          </p:nvPr>
        </p:nvSpPr>
        <p:spPr>
          <a:xfrm>
            <a:off x="1828800" y="1828800"/>
            <a:ext cx="4495800" cy="3124200"/>
          </a:xfrm>
        </p:spPr>
        <p:txBody>
          <a:bodyPr/>
          <a:lstStyle/>
          <a:p>
            <a:r>
              <a:rPr lang="en-US" dirty="0"/>
              <a:t>Fault tolerance</a:t>
            </a:r>
          </a:p>
          <a:p>
            <a:r>
              <a:rPr lang="en-US" dirty="0"/>
              <a:t>Scalability</a:t>
            </a:r>
          </a:p>
          <a:p>
            <a:r>
              <a:rPr lang="en-US" dirty="0"/>
              <a:t>Quality of service</a:t>
            </a:r>
          </a:p>
          <a:p>
            <a:r>
              <a:rPr lang="en-US" dirty="0"/>
              <a:t>Security</a:t>
            </a:r>
          </a:p>
          <a:p>
            <a:pPr>
              <a:buNone/>
            </a:pPr>
            <a:endParaRPr lang="en-US" dirty="0"/>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a:bodyPr>
          <a:lstStyle/>
          <a:p>
            <a:r>
              <a:rPr lang="en-US" b="1" dirty="0"/>
              <a:t>Fault tolerance</a:t>
            </a:r>
          </a:p>
        </p:txBody>
      </p:sp>
      <p:sp>
        <p:nvSpPr>
          <p:cNvPr id="3" name="Content Placeholder 2"/>
          <p:cNvSpPr>
            <a:spLocks noGrp="1"/>
          </p:cNvSpPr>
          <p:nvPr>
            <p:ph idx="1"/>
          </p:nvPr>
        </p:nvSpPr>
        <p:spPr>
          <a:xfrm>
            <a:off x="0" y="1524000"/>
            <a:ext cx="9144000" cy="1371600"/>
          </a:xfrm>
        </p:spPr>
        <p:txBody>
          <a:bodyPr/>
          <a:lstStyle/>
          <a:p>
            <a:r>
              <a:rPr lang="en-US" dirty="0"/>
              <a:t>The ability to </a:t>
            </a:r>
          </a:p>
          <a:p>
            <a:pPr lvl="1"/>
            <a:r>
              <a:rPr lang="en-US" dirty="0"/>
              <a:t>Continue working despite failures</a:t>
            </a:r>
          </a:p>
          <a:p>
            <a:pPr lvl="1"/>
            <a:r>
              <a:rPr lang="en-US" dirty="0"/>
              <a:t>Ensure no loss of service</a:t>
            </a:r>
          </a:p>
          <a:p>
            <a:pPr lvl="1">
              <a:buNone/>
            </a:pPr>
            <a:endParaRPr lang="en-US" dirty="0"/>
          </a:p>
        </p:txBody>
      </p:sp>
      <p:pic>
        <p:nvPicPr>
          <p:cNvPr id="4" name="Picture 3" descr="falut tolerance.JPG"/>
          <p:cNvPicPr>
            <a:picLocks noChangeAspect="1"/>
          </p:cNvPicPr>
          <p:nvPr/>
        </p:nvPicPr>
        <p:blipFill>
          <a:blip r:embed="rId2"/>
          <a:stretch>
            <a:fillRect/>
          </a:stretch>
        </p:blipFill>
        <p:spPr>
          <a:xfrm>
            <a:off x="0" y="2971800"/>
            <a:ext cx="9144000" cy="3886200"/>
          </a:xfrm>
          <a:prstGeom prst="rect">
            <a:avLst/>
          </a:prstGeom>
        </p:spPr>
      </p:pic>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a:bodyPr>
          <a:lstStyle/>
          <a:p>
            <a:r>
              <a:rPr lang="en-US" b="1" dirty="0"/>
              <a:t>Scalability</a:t>
            </a:r>
          </a:p>
        </p:txBody>
      </p:sp>
      <p:sp>
        <p:nvSpPr>
          <p:cNvPr id="3" name="Content Placeholder 2"/>
          <p:cNvSpPr>
            <a:spLocks noGrp="1"/>
          </p:cNvSpPr>
          <p:nvPr>
            <p:ph idx="1"/>
          </p:nvPr>
        </p:nvSpPr>
        <p:spPr>
          <a:xfrm>
            <a:off x="0" y="1524000"/>
            <a:ext cx="9144000" cy="5334000"/>
          </a:xfrm>
        </p:spPr>
        <p:txBody>
          <a:bodyPr/>
          <a:lstStyle/>
          <a:p>
            <a:r>
              <a:rPr lang="en-US" dirty="0"/>
              <a:t>The ability to </a:t>
            </a:r>
          </a:p>
          <a:p>
            <a:pPr lvl="1"/>
            <a:r>
              <a:rPr lang="en-US" dirty="0"/>
              <a:t>Grow based on the needs</a:t>
            </a:r>
          </a:p>
          <a:p>
            <a:pPr lvl="1"/>
            <a:r>
              <a:rPr lang="en-US" dirty="0"/>
              <a:t>Good performance after growth of the network</a:t>
            </a:r>
          </a:p>
          <a:p>
            <a:pPr lvl="1">
              <a:buNone/>
            </a:pPr>
            <a:endParaRPr lang="en-US" dirty="0"/>
          </a:p>
        </p:txBody>
      </p:sp>
      <p:pic>
        <p:nvPicPr>
          <p:cNvPr id="4" name="Picture 3" descr="falut tolerance.JPG"/>
          <p:cNvPicPr>
            <a:picLocks noChangeAspect="1"/>
          </p:cNvPicPr>
          <p:nvPr/>
        </p:nvPicPr>
        <p:blipFill>
          <a:blip r:embed="rId2"/>
          <a:stretch>
            <a:fillRect/>
          </a:stretch>
        </p:blipFill>
        <p:spPr>
          <a:xfrm>
            <a:off x="0" y="2819400"/>
            <a:ext cx="9144000" cy="4038600"/>
          </a:xfrm>
          <a:prstGeom prst="rect">
            <a:avLst/>
          </a:prstGeom>
        </p:spPr>
      </p:pic>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a:bodyPr>
          <a:lstStyle/>
          <a:p>
            <a:r>
              <a:rPr lang="en-US" b="1" dirty="0"/>
              <a:t>Quality of services</a:t>
            </a:r>
          </a:p>
        </p:txBody>
      </p:sp>
      <p:sp>
        <p:nvSpPr>
          <p:cNvPr id="3" name="Content Placeholder 2"/>
          <p:cNvSpPr>
            <a:spLocks noGrp="1"/>
          </p:cNvSpPr>
          <p:nvPr>
            <p:ph idx="1"/>
          </p:nvPr>
        </p:nvSpPr>
        <p:spPr>
          <a:xfrm>
            <a:off x="0" y="1447800"/>
            <a:ext cx="9144000" cy="5410200"/>
          </a:xfrm>
        </p:spPr>
        <p:txBody>
          <a:bodyPr/>
          <a:lstStyle/>
          <a:p>
            <a:r>
              <a:rPr lang="en-US" dirty="0"/>
              <a:t>The ability to </a:t>
            </a:r>
          </a:p>
          <a:p>
            <a:pPr lvl="1"/>
            <a:r>
              <a:rPr lang="en-US" dirty="0"/>
              <a:t>Set priorities</a:t>
            </a:r>
          </a:p>
          <a:p>
            <a:pPr lvl="1"/>
            <a:r>
              <a:rPr lang="en-US" dirty="0"/>
              <a:t>Manage data traffic to reduce data loss , delay etc.,</a:t>
            </a:r>
          </a:p>
          <a:p>
            <a:pPr lvl="1">
              <a:buNone/>
            </a:pPr>
            <a:endParaRPr lang="en-US" dirty="0"/>
          </a:p>
        </p:txBody>
      </p:sp>
      <p:pic>
        <p:nvPicPr>
          <p:cNvPr id="6" name="Picture 5" descr="qos.JPG"/>
          <p:cNvPicPr>
            <a:picLocks noChangeAspect="1"/>
          </p:cNvPicPr>
          <p:nvPr/>
        </p:nvPicPr>
        <p:blipFill>
          <a:blip r:embed="rId2"/>
          <a:stretch>
            <a:fillRect/>
          </a:stretch>
        </p:blipFill>
        <p:spPr>
          <a:xfrm>
            <a:off x="0" y="2819399"/>
            <a:ext cx="9144000" cy="4038601"/>
          </a:xfrm>
          <a:prstGeom prst="rect">
            <a:avLst/>
          </a:prstGeom>
        </p:spPr>
      </p:pic>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a:bodyPr>
          <a:lstStyle/>
          <a:p>
            <a:r>
              <a:rPr lang="en-US" b="1" dirty="0"/>
              <a:t>Security</a:t>
            </a:r>
          </a:p>
        </p:txBody>
      </p:sp>
      <p:sp>
        <p:nvSpPr>
          <p:cNvPr id="3" name="Content Placeholder 2"/>
          <p:cNvSpPr>
            <a:spLocks noGrp="1"/>
          </p:cNvSpPr>
          <p:nvPr>
            <p:ph idx="1"/>
          </p:nvPr>
        </p:nvSpPr>
        <p:spPr>
          <a:xfrm>
            <a:off x="0" y="1524000"/>
            <a:ext cx="9144000" cy="5334000"/>
          </a:xfrm>
        </p:spPr>
        <p:txBody>
          <a:bodyPr/>
          <a:lstStyle/>
          <a:p>
            <a:r>
              <a:rPr lang="en-US" dirty="0"/>
              <a:t>The ability to </a:t>
            </a:r>
          </a:p>
          <a:p>
            <a:pPr lvl="1"/>
            <a:r>
              <a:rPr lang="en-US" dirty="0"/>
              <a:t>Unauthorized access</a:t>
            </a:r>
          </a:p>
          <a:p>
            <a:pPr lvl="1"/>
            <a:r>
              <a:rPr lang="en-US" dirty="0"/>
              <a:t>Confidentiality/integrity/availability</a:t>
            </a:r>
          </a:p>
          <a:p>
            <a:pPr lvl="1">
              <a:buNone/>
            </a:pPr>
            <a:endParaRPr lang="en-US" dirty="0"/>
          </a:p>
          <a:p>
            <a:pPr lvl="1"/>
            <a:endParaRPr lang="en-US" dirty="0"/>
          </a:p>
          <a:p>
            <a:pPr lvl="1"/>
            <a:endParaRPr lang="en-US" dirty="0"/>
          </a:p>
          <a:p>
            <a:pPr lvl="1">
              <a:buNone/>
            </a:pPr>
            <a:endParaRPr lang="en-US" dirty="0"/>
          </a:p>
        </p:txBody>
      </p:sp>
      <p:pic>
        <p:nvPicPr>
          <p:cNvPr id="5" name="Picture 4" descr="security.JPG"/>
          <p:cNvPicPr>
            <a:picLocks noChangeAspect="1"/>
          </p:cNvPicPr>
          <p:nvPr/>
        </p:nvPicPr>
        <p:blipFill>
          <a:blip r:embed="rId2"/>
          <a:stretch>
            <a:fillRect/>
          </a:stretch>
        </p:blipFill>
        <p:spPr>
          <a:xfrm>
            <a:off x="0" y="2743200"/>
            <a:ext cx="9144000" cy="4114800"/>
          </a:xfrm>
          <a:prstGeom prst="rect">
            <a:avLst/>
          </a:prstGeom>
        </p:spPr>
      </p:pic>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1" y="365201"/>
            <a:ext cx="8237092" cy="697230"/>
          </a:xfrm>
        </p:spPr>
        <p:txBody>
          <a:bodyPr>
            <a:normAutofit/>
          </a:bodyPr>
          <a:lstStyle/>
          <a:p>
            <a:r>
              <a:rPr lang="en-US" b="1" dirty="0">
                <a:solidFill>
                  <a:srgbClr val="FF0000"/>
                </a:solidFill>
              </a:rPr>
              <a:t> </a:t>
            </a:r>
            <a:r>
              <a:rPr lang="en-US" b="1" dirty="0">
                <a:solidFill>
                  <a:schemeClr val="tx1"/>
                </a:solidFill>
              </a:rPr>
              <a:t>Data Communication</a:t>
            </a:r>
          </a:p>
        </p:txBody>
      </p:sp>
      <p:sp>
        <p:nvSpPr>
          <p:cNvPr id="3" name="Content Placeholder 2"/>
          <p:cNvSpPr>
            <a:spLocks noGrp="1"/>
          </p:cNvSpPr>
          <p:nvPr>
            <p:ph idx="1"/>
          </p:nvPr>
        </p:nvSpPr>
        <p:spPr/>
        <p:txBody>
          <a:bodyPr/>
          <a:lstStyle/>
          <a:p>
            <a:r>
              <a:rPr lang="en-US" b="1" dirty="0"/>
              <a:t>Data Communication</a:t>
            </a:r>
            <a:r>
              <a:rPr lang="en-US" dirty="0"/>
              <a:t>: </a:t>
            </a:r>
          </a:p>
          <a:p>
            <a:pPr lvl="1"/>
            <a:r>
              <a:rPr lang="en-US" dirty="0"/>
              <a:t>Data communications are exchange of data between two nodes via some form of links.</a:t>
            </a:r>
          </a:p>
          <a:p>
            <a:r>
              <a:rPr lang="en-US" b="1" dirty="0"/>
              <a:t>Data flow or Transmission Mode</a:t>
            </a:r>
            <a:r>
              <a:rPr lang="en-US" dirty="0"/>
              <a:t>:</a:t>
            </a:r>
          </a:p>
          <a:p>
            <a:pPr lvl="1"/>
            <a:r>
              <a:rPr lang="en-US" dirty="0"/>
              <a:t>Data flow means the data is going to flow from one node to another node</a:t>
            </a:r>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types of dataflow.png"/>
          <p:cNvPicPr>
            <a:picLocks noGrp="1" noChangeAspect="1"/>
          </p:cNvPicPr>
          <p:nvPr>
            <p:ph idx="1"/>
          </p:nvPr>
        </p:nvPicPr>
        <p:blipFill>
          <a:blip r:embed="rId2"/>
          <a:stretch>
            <a:fillRect/>
          </a:stretch>
        </p:blipFill>
        <p:spPr>
          <a:xfrm>
            <a:off x="0" y="152400"/>
            <a:ext cx="9144000" cy="3124200"/>
          </a:xfrm>
        </p:spPr>
      </p:pic>
      <p:pic>
        <p:nvPicPr>
          <p:cNvPr id="6" name="Picture 5" descr="simplex.png"/>
          <p:cNvPicPr>
            <a:picLocks noChangeAspect="1"/>
          </p:cNvPicPr>
          <p:nvPr/>
        </p:nvPicPr>
        <p:blipFill>
          <a:blip r:embed="rId3"/>
          <a:stretch>
            <a:fillRect/>
          </a:stretch>
        </p:blipFill>
        <p:spPr>
          <a:xfrm>
            <a:off x="0" y="3657600"/>
            <a:ext cx="2286000" cy="2773680"/>
          </a:xfrm>
          <a:prstGeom prst="rect">
            <a:avLst/>
          </a:prstGeom>
        </p:spPr>
      </p:pic>
      <p:pic>
        <p:nvPicPr>
          <p:cNvPr id="7" name="Picture 6" descr="half duplex.jpeg"/>
          <p:cNvPicPr>
            <a:picLocks noChangeAspect="1"/>
          </p:cNvPicPr>
          <p:nvPr/>
        </p:nvPicPr>
        <p:blipFill>
          <a:blip r:embed="rId4"/>
          <a:stretch>
            <a:fillRect/>
          </a:stretch>
        </p:blipFill>
        <p:spPr>
          <a:xfrm>
            <a:off x="2819400" y="3733800"/>
            <a:ext cx="2750820" cy="2819400"/>
          </a:xfrm>
          <a:prstGeom prst="rect">
            <a:avLst/>
          </a:prstGeom>
        </p:spPr>
      </p:pic>
      <p:pic>
        <p:nvPicPr>
          <p:cNvPr id="8" name="Picture 7" descr="download.jpeg"/>
          <p:cNvPicPr>
            <a:picLocks noChangeAspect="1"/>
          </p:cNvPicPr>
          <p:nvPr/>
        </p:nvPicPr>
        <p:blipFill>
          <a:blip r:embed="rId5"/>
          <a:stretch>
            <a:fillRect/>
          </a:stretch>
        </p:blipFill>
        <p:spPr>
          <a:xfrm>
            <a:off x="6400800" y="3886200"/>
            <a:ext cx="2743200" cy="2590800"/>
          </a:xfrm>
          <a:prstGeom prst="rect">
            <a:avLst/>
          </a:prstGeom>
        </p:spPr>
      </p:pic>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65201"/>
            <a:ext cx="3000375" cy="697230"/>
          </a:xfrm>
          <a:prstGeom prst="rect">
            <a:avLst/>
          </a:prstGeom>
        </p:spPr>
        <p:txBody>
          <a:bodyPr vert="horz" wrap="square" lIns="0" tIns="13335" rIns="0" bIns="0" rtlCol="0">
            <a:spAutoFit/>
          </a:bodyPr>
          <a:lstStyle/>
          <a:p>
            <a:pPr marL="12700">
              <a:lnSpc>
                <a:spcPct val="100000"/>
              </a:lnSpc>
              <a:spcBef>
                <a:spcPts val="105"/>
              </a:spcBef>
            </a:pPr>
            <a:r>
              <a:rPr spc="-195" dirty="0"/>
              <a:t>TOPO</a:t>
            </a:r>
            <a:r>
              <a:rPr spc="-155" dirty="0"/>
              <a:t>L</a:t>
            </a:r>
            <a:r>
              <a:rPr spc="-204" dirty="0"/>
              <a:t>OGY</a:t>
            </a:r>
          </a:p>
        </p:txBody>
      </p:sp>
      <p:sp>
        <p:nvSpPr>
          <p:cNvPr id="3" name="object 3"/>
          <p:cNvSpPr txBox="1"/>
          <p:nvPr/>
        </p:nvSpPr>
        <p:spPr>
          <a:xfrm>
            <a:off x="535940" y="1651806"/>
            <a:ext cx="7984490" cy="1153795"/>
          </a:xfrm>
          <a:prstGeom prst="rect">
            <a:avLst/>
          </a:prstGeom>
        </p:spPr>
        <p:txBody>
          <a:bodyPr vert="horz" wrap="square" lIns="0" tIns="13335" rIns="0" bIns="0" rtlCol="0">
            <a:spAutoFit/>
          </a:bodyPr>
          <a:lstStyle/>
          <a:p>
            <a:pPr marL="236854" marR="5080" indent="-236854">
              <a:lnSpc>
                <a:spcPct val="132100"/>
              </a:lnSpc>
              <a:spcBef>
                <a:spcPts val="105"/>
              </a:spcBef>
              <a:buFont typeface="Trebuchet MS"/>
              <a:buChar char="•"/>
              <a:tabLst>
                <a:tab pos="236854" algn="l"/>
                <a:tab pos="5499735" algn="l"/>
              </a:tabLst>
            </a:pPr>
            <a:r>
              <a:rPr sz="2800" b="1" spc="-80" dirty="0">
                <a:latin typeface="Arial"/>
                <a:cs typeface="Arial"/>
              </a:rPr>
              <a:t>Ho</a:t>
            </a:r>
            <a:r>
              <a:rPr sz="2800" b="1" spc="-85" dirty="0">
                <a:latin typeface="Arial"/>
                <a:cs typeface="Arial"/>
              </a:rPr>
              <a:t>w</a:t>
            </a:r>
            <a:r>
              <a:rPr sz="2800" b="1" spc="-95" dirty="0">
                <a:latin typeface="Arial"/>
                <a:cs typeface="Arial"/>
              </a:rPr>
              <a:t> </a:t>
            </a:r>
            <a:r>
              <a:rPr sz="2800" b="1" spc="-400" dirty="0">
                <a:latin typeface="Arial"/>
                <a:cs typeface="Arial"/>
              </a:rPr>
              <a:t>so</a:t>
            </a:r>
            <a:r>
              <a:rPr sz="2800" b="1" spc="-80" dirty="0">
                <a:latin typeface="Arial"/>
                <a:cs typeface="Arial"/>
              </a:rPr>
              <a:t> </a:t>
            </a:r>
            <a:r>
              <a:rPr sz="2800" b="1" spc="-45" dirty="0">
                <a:latin typeface="Arial"/>
                <a:cs typeface="Arial"/>
              </a:rPr>
              <a:t>man</a:t>
            </a:r>
            <a:r>
              <a:rPr sz="2800" b="1" spc="-30" dirty="0">
                <a:latin typeface="Arial"/>
                <a:cs typeface="Arial"/>
              </a:rPr>
              <a:t>y</a:t>
            </a:r>
            <a:r>
              <a:rPr sz="2800" b="1" spc="-65" dirty="0">
                <a:latin typeface="Arial"/>
                <a:cs typeface="Arial"/>
              </a:rPr>
              <a:t> </a:t>
            </a:r>
            <a:r>
              <a:rPr sz="2800" b="1" spc="-195" dirty="0">
                <a:latin typeface="Arial"/>
                <a:cs typeface="Arial"/>
              </a:rPr>
              <a:t>co</a:t>
            </a:r>
            <a:r>
              <a:rPr sz="2800" b="1" spc="-305" dirty="0">
                <a:latin typeface="Arial"/>
                <a:cs typeface="Arial"/>
              </a:rPr>
              <a:t>m</a:t>
            </a:r>
            <a:r>
              <a:rPr sz="2800" b="1" spc="-125" dirty="0">
                <a:latin typeface="Arial"/>
                <a:cs typeface="Arial"/>
              </a:rPr>
              <a:t>puter</a:t>
            </a:r>
            <a:r>
              <a:rPr sz="2800" b="1" spc="-135" dirty="0">
                <a:latin typeface="Arial"/>
                <a:cs typeface="Arial"/>
              </a:rPr>
              <a:t>s</a:t>
            </a:r>
            <a:r>
              <a:rPr sz="2800" b="1" spc="-55" dirty="0">
                <a:latin typeface="Arial"/>
                <a:cs typeface="Arial"/>
              </a:rPr>
              <a:t> </a:t>
            </a:r>
            <a:r>
              <a:rPr sz="2800" b="1" spc="-35" dirty="0">
                <a:latin typeface="Arial"/>
                <a:cs typeface="Arial"/>
              </a:rPr>
              <a:t>are</a:t>
            </a:r>
            <a:r>
              <a:rPr sz="2800" b="1" spc="-80" dirty="0">
                <a:latin typeface="Arial"/>
                <a:cs typeface="Arial"/>
              </a:rPr>
              <a:t> </a:t>
            </a:r>
            <a:r>
              <a:rPr sz="2800" b="1" spc="-250" dirty="0">
                <a:latin typeface="Arial"/>
                <a:cs typeface="Arial"/>
              </a:rPr>
              <a:t>co</a:t>
            </a:r>
            <a:r>
              <a:rPr sz="2800" b="1" spc="-270" dirty="0">
                <a:latin typeface="Arial"/>
                <a:cs typeface="Arial"/>
              </a:rPr>
              <a:t>n</a:t>
            </a:r>
            <a:r>
              <a:rPr sz="2800" b="1" spc="-130" dirty="0">
                <a:latin typeface="Arial"/>
                <a:cs typeface="Arial"/>
              </a:rPr>
              <a:t>nected</a:t>
            </a:r>
            <a:r>
              <a:rPr sz="2800" b="1" spc="-80" dirty="0">
                <a:latin typeface="Arial"/>
                <a:cs typeface="Arial"/>
              </a:rPr>
              <a:t> </a:t>
            </a:r>
            <a:r>
              <a:rPr sz="2800" b="1" spc="-60" dirty="0">
                <a:latin typeface="Arial"/>
                <a:cs typeface="Arial"/>
              </a:rPr>
              <a:t>toget</a:t>
            </a:r>
            <a:r>
              <a:rPr sz="2800" b="1" spc="-90" dirty="0">
                <a:latin typeface="Arial"/>
                <a:cs typeface="Arial"/>
              </a:rPr>
              <a:t>h</a:t>
            </a:r>
            <a:r>
              <a:rPr sz="2800" b="1" spc="-195" dirty="0">
                <a:latin typeface="Arial"/>
                <a:cs typeface="Arial"/>
              </a:rPr>
              <a:t>er?  </a:t>
            </a:r>
            <a:r>
              <a:rPr sz="2800" b="1" spc="-315" dirty="0">
                <a:solidFill>
                  <a:srgbClr val="FF3300"/>
                </a:solidFill>
                <a:latin typeface="Arial"/>
                <a:cs typeface="Arial"/>
              </a:rPr>
              <a:t>Bu</a:t>
            </a:r>
            <a:r>
              <a:rPr sz="2800" b="1" spc="-260" dirty="0">
                <a:solidFill>
                  <a:srgbClr val="FF3300"/>
                </a:solidFill>
                <a:latin typeface="Arial"/>
                <a:cs typeface="Arial"/>
              </a:rPr>
              <a:t>s</a:t>
            </a:r>
            <a:r>
              <a:rPr sz="2800" b="1" spc="-80" dirty="0">
                <a:solidFill>
                  <a:srgbClr val="FF3300"/>
                </a:solidFill>
                <a:latin typeface="Arial"/>
                <a:cs typeface="Arial"/>
              </a:rPr>
              <a:t> </a:t>
            </a:r>
            <a:r>
              <a:rPr sz="2800" b="1" spc="-185" dirty="0">
                <a:solidFill>
                  <a:srgbClr val="FF3300"/>
                </a:solidFill>
                <a:latin typeface="Arial"/>
                <a:cs typeface="Arial"/>
              </a:rPr>
              <a:t>Top</a:t>
            </a:r>
            <a:r>
              <a:rPr sz="2800" b="1" spc="-195" dirty="0">
                <a:solidFill>
                  <a:srgbClr val="FF3300"/>
                </a:solidFill>
                <a:latin typeface="Arial"/>
                <a:cs typeface="Arial"/>
              </a:rPr>
              <a:t>o</a:t>
            </a:r>
            <a:r>
              <a:rPr sz="2800" b="1" spc="-110" dirty="0">
                <a:solidFill>
                  <a:srgbClr val="FF3300"/>
                </a:solidFill>
                <a:latin typeface="Arial"/>
                <a:cs typeface="Arial"/>
              </a:rPr>
              <a:t>log</a:t>
            </a:r>
            <a:r>
              <a:rPr sz="2800" b="1" spc="-120" dirty="0">
                <a:solidFill>
                  <a:srgbClr val="FF3300"/>
                </a:solidFill>
                <a:latin typeface="Arial"/>
                <a:cs typeface="Arial"/>
              </a:rPr>
              <a:t>y</a:t>
            </a:r>
            <a:r>
              <a:rPr sz="2800" b="1" dirty="0">
                <a:solidFill>
                  <a:srgbClr val="FF3300"/>
                </a:solidFill>
                <a:latin typeface="Arial"/>
                <a:cs typeface="Arial"/>
              </a:rPr>
              <a:t>	</a:t>
            </a:r>
            <a:r>
              <a:rPr sz="2800" b="1" spc="-125" dirty="0">
                <a:solidFill>
                  <a:srgbClr val="FF3300"/>
                </a:solidFill>
                <a:latin typeface="Arial"/>
                <a:cs typeface="Arial"/>
              </a:rPr>
              <a:t>Rin</a:t>
            </a:r>
            <a:r>
              <a:rPr sz="2800" b="1" spc="-135" dirty="0">
                <a:solidFill>
                  <a:srgbClr val="FF3300"/>
                </a:solidFill>
                <a:latin typeface="Arial"/>
                <a:cs typeface="Arial"/>
              </a:rPr>
              <a:t>g</a:t>
            </a:r>
            <a:r>
              <a:rPr sz="2800" b="1" spc="-85" dirty="0">
                <a:solidFill>
                  <a:srgbClr val="FF3300"/>
                </a:solidFill>
                <a:latin typeface="Arial"/>
                <a:cs typeface="Arial"/>
              </a:rPr>
              <a:t> </a:t>
            </a:r>
            <a:r>
              <a:rPr sz="2800" b="1" spc="-185" dirty="0">
                <a:solidFill>
                  <a:srgbClr val="FF3300"/>
                </a:solidFill>
                <a:latin typeface="Arial"/>
                <a:cs typeface="Arial"/>
              </a:rPr>
              <a:t>Top</a:t>
            </a:r>
            <a:r>
              <a:rPr sz="2800" b="1" spc="-195" dirty="0">
                <a:solidFill>
                  <a:srgbClr val="FF3300"/>
                </a:solidFill>
                <a:latin typeface="Arial"/>
                <a:cs typeface="Arial"/>
              </a:rPr>
              <a:t>o</a:t>
            </a:r>
            <a:r>
              <a:rPr sz="2800" b="1" spc="-114" dirty="0">
                <a:solidFill>
                  <a:srgbClr val="FF3300"/>
                </a:solidFill>
                <a:latin typeface="Arial"/>
                <a:cs typeface="Arial"/>
              </a:rPr>
              <a:t>logy</a:t>
            </a:r>
            <a:endParaRPr sz="2800">
              <a:latin typeface="Arial"/>
              <a:cs typeface="Arial"/>
            </a:endParaRPr>
          </a:p>
        </p:txBody>
      </p:sp>
      <p:sp>
        <p:nvSpPr>
          <p:cNvPr id="4" name="object 4"/>
          <p:cNvSpPr txBox="1"/>
          <p:nvPr/>
        </p:nvSpPr>
        <p:spPr>
          <a:xfrm>
            <a:off x="993444" y="4487621"/>
            <a:ext cx="2192655" cy="452120"/>
          </a:xfrm>
          <a:prstGeom prst="rect">
            <a:avLst/>
          </a:prstGeom>
        </p:spPr>
        <p:txBody>
          <a:bodyPr vert="horz" wrap="square" lIns="0" tIns="12065" rIns="0" bIns="0" rtlCol="0">
            <a:spAutoFit/>
          </a:bodyPr>
          <a:lstStyle/>
          <a:p>
            <a:pPr marL="12700">
              <a:lnSpc>
                <a:spcPct val="100000"/>
              </a:lnSpc>
              <a:spcBef>
                <a:spcPts val="95"/>
              </a:spcBef>
            </a:pPr>
            <a:r>
              <a:rPr sz="2800" b="1" spc="-165" dirty="0">
                <a:solidFill>
                  <a:srgbClr val="FF3300"/>
                </a:solidFill>
                <a:latin typeface="Arial"/>
                <a:cs typeface="Arial"/>
              </a:rPr>
              <a:t>St</a:t>
            </a:r>
            <a:r>
              <a:rPr sz="2800" b="1" spc="-190" dirty="0">
                <a:solidFill>
                  <a:srgbClr val="FF3300"/>
                </a:solidFill>
                <a:latin typeface="Arial"/>
                <a:cs typeface="Arial"/>
              </a:rPr>
              <a:t>a</a:t>
            </a:r>
            <a:r>
              <a:rPr sz="2800" b="1" spc="-25" dirty="0">
                <a:solidFill>
                  <a:srgbClr val="FF3300"/>
                </a:solidFill>
                <a:latin typeface="Arial"/>
                <a:cs typeface="Arial"/>
              </a:rPr>
              <a:t>r</a:t>
            </a:r>
            <a:r>
              <a:rPr sz="2800" b="1" spc="-70" dirty="0">
                <a:solidFill>
                  <a:srgbClr val="FF3300"/>
                </a:solidFill>
                <a:latin typeface="Arial"/>
                <a:cs typeface="Arial"/>
              </a:rPr>
              <a:t> </a:t>
            </a:r>
            <a:r>
              <a:rPr sz="2800" b="1" spc="-165" dirty="0">
                <a:solidFill>
                  <a:srgbClr val="FF3300"/>
                </a:solidFill>
                <a:latin typeface="Arial"/>
                <a:cs typeface="Arial"/>
              </a:rPr>
              <a:t>To</a:t>
            </a:r>
            <a:r>
              <a:rPr sz="2800" b="1" spc="-180" dirty="0">
                <a:solidFill>
                  <a:srgbClr val="FF3300"/>
                </a:solidFill>
                <a:latin typeface="Arial"/>
                <a:cs typeface="Arial"/>
              </a:rPr>
              <a:t>p</a:t>
            </a:r>
            <a:r>
              <a:rPr sz="2800" b="1" spc="-150" dirty="0">
                <a:solidFill>
                  <a:srgbClr val="FF3300"/>
                </a:solidFill>
                <a:latin typeface="Arial"/>
                <a:cs typeface="Arial"/>
              </a:rPr>
              <a:t>ol</a:t>
            </a:r>
            <a:r>
              <a:rPr sz="2800" b="1" spc="-220" dirty="0">
                <a:solidFill>
                  <a:srgbClr val="FF3300"/>
                </a:solidFill>
                <a:latin typeface="Arial"/>
                <a:cs typeface="Arial"/>
              </a:rPr>
              <a:t>o</a:t>
            </a:r>
            <a:r>
              <a:rPr sz="2800" b="1" spc="-85" dirty="0">
                <a:solidFill>
                  <a:srgbClr val="FF3300"/>
                </a:solidFill>
                <a:latin typeface="Arial"/>
                <a:cs typeface="Arial"/>
              </a:rPr>
              <a:t>gy</a:t>
            </a:r>
            <a:endParaRPr sz="2800">
              <a:latin typeface="Arial"/>
              <a:cs typeface="Arial"/>
            </a:endParaRPr>
          </a:p>
        </p:txBody>
      </p:sp>
      <p:pic>
        <p:nvPicPr>
          <p:cNvPr id="5" name="object 5"/>
          <p:cNvPicPr/>
          <p:nvPr/>
        </p:nvPicPr>
        <p:blipFill>
          <a:blip r:embed="rId2" cstate="print"/>
          <a:stretch>
            <a:fillRect/>
          </a:stretch>
        </p:blipFill>
        <p:spPr>
          <a:xfrm>
            <a:off x="1295400" y="2965742"/>
            <a:ext cx="3559816" cy="1219518"/>
          </a:xfrm>
          <a:prstGeom prst="rect">
            <a:avLst/>
          </a:prstGeom>
        </p:spPr>
      </p:pic>
      <p:pic>
        <p:nvPicPr>
          <p:cNvPr id="6" name="object 6"/>
          <p:cNvPicPr/>
          <p:nvPr/>
        </p:nvPicPr>
        <p:blipFill>
          <a:blip r:embed="rId3" cstate="print"/>
          <a:stretch>
            <a:fillRect/>
          </a:stretch>
        </p:blipFill>
        <p:spPr>
          <a:xfrm>
            <a:off x="1493432" y="5157787"/>
            <a:ext cx="2920463" cy="1511300"/>
          </a:xfrm>
          <a:prstGeom prst="rect">
            <a:avLst/>
          </a:prstGeom>
        </p:spPr>
      </p:pic>
      <p:sp>
        <p:nvSpPr>
          <p:cNvPr id="7" name="object 7"/>
          <p:cNvSpPr txBox="1"/>
          <p:nvPr/>
        </p:nvSpPr>
        <p:spPr>
          <a:xfrm>
            <a:off x="2667000" y="5386387"/>
            <a:ext cx="709930" cy="457200"/>
          </a:xfrm>
          <a:prstGeom prst="rect">
            <a:avLst/>
          </a:prstGeom>
          <a:solidFill>
            <a:srgbClr val="FFFFFF"/>
          </a:solidFill>
        </p:spPr>
        <p:txBody>
          <a:bodyPr vert="horz" wrap="square" lIns="0" tIns="41910" rIns="0" bIns="0" rtlCol="0">
            <a:spAutoFit/>
          </a:bodyPr>
          <a:lstStyle/>
          <a:p>
            <a:pPr marL="92075">
              <a:lnSpc>
                <a:spcPct val="100000"/>
              </a:lnSpc>
              <a:spcBef>
                <a:spcPts val="330"/>
              </a:spcBef>
            </a:pPr>
            <a:r>
              <a:rPr sz="1800" b="1" spc="-25" dirty="0">
                <a:latin typeface="Arial"/>
                <a:cs typeface="Arial"/>
              </a:rPr>
              <a:t>Hub</a:t>
            </a:r>
            <a:endParaRPr sz="1800">
              <a:latin typeface="Arial"/>
              <a:cs typeface="Arial"/>
            </a:endParaRPr>
          </a:p>
        </p:txBody>
      </p:sp>
      <p:pic>
        <p:nvPicPr>
          <p:cNvPr id="8" name="object 8"/>
          <p:cNvPicPr/>
          <p:nvPr/>
        </p:nvPicPr>
        <p:blipFill>
          <a:blip r:embed="rId4" cstate="print"/>
          <a:stretch>
            <a:fillRect/>
          </a:stretch>
        </p:blipFill>
        <p:spPr>
          <a:xfrm>
            <a:off x="5867400" y="3352736"/>
            <a:ext cx="2476500" cy="2751201"/>
          </a:xfrm>
          <a:prstGeom prst="rect">
            <a:avLst/>
          </a:prstGeom>
        </p:spPr>
      </p:pic>
      <p:sp>
        <p:nvSpPr>
          <p:cNvPr id="9" name="object 9"/>
          <p:cNvSpPr/>
          <p:nvPr/>
        </p:nvSpPr>
        <p:spPr>
          <a:xfrm>
            <a:off x="5257800" y="2819400"/>
            <a:ext cx="0" cy="3429000"/>
          </a:xfrm>
          <a:custGeom>
            <a:avLst/>
            <a:gdLst/>
            <a:ahLst/>
            <a:cxnLst/>
            <a:rect l="l" t="t" r="r" b="b"/>
            <a:pathLst>
              <a:path h="3429000">
                <a:moveTo>
                  <a:pt x="0" y="0"/>
                </a:moveTo>
                <a:lnTo>
                  <a:pt x="0" y="3429000"/>
                </a:lnTo>
              </a:path>
            </a:pathLst>
          </a:custGeom>
          <a:ln w="9525">
            <a:solidFill>
              <a:srgbClr val="000000"/>
            </a:solidFill>
          </a:ln>
        </p:spPr>
        <p:txBody>
          <a:bodyPr wrap="square" lIns="0" tIns="0" rIns="0" bIns="0" rtlCol="0"/>
          <a:lstStyle/>
          <a:p>
            <a:endParaRPr/>
          </a:p>
        </p:txBody>
      </p:sp>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65201"/>
            <a:ext cx="3000375" cy="697230"/>
          </a:xfrm>
          <a:prstGeom prst="rect">
            <a:avLst/>
          </a:prstGeom>
        </p:spPr>
        <p:txBody>
          <a:bodyPr vert="horz" wrap="square" lIns="0" tIns="13335" rIns="0" bIns="0" rtlCol="0">
            <a:spAutoFit/>
          </a:bodyPr>
          <a:lstStyle/>
          <a:p>
            <a:pPr marL="12700">
              <a:lnSpc>
                <a:spcPct val="100000"/>
              </a:lnSpc>
              <a:spcBef>
                <a:spcPts val="105"/>
              </a:spcBef>
            </a:pPr>
            <a:r>
              <a:rPr spc="-195" dirty="0"/>
              <a:t>TOPO</a:t>
            </a:r>
            <a:r>
              <a:rPr spc="-155" dirty="0"/>
              <a:t>L</a:t>
            </a:r>
            <a:r>
              <a:rPr spc="-204" dirty="0"/>
              <a:t>OGY</a:t>
            </a:r>
          </a:p>
        </p:txBody>
      </p:sp>
      <p:sp>
        <p:nvSpPr>
          <p:cNvPr id="3" name="object 3"/>
          <p:cNvSpPr txBox="1">
            <a:spLocks noGrp="1"/>
          </p:cNvSpPr>
          <p:nvPr>
            <p:ph type="body" idx="1"/>
          </p:nvPr>
        </p:nvSpPr>
        <p:spPr>
          <a:xfrm>
            <a:off x="528980" y="1886838"/>
            <a:ext cx="8086039" cy="4038926"/>
          </a:xfrm>
          <a:prstGeom prst="rect">
            <a:avLst/>
          </a:prstGeom>
        </p:spPr>
        <p:txBody>
          <a:bodyPr vert="horz" wrap="square" lIns="0" tIns="12065" rIns="0" bIns="0" rtlCol="0">
            <a:spAutoFit/>
          </a:bodyPr>
          <a:lstStyle/>
          <a:p>
            <a:pPr marL="419734" indent="-287020">
              <a:lnSpc>
                <a:spcPct val="100000"/>
              </a:lnSpc>
              <a:spcBef>
                <a:spcPts val="95"/>
              </a:spcBef>
              <a:buFont typeface="Arial MT"/>
              <a:buChar char="•"/>
              <a:tabLst>
                <a:tab pos="420370" algn="l"/>
                <a:tab pos="421005" algn="l"/>
              </a:tabLst>
            </a:pPr>
            <a:r>
              <a:rPr sz="2000" b="0" spc="-5" dirty="0"/>
              <a:t>Bus</a:t>
            </a:r>
            <a:r>
              <a:rPr sz="2000" b="0" spc="-50" dirty="0"/>
              <a:t> </a:t>
            </a:r>
            <a:r>
              <a:rPr sz="2000" b="0" spc="-30" dirty="0"/>
              <a:t>Topology</a:t>
            </a:r>
          </a:p>
          <a:p>
            <a:pPr marL="819150" lvl="1" indent="-229235">
              <a:lnSpc>
                <a:spcPct val="100000"/>
              </a:lnSpc>
              <a:spcBef>
                <a:spcPts val="40"/>
              </a:spcBef>
              <a:buFont typeface="Trebuchet MS"/>
              <a:buChar char="•"/>
              <a:tabLst>
                <a:tab pos="820419" algn="l"/>
              </a:tabLst>
            </a:pPr>
            <a:r>
              <a:rPr sz="2000" spc="-135" dirty="0">
                <a:latin typeface="Arial"/>
                <a:cs typeface="Arial"/>
              </a:rPr>
              <a:t>Sim</a:t>
            </a:r>
            <a:r>
              <a:rPr sz="2000" spc="-140" dirty="0">
                <a:latin typeface="Arial"/>
                <a:cs typeface="Arial"/>
              </a:rPr>
              <a:t>p</a:t>
            </a:r>
            <a:r>
              <a:rPr sz="2000" spc="-45" dirty="0">
                <a:latin typeface="Arial"/>
                <a:cs typeface="Arial"/>
              </a:rPr>
              <a:t>l</a:t>
            </a:r>
            <a:r>
              <a:rPr sz="2000" spc="-80" dirty="0">
                <a:latin typeface="Arial"/>
                <a:cs typeface="Arial"/>
              </a:rPr>
              <a:t>e</a:t>
            </a:r>
            <a:r>
              <a:rPr sz="2000" spc="-55" dirty="0">
                <a:latin typeface="Arial"/>
                <a:cs typeface="Arial"/>
              </a:rPr>
              <a:t> </a:t>
            </a:r>
            <a:r>
              <a:rPr sz="2000" spc="-20" dirty="0">
                <a:latin typeface="Arial"/>
                <a:cs typeface="Arial"/>
              </a:rPr>
              <a:t>and</a:t>
            </a:r>
            <a:r>
              <a:rPr sz="2000" spc="-40" dirty="0">
                <a:latin typeface="Arial"/>
                <a:cs typeface="Arial"/>
              </a:rPr>
              <a:t> </a:t>
            </a:r>
            <a:r>
              <a:rPr sz="2000" spc="-60" dirty="0">
                <a:latin typeface="Arial"/>
                <a:cs typeface="Arial"/>
              </a:rPr>
              <a:t>lo</a:t>
            </a:r>
            <a:r>
              <a:rPr sz="2000" spc="-95" dirty="0">
                <a:latin typeface="Arial"/>
                <a:cs typeface="Arial"/>
              </a:rPr>
              <a:t>w</a:t>
            </a:r>
            <a:r>
              <a:rPr sz="2000" spc="165" dirty="0">
                <a:latin typeface="Arial"/>
                <a:cs typeface="Arial"/>
              </a:rPr>
              <a:t>-</a:t>
            </a:r>
            <a:r>
              <a:rPr sz="2000" spc="-175" dirty="0">
                <a:latin typeface="Arial"/>
                <a:cs typeface="Arial"/>
              </a:rPr>
              <a:t>cost</a:t>
            </a:r>
            <a:endParaRPr sz="2000">
              <a:latin typeface="Arial"/>
              <a:cs typeface="Arial"/>
            </a:endParaRPr>
          </a:p>
          <a:p>
            <a:pPr marL="819150" lvl="1" indent="-229235">
              <a:lnSpc>
                <a:spcPct val="100000"/>
              </a:lnSpc>
              <a:buFont typeface="Trebuchet MS"/>
              <a:buChar char="•"/>
              <a:tabLst>
                <a:tab pos="820419" algn="l"/>
              </a:tabLst>
            </a:pPr>
            <a:r>
              <a:rPr sz="2000" spc="-55" dirty="0">
                <a:latin typeface="Arial"/>
                <a:cs typeface="Arial"/>
              </a:rPr>
              <a:t>A</a:t>
            </a:r>
            <a:r>
              <a:rPr sz="2000" spc="-60" dirty="0">
                <a:latin typeface="Arial"/>
                <a:cs typeface="Arial"/>
              </a:rPr>
              <a:t> </a:t>
            </a:r>
            <a:r>
              <a:rPr sz="2000" spc="-110" dirty="0">
                <a:latin typeface="Arial"/>
                <a:cs typeface="Arial"/>
              </a:rPr>
              <a:t>single</a:t>
            </a:r>
            <a:r>
              <a:rPr sz="2000" spc="-50" dirty="0">
                <a:latin typeface="Arial"/>
                <a:cs typeface="Arial"/>
              </a:rPr>
              <a:t> </a:t>
            </a:r>
            <a:r>
              <a:rPr sz="2000" spc="-80" dirty="0">
                <a:latin typeface="Arial"/>
                <a:cs typeface="Arial"/>
              </a:rPr>
              <a:t>cable</a:t>
            </a:r>
            <a:r>
              <a:rPr sz="2000" spc="-35" dirty="0">
                <a:latin typeface="Arial"/>
                <a:cs typeface="Arial"/>
              </a:rPr>
              <a:t> </a:t>
            </a:r>
            <a:r>
              <a:rPr sz="2000" spc="-70" dirty="0">
                <a:latin typeface="Arial"/>
                <a:cs typeface="Arial"/>
              </a:rPr>
              <a:t>called</a:t>
            </a:r>
            <a:r>
              <a:rPr sz="2000" spc="-60" dirty="0">
                <a:latin typeface="Arial"/>
                <a:cs typeface="Arial"/>
              </a:rPr>
              <a:t> </a:t>
            </a:r>
            <a:r>
              <a:rPr sz="2000" spc="55" dirty="0">
                <a:latin typeface="Arial"/>
                <a:cs typeface="Arial"/>
              </a:rPr>
              <a:t>a</a:t>
            </a:r>
            <a:r>
              <a:rPr sz="2000" spc="-40" dirty="0">
                <a:latin typeface="Arial"/>
                <a:cs typeface="Arial"/>
              </a:rPr>
              <a:t> </a:t>
            </a:r>
            <a:r>
              <a:rPr sz="2000" dirty="0">
                <a:solidFill>
                  <a:srgbClr val="FF3300"/>
                </a:solidFill>
                <a:latin typeface="Arial"/>
                <a:cs typeface="Arial"/>
              </a:rPr>
              <a:t>trunk</a:t>
            </a:r>
            <a:r>
              <a:rPr sz="2000" spc="-40" dirty="0">
                <a:solidFill>
                  <a:srgbClr val="FF3300"/>
                </a:solidFill>
                <a:latin typeface="Arial"/>
                <a:cs typeface="Arial"/>
              </a:rPr>
              <a:t> </a:t>
            </a:r>
            <a:r>
              <a:rPr sz="2000" spc="-45" dirty="0">
                <a:latin typeface="Arial"/>
                <a:cs typeface="Arial"/>
              </a:rPr>
              <a:t>(</a:t>
            </a:r>
            <a:r>
              <a:rPr sz="2000" spc="-45" dirty="0">
                <a:solidFill>
                  <a:srgbClr val="FF3300"/>
                </a:solidFill>
                <a:latin typeface="Arial"/>
                <a:cs typeface="Arial"/>
              </a:rPr>
              <a:t>backbone</a:t>
            </a:r>
            <a:r>
              <a:rPr sz="2000" spc="-45" dirty="0">
                <a:latin typeface="Arial"/>
                <a:cs typeface="Arial"/>
              </a:rPr>
              <a:t>,</a:t>
            </a:r>
            <a:r>
              <a:rPr sz="2000" spc="-20" dirty="0">
                <a:latin typeface="Arial"/>
                <a:cs typeface="Arial"/>
              </a:rPr>
              <a:t> </a:t>
            </a:r>
            <a:r>
              <a:rPr sz="2000" spc="-70" dirty="0">
                <a:solidFill>
                  <a:srgbClr val="FF3300"/>
                </a:solidFill>
                <a:latin typeface="Arial"/>
                <a:cs typeface="Arial"/>
              </a:rPr>
              <a:t>segment</a:t>
            </a:r>
            <a:r>
              <a:rPr sz="2000" spc="-70" dirty="0">
                <a:latin typeface="Arial"/>
                <a:cs typeface="Arial"/>
              </a:rPr>
              <a:t>)</a:t>
            </a:r>
            <a:endParaRPr sz="2000">
              <a:latin typeface="Arial"/>
              <a:cs typeface="Arial"/>
            </a:endParaRPr>
          </a:p>
          <a:p>
            <a:pPr marL="819150" lvl="1" indent="-229235">
              <a:lnSpc>
                <a:spcPct val="100000"/>
              </a:lnSpc>
              <a:buFont typeface="Trebuchet MS"/>
              <a:buChar char="•"/>
              <a:tabLst>
                <a:tab pos="820419" algn="l"/>
              </a:tabLst>
            </a:pPr>
            <a:r>
              <a:rPr sz="2000" spc="-45" dirty="0">
                <a:latin typeface="Arial"/>
                <a:cs typeface="Arial"/>
              </a:rPr>
              <a:t>Only</a:t>
            </a:r>
            <a:r>
              <a:rPr sz="2000" spc="-80" dirty="0">
                <a:latin typeface="Arial"/>
                <a:cs typeface="Arial"/>
              </a:rPr>
              <a:t> </a:t>
            </a:r>
            <a:r>
              <a:rPr sz="2000" spc="-110" dirty="0">
                <a:latin typeface="Arial"/>
                <a:cs typeface="Arial"/>
              </a:rPr>
              <a:t>one</a:t>
            </a:r>
            <a:r>
              <a:rPr sz="2000" spc="-55" dirty="0">
                <a:latin typeface="Arial"/>
                <a:cs typeface="Arial"/>
              </a:rPr>
              <a:t> </a:t>
            </a:r>
            <a:r>
              <a:rPr sz="2000" spc="-195" dirty="0">
                <a:latin typeface="Arial"/>
                <a:cs typeface="Arial"/>
              </a:rPr>
              <a:t>c</a:t>
            </a:r>
            <a:r>
              <a:rPr sz="2000" spc="-220" dirty="0">
                <a:latin typeface="Arial"/>
                <a:cs typeface="Arial"/>
              </a:rPr>
              <a:t>o</a:t>
            </a:r>
            <a:r>
              <a:rPr sz="2000" spc="-40" dirty="0">
                <a:latin typeface="Arial"/>
                <a:cs typeface="Arial"/>
              </a:rPr>
              <a:t>mpu</a:t>
            </a:r>
            <a:r>
              <a:rPr sz="2000" spc="-15" dirty="0">
                <a:latin typeface="Arial"/>
                <a:cs typeface="Arial"/>
              </a:rPr>
              <a:t>ter</a:t>
            </a:r>
            <a:r>
              <a:rPr sz="2000" spc="-35" dirty="0">
                <a:latin typeface="Arial"/>
                <a:cs typeface="Arial"/>
              </a:rPr>
              <a:t> </a:t>
            </a:r>
            <a:r>
              <a:rPr sz="2000" spc="-100" dirty="0">
                <a:latin typeface="Arial"/>
                <a:cs typeface="Arial"/>
              </a:rPr>
              <a:t>c</a:t>
            </a:r>
            <a:r>
              <a:rPr sz="2000" spc="-110" dirty="0">
                <a:latin typeface="Arial"/>
                <a:cs typeface="Arial"/>
              </a:rPr>
              <a:t>a</a:t>
            </a:r>
            <a:r>
              <a:rPr sz="2000" spc="-80" dirty="0">
                <a:latin typeface="Arial"/>
                <a:cs typeface="Arial"/>
              </a:rPr>
              <a:t>n</a:t>
            </a:r>
            <a:r>
              <a:rPr sz="2000" spc="-35" dirty="0">
                <a:latin typeface="Arial"/>
                <a:cs typeface="Arial"/>
              </a:rPr>
              <a:t> </a:t>
            </a:r>
            <a:r>
              <a:rPr sz="2000" spc="-229" dirty="0">
                <a:latin typeface="Arial"/>
                <a:cs typeface="Arial"/>
              </a:rPr>
              <a:t>s</a:t>
            </a:r>
            <a:r>
              <a:rPr sz="2000" spc="-240" dirty="0">
                <a:latin typeface="Arial"/>
                <a:cs typeface="Arial"/>
              </a:rPr>
              <a:t>e</a:t>
            </a:r>
            <a:r>
              <a:rPr sz="2000" spc="-60" dirty="0">
                <a:latin typeface="Arial"/>
                <a:cs typeface="Arial"/>
              </a:rPr>
              <a:t>nd</a:t>
            </a:r>
            <a:r>
              <a:rPr sz="2000" spc="-45" dirty="0">
                <a:latin typeface="Arial"/>
                <a:cs typeface="Arial"/>
              </a:rPr>
              <a:t> </a:t>
            </a:r>
            <a:r>
              <a:rPr sz="2000" spc="-185" dirty="0">
                <a:latin typeface="Arial"/>
                <a:cs typeface="Arial"/>
              </a:rPr>
              <a:t>me</a:t>
            </a:r>
            <a:r>
              <a:rPr sz="2000" spc="-150" dirty="0">
                <a:latin typeface="Arial"/>
                <a:cs typeface="Arial"/>
              </a:rPr>
              <a:t>s</a:t>
            </a:r>
            <a:r>
              <a:rPr sz="2000" spc="-155" dirty="0">
                <a:latin typeface="Arial"/>
                <a:cs typeface="Arial"/>
              </a:rPr>
              <a:t>s</a:t>
            </a:r>
            <a:r>
              <a:rPr sz="2000" spc="-165" dirty="0">
                <a:latin typeface="Arial"/>
                <a:cs typeface="Arial"/>
              </a:rPr>
              <a:t>a</a:t>
            </a:r>
            <a:r>
              <a:rPr sz="2000" spc="-180" dirty="0">
                <a:latin typeface="Arial"/>
                <a:cs typeface="Arial"/>
              </a:rPr>
              <a:t>ges</a:t>
            </a:r>
            <a:r>
              <a:rPr sz="2000" spc="-50" dirty="0">
                <a:latin typeface="Arial"/>
                <a:cs typeface="Arial"/>
              </a:rPr>
              <a:t> </a:t>
            </a:r>
            <a:r>
              <a:rPr sz="2000" spc="65" dirty="0">
                <a:latin typeface="Arial"/>
                <a:cs typeface="Arial"/>
              </a:rPr>
              <a:t>at</a:t>
            </a:r>
            <a:r>
              <a:rPr sz="2000" spc="-50" dirty="0">
                <a:latin typeface="Arial"/>
                <a:cs typeface="Arial"/>
              </a:rPr>
              <a:t> </a:t>
            </a:r>
            <a:r>
              <a:rPr sz="2000" spc="55" dirty="0">
                <a:latin typeface="Arial"/>
                <a:cs typeface="Arial"/>
              </a:rPr>
              <a:t>a</a:t>
            </a:r>
            <a:r>
              <a:rPr sz="2000" spc="-50" dirty="0">
                <a:latin typeface="Arial"/>
                <a:cs typeface="Arial"/>
              </a:rPr>
              <a:t> </a:t>
            </a:r>
            <a:r>
              <a:rPr sz="2000" spc="80" dirty="0">
                <a:latin typeface="Arial"/>
                <a:cs typeface="Arial"/>
              </a:rPr>
              <a:t>t</a:t>
            </a:r>
            <a:r>
              <a:rPr sz="2000" spc="-45" dirty="0">
                <a:latin typeface="Arial"/>
                <a:cs typeface="Arial"/>
              </a:rPr>
              <a:t>ime</a:t>
            </a:r>
            <a:endParaRPr sz="2000">
              <a:latin typeface="Arial"/>
              <a:cs typeface="Arial"/>
            </a:endParaRPr>
          </a:p>
          <a:p>
            <a:pPr marL="819150" lvl="1" indent="-229235">
              <a:lnSpc>
                <a:spcPct val="100000"/>
              </a:lnSpc>
              <a:buFont typeface="Trebuchet MS"/>
              <a:buChar char="•"/>
              <a:tabLst>
                <a:tab pos="820419" algn="l"/>
              </a:tabLst>
            </a:pPr>
            <a:r>
              <a:rPr sz="2000" spc="-180" dirty="0">
                <a:latin typeface="Arial"/>
                <a:cs typeface="Arial"/>
              </a:rPr>
              <a:t>Pas</a:t>
            </a:r>
            <a:r>
              <a:rPr sz="2000" spc="-175" dirty="0">
                <a:latin typeface="Arial"/>
                <a:cs typeface="Arial"/>
              </a:rPr>
              <a:t>s</a:t>
            </a:r>
            <a:r>
              <a:rPr sz="2000" spc="-15" dirty="0">
                <a:latin typeface="Arial"/>
                <a:cs typeface="Arial"/>
              </a:rPr>
              <a:t>i</a:t>
            </a:r>
            <a:r>
              <a:rPr sz="2000" spc="-40" dirty="0">
                <a:latin typeface="Arial"/>
                <a:cs typeface="Arial"/>
              </a:rPr>
              <a:t>v</a:t>
            </a:r>
            <a:r>
              <a:rPr sz="2000" spc="-100" dirty="0">
                <a:latin typeface="Arial"/>
                <a:cs typeface="Arial"/>
              </a:rPr>
              <a:t>e</a:t>
            </a:r>
            <a:r>
              <a:rPr sz="2000" spc="-50" dirty="0">
                <a:latin typeface="Arial"/>
                <a:cs typeface="Arial"/>
              </a:rPr>
              <a:t> </a:t>
            </a:r>
            <a:r>
              <a:rPr sz="2000" spc="85" dirty="0">
                <a:latin typeface="Arial"/>
                <a:cs typeface="Arial"/>
              </a:rPr>
              <a:t>t</a:t>
            </a:r>
            <a:r>
              <a:rPr sz="2000" spc="-85" dirty="0">
                <a:latin typeface="Arial"/>
                <a:cs typeface="Arial"/>
              </a:rPr>
              <a:t>o</a:t>
            </a:r>
            <a:r>
              <a:rPr sz="2000" spc="-95" dirty="0">
                <a:latin typeface="Arial"/>
                <a:cs typeface="Arial"/>
              </a:rPr>
              <a:t>pol</a:t>
            </a:r>
            <a:r>
              <a:rPr sz="2000" spc="-140" dirty="0">
                <a:latin typeface="Arial"/>
                <a:cs typeface="Arial"/>
              </a:rPr>
              <a:t>o</a:t>
            </a:r>
            <a:r>
              <a:rPr sz="2000" spc="-55" dirty="0">
                <a:latin typeface="Arial"/>
                <a:cs typeface="Arial"/>
              </a:rPr>
              <a:t>gy</a:t>
            </a:r>
            <a:r>
              <a:rPr sz="2000" spc="-60" dirty="0">
                <a:latin typeface="Arial"/>
                <a:cs typeface="Arial"/>
              </a:rPr>
              <a:t> </a:t>
            </a:r>
            <a:r>
              <a:rPr sz="2000" spc="165" dirty="0">
                <a:latin typeface="Arial"/>
                <a:cs typeface="Arial"/>
              </a:rPr>
              <a:t>-</a:t>
            </a:r>
            <a:r>
              <a:rPr sz="2000" spc="-55" dirty="0">
                <a:latin typeface="Arial"/>
                <a:cs typeface="Arial"/>
              </a:rPr>
              <a:t> </a:t>
            </a:r>
            <a:r>
              <a:rPr sz="2000" spc="-195" dirty="0">
                <a:latin typeface="Arial"/>
                <a:cs typeface="Arial"/>
              </a:rPr>
              <a:t>c</a:t>
            </a:r>
            <a:r>
              <a:rPr sz="2000" spc="-220" dirty="0">
                <a:latin typeface="Arial"/>
                <a:cs typeface="Arial"/>
              </a:rPr>
              <a:t>o</a:t>
            </a:r>
            <a:r>
              <a:rPr sz="2000" spc="-40" dirty="0">
                <a:latin typeface="Arial"/>
                <a:cs typeface="Arial"/>
              </a:rPr>
              <a:t>mpu</a:t>
            </a:r>
            <a:r>
              <a:rPr sz="2000" spc="-15" dirty="0">
                <a:latin typeface="Arial"/>
                <a:cs typeface="Arial"/>
              </a:rPr>
              <a:t>ter</a:t>
            </a:r>
            <a:r>
              <a:rPr sz="2000" spc="-35" dirty="0">
                <a:latin typeface="Arial"/>
                <a:cs typeface="Arial"/>
              </a:rPr>
              <a:t> </a:t>
            </a:r>
            <a:r>
              <a:rPr sz="2000" spc="-105" dirty="0">
                <a:latin typeface="Arial"/>
                <a:cs typeface="Arial"/>
              </a:rPr>
              <a:t>on</a:t>
            </a:r>
            <a:r>
              <a:rPr sz="2000" spc="-60" dirty="0">
                <a:latin typeface="Arial"/>
                <a:cs typeface="Arial"/>
              </a:rPr>
              <a:t>l</a:t>
            </a:r>
            <a:r>
              <a:rPr sz="2000" spc="-35" dirty="0">
                <a:latin typeface="Arial"/>
                <a:cs typeface="Arial"/>
              </a:rPr>
              <a:t>y</a:t>
            </a:r>
            <a:r>
              <a:rPr sz="2000" spc="-55" dirty="0">
                <a:latin typeface="Arial"/>
                <a:cs typeface="Arial"/>
              </a:rPr>
              <a:t> </a:t>
            </a:r>
            <a:r>
              <a:rPr sz="2000" spc="-20" dirty="0">
                <a:latin typeface="Arial"/>
                <a:cs typeface="Arial"/>
              </a:rPr>
              <a:t>l</a:t>
            </a:r>
            <a:r>
              <a:rPr sz="2000" spc="-25" dirty="0">
                <a:latin typeface="Arial"/>
                <a:cs typeface="Arial"/>
              </a:rPr>
              <a:t>i</a:t>
            </a:r>
            <a:r>
              <a:rPr sz="2000" spc="-114" dirty="0">
                <a:latin typeface="Arial"/>
                <a:cs typeface="Arial"/>
              </a:rPr>
              <a:t>sten</a:t>
            </a:r>
            <a:r>
              <a:rPr sz="2000" spc="-50" dirty="0">
                <a:latin typeface="Arial"/>
                <a:cs typeface="Arial"/>
              </a:rPr>
              <a:t> </a:t>
            </a:r>
            <a:r>
              <a:rPr sz="2000" spc="-40" dirty="0">
                <a:latin typeface="Arial"/>
                <a:cs typeface="Arial"/>
              </a:rPr>
              <a:t>for</a:t>
            </a:r>
            <a:r>
              <a:rPr sz="2000" spc="-25" dirty="0">
                <a:latin typeface="Arial"/>
                <a:cs typeface="Arial"/>
              </a:rPr>
              <a:t>,</a:t>
            </a:r>
            <a:r>
              <a:rPr sz="2000" spc="-65" dirty="0">
                <a:latin typeface="Arial"/>
                <a:cs typeface="Arial"/>
              </a:rPr>
              <a:t> </a:t>
            </a:r>
            <a:r>
              <a:rPr sz="2000" spc="-50" dirty="0">
                <a:latin typeface="Arial"/>
                <a:cs typeface="Arial"/>
              </a:rPr>
              <a:t>not </a:t>
            </a:r>
            <a:r>
              <a:rPr sz="2000" spc="-45" dirty="0">
                <a:latin typeface="Arial"/>
                <a:cs typeface="Arial"/>
              </a:rPr>
              <a:t>regenerate</a:t>
            </a:r>
            <a:r>
              <a:rPr sz="2000" spc="-50" dirty="0">
                <a:latin typeface="Arial"/>
                <a:cs typeface="Arial"/>
              </a:rPr>
              <a:t> </a:t>
            </a:r>
            <a:r>
              <a:rPr sz="2000" spc="35" dirty="0">
                <a:latin typeface="Arial"/>
                <a:cs typeface="Arial"/>
              </a:rPr>
              <a:t>data</a:t>
            </a:r>
            <a:endParaRPr sz="2000">
              <a:latin typeface="Arial"/>
              <a:cs typeface="Arial"/>
            </a:endParaRPr>
          </a:p>
          <a:p>
            <a:pPr marL="83185" lvl="1">
              <a:lnSpc>
                <a:spcPct val="100000"/>
              </a:lnSpc>
              <a:buFont typeface="Trebuchet MS"/>
              <a:buChar char="•"/>
            </a:pPr>
            <a:endParaRPr sz="2000"/>
          </a:p>
          <a:p>
            <a:pPr marL="83185" lvl="1">
              <a:lnSpc>
                <a:spcPct val="100000"/>
              </a:lnSpc>
              <a:spcBef>
                <a:spcPts val="25"/>
              </a:spcBef>
              <a:buFont typeface="Trebuchet MS"/>
              <a:buChar char="•"/>
            </a:pPr>
            <a:endParaRPr sz="2000"/>
          </a:p>
          <a:p>
            <a:pPr marL="382270" indent="-287020">
              <a:lnSpc>
                <a:spcPct val="100000"/>
              </a:lnSpc>
              <a:buFont typeface="Arial MT"/>
              <a:buChar char="•"/>
              <a:tabLst>
                <a:tab pos="382905" algn="l"/>
                <a:tab pos="383540" algn="l"/>
              </a:tabLst>
            </a:pPr>
            <a:r>
              <a:rPr sz="2000" b="0" spc="-5" dirty="0"/>
              <a:t>Star</a:t>
            </a:r>
            <a:r>
              <a:rPr sz="2000" b="0" spc="-30" dirty="0"/>
              <a:t> </a:t>
            </a:r>
            <a:r>
              <a:rPr sz="2000" b="0" spc="-35" dirty="0"/>
              <a:t>Topology</a:t>
            </a:r>
          </a:p>
          <a:p>
            <a:pPr marL="781685" lvl="1" indent="-229235">
              <a:lnSpc>
                <a:spcPct val="100000"/>
              </a:lnSpc>
              <a:spcBef>
                <a:spcPts val="259"/>
              </a:spcBef>
              <a:buFont typeface="Trebuchet MS"/>
              <a:buChar char="•"/>
              <a:tabLst>
                <a:tab pos="782955" algn="l"/>
              </a:tabLst>
            </a:pPr>
            <a:r>
              <a:rPr sz="2000" spc="-114" dirty="0">
                <a:latin typeface="Arial"/>
                <a:cs typeface="Arial"/>
              </a:rPr>
              <a:t>Each</a:t>
            </a:r>
            <a:r>
              <a:rPr sz="2000" spc="-65" dirty="0">
                <a:latin typeface="Arial"/>
                <a:cs typeface="Arial"/>
              </a:rPr>
              <a:t> </a:t>
            </a:r>
            <a:r>
              <a:rPr sz="2000" spc="-195" dirty="0">
                <a:latin typeface="Arial"/>
                <a:cs typeface="Arial"/>
              </a:rPr>
              <a:t>c</a:t>
            </a:r>
            <a:r>
              <a:rPr sz="2000" spc="-220" dirty="0">
                <a:latin typeface="Arial"/>
                <a:cs typeface="Arial"/>
              </a:rPr>
              <a:t>o</a:t>
            </a:r>
            <a:r>
              <a:rPr sz="2000" spc="-40" dirty="0">
                <a:latin typeface="Arial"/>
                <a:cs typeface="Arial"/>
              </a:rPr>
              <a:t>mpu</a:t>
            </a:r>
            <a:r>
              <a:rPr sz="2000" spc="-15" dirty="0">
                <a:latin typeface="Arial"/>
                <a:cs typeface="Arial"/>
              </a:rPr>
              <a:t>ter</a:t>
            </a:r>
            <a:r>
              <a:rPr sz="2000" spc="-35" dirty="0">
                <a:latin typeface="Arial"/>
                <a:cs typeface="Arial"/>
              </a:rPr>
              <a:t> </a:t>
            </a:r>
            <a:r>
              <a:rPr sz="2000" spc="-130" dirty="0">
                <a:latin typeface="Arial"/>
                <a:cs typeface="Arial"/>
              </a:rPr>
              <a:t>has</a:t>
            </a:r>
            <a:r>
              <a:rPr sz="2000" spc="-45" dirty="0">
                <a:latin typeface="Arial"/>
                <a:cs typeface="Arial"/>
              </a:rPr>
              <a:t> </a:t>
            </a:r>
            <a:r>
              <a:rPr sz="2000" spc="55" dirty="0">
                <a:latin typeface="Arial"/>
                <a:cs typeface="Arial"/>
              </a:rPr>
              <a:t>a</a:t>
            </a:r>
            <a:r>
              <a:rPr sz="2000" spc="-50" dirty="0">
                <a:latin typeface="Arial"/>
                <a:cs typeface="Arial"/>
              </a:rPr>
              <a:t> </a:t>
            </a:r>
            <a:r>
              <a:rPr sz="2000" spc="-80" dirty="0">
                <a:latin typeface="Arial"/>
                <a:cs typeface="Arial"/>
              </a:rPr>
              <a:t>ca</a:t>
            </a:r>
            <a:r>
              <a:rPr sz="2000" spc="-95" dirty="0">
                <a:latin typeface="Arial"/>
                <a:cs typeface="Arial"/>
              </a:rPr>
              <a:t>b</a:t>
            </a:r>
            <a:r>
              <a:rPr sz="2000" spc="-45" dirty="0">
                <a:latin typeface="Arial"/>
                <a:cs typeface="Arial"/>
              </a:rPr>
              <a:t>l</a:t>
            </a:r>
            <a:r>
              <a:rPr sz="2000" spc="-80" dirty="0">
                <a:latin typeface="Arial"/>
                <a:cs typeface="Arial"/>
              </a:rPr>
              <a:t>e</a:t>
            </a:r>
            <a:r>
              <a:rPr sz="2000" spc="-40" dirty="0">
                <a:latin typeface="Arial"/>
                <a:cs typeface="Arial"/>
              </a:rPr>
              <a:t> </a:t>
            </a:r>
            <a:r>
              <a:rPr sz="2000" spc="-195" dirty="0">
                <a:latin typeface="Arial"/>
                <a:cs typeface="Arial"/>
              </a:rPr>
              <a:t>c</a:t>
            </a:r>
            <a:r>
              <a:rPr sz="2000" spc="-220" dirty="0">
                <a:latin typeface="Arial"/>
                <a:cs typeface="Arial"/>
              </a:rPr>
              <a:t>o</a:t>
            </a:r>
            <a:r>
              <a:rPr sz="2000" spc="-130" dirty="0">
                <a:latin typeface="Arial"/>
                <a:cs typeface="Arial"/>
              </a:rPr>
              <a:t>nne</a:t>
            </a:r>
            <a:r>
              <a:rPr sz="2000" spc="-135" dirty="0">
                <a:latin typeface="Arial"/>
                <a:cs typeface="Arial"/>
              </a:rPr>
              <a:t>c</a:t>
            </a:r>
            <a:r>
              <a:rPr sz="2000" spc="-20" dirty="0">
                <a:latin typeface="Arial"/>
                <a:cs typeface="Arial"/>
              </a:rPr>
              <a:t>ted</a:t>
            </a:r>
            <a:r>
              <a:rPr sz="2000" spc="-40" dirty="0">
                <a:latin typeface="Arial"/>
                <a:cs typeface="Arial"/>
              </a:rPr>
              <a:t> </a:t>
            </a:r>
            <a:r>
              <a:rPr sz="2000" spc="-35" dirty="0">
                <a:latin typeface="Arial"/>
                <a:cs typeface="Arial"/>
              </a:rPr>
              <a:t>to</a:t>
            </a:r>
            <a:r>
              <a:rPr sz="2000" spc="-60" dirty="0">
                <a:latin typeface="Arial"/>
                <a:cs typeface="Arial"/>
              </a:rPr>
              <a:t> </a:t>
            </a:r>
            <a:r>
              <a:rPr sz="2000" spc="55" dirty="0">
                <a:latin typeface="Arial"/>
                <a:cs typeface="Arial"/>
              </a:rPr>
              <a:t>a</a:t>
            </a:r>
            <a:r>
              <a:rPr sz="2000" spc="-50" dirty="0">
                <a:latin typeface="Arial"/>
                <a:cs typeface="Arial"/>
              </a:rPr>
              <a:t> </a:t>
            </a:r>
            <a:r>
              <a:rPr sz="2000" spc="-110" dirty="0">
                <a:latin typeface="Arial"/>
                <a:cs typeface="Arial"/>
              </a:rPr>
              <a:t>single</a:t>
            </a:r>
            <a:r>
              <a:rPr sz="2000" spc="-50" dirty="0">
                <a:latin typeface="Arial"/>
                <a:cs typeface="Arial"/>
              </a:rPr>
              <a:t> </a:t>
            </a:r>
            <a:r>
              <a:rPr sz="2000" spc="-75" dirty="0">
                <a:latin typeface="Arial"/>
                <a:cs typeface="Arial"/>
              </a:rPr>
              <a:t>po</a:t>
            </a:r>
            <a:r>
              <a:rPr sz="2000" spc="-45" dirty="0">
                <a:latin typeface="Arial"/>
                <a:cs typeface="Arial"/>
              </a:rPr>
              <a:t>i</a:t>
            </a:r>
            <a:r>
              <a:rPr sz="2000" dirty="0">
                <a:latin typeface="Arial"/>
                <a:cs typeface="Arial"/>
              </a:rPr>
              <a:t>nt</a:t>
            </a:r>
            <a:endParaRPr sz="2000">
              <a:latin typeface="Arial"/>
              <a:cs typeface="Arial"/>
            </a:endParaRPr>
          </a:p>
          <a:p>
            <a:pPr marL="781685" lvl="1" indent="-229235">
              <a:lnSpc>
                <a:spcPct val="100000"/>
              </a:lnSpc>
              <a:spcBef>
                <a:spcPts val="215"/>
              </a:spcBef>
              <a:buFont typeface="Trebuchet MS"/>
              <a:buChar char="•"/>
              <a:tabLst>
                <a:tab pos="782955" algn="l"/>
              </a:tabLst>
            </a:pPr>
            <a:r>
              <a:rPr sz="2000" spc="-75" dirty="0">
                <a:latin typeface="Arial"/>
                <a:cs typeface="Arial"/>
              </a:rPr>
              <a:t>More</a:t>
            </a:r>
            <a:r>
              <a:rPr sz="2000" spc="-65" dirty="0">
                <a:latin typeface="Arial"/>
                <a:cs typeface="Arial"/>
              </a:rPr>
              <a:t> </a:t>
            </a:r>
            <a:r>
              <a:rPr sz="2000" spc="-100" dirty="0">
                <a:latin typeface="Arial"/>
                <a:cs typeface="Arial"/>
              </a:rPr>
              <a:t>c</a:t>
            </a:r>
            <a:r>
              <a:rPr sz="2000" spc="-110" dirty="0">
                <a:latin typeface="Arial"/>
                <a:cs typeface="Arial"/>
              </a:rPr>
              <a:t>a</a:t>
            </a:r>
            <a:r>
              <a:rPr sz="2000" spc="-25" dirty="0">
                <a:latin typeface="Arial"/>
                <a:cs typeface="Arial"/>
              </a:rPr>
              <a:t>bl</a:t>
            </a:r>
            <a:r>
              <a:rPr sz="2000" spc="-30" dirty="0">
                <a:latin typeface="Arial"/>
                <a:cs typeface="Arial"/>
              </a:rPr>
              <a:t>i</a:t>
            </a:r>
            <a:r>
              <a:rPr sz="2000" spc="-50" dirty="0">
                <a:latin typeface="Arial"/>
                <a:cs typeface="Arial"/>
              </a:rPr>
              <a:t>ng,</a:t>
            </a:r>
            <a:r>
              <a:rPr sz="2000" spc="-30" dirty="0">
                <a:latin typeface="Arial"/>
                <a:cs typeface="Arial"/>
              </a:rPr>
              <a:t> </a:t>
            </a:r>
            <a:r>
              <a:rPr sz="2000" spc="-130" dirty="0">
                <a:latin typeface="Arial"/>
                <a:cs typeface="Arial"/>
              </a:rPr>
              <a:t>hen</a:t>
            </a:r>
            <a:r>
              <a:rPr sz="2000" spc="-135" dirty="0">
                <a:latin typeface="Arial"/>
                <a:cs typeface="Arial"/>
              </a:rPr>
              <a:t>c</a:t>
            </a:r>
            <a:r>
              <a:rPr sz="2000" spc="-100" dirty="0">
                <a:latin typeface="Arial"/>
                <a:cs typeface="Arial"/>
              </a:rPr>
              <a:t>e</a:t>
            </a:r>
            <a:r>
              <a:rPr sz="2000" spc="-35" dirty="0">
                <a:latin typeface="Arial"/>
                <a:cs typeface="Arial"/>
              </a:rPr>
              <a:t> </a:t>
            </a:r>
            <a:r>
              <a:rPr sz="2000" spc="-60" dirty="0">
                <a:solidFill>
                  <a:srgbClr val="FF3300"/>
                </a:solidFill>
                <a:latin typeface="Arial"/>
                <a:cs typeface="Arial"/>
              </a:rPr>
              <a:t>higher</a:t>
            </a:r>
            <a:r>
              <a:rPr sz="2000" spc="-50" dirty="0">
                <a:solidFill>
                  <a:srgbClr val="FF3300"/>
                </a:solidFill>
                <a:latin typeface="Arial"/>
                <a:cs typeface="Arial"/>
              </a:rPr>
              <a:t> </a:t>
            </a:r>
            <a:r>
              <a:rPr sz="2000" spc="-195" dirty="0">
                <a:solidFill>
                  <a:srgbClr val="FF3300"/>
                </a:solidFill>
                <a:latin typeface="Arial"/>
                <a:cs typeface="Arial"/>
              </a:rPr>
              <a:t>c</a:t>
            </a:r>
            <a:r>
              <a:rPr sz="2000" spc="-220" dirty="0">
                <a:solidFill>
                  <a:srgbClr val="FF3300"/>
                </a:solidFill>
                <a:latin typeface="Arial"/>
                <a:cs typeface="Arial"/>
              </a:rPr>
              <a:t>o</a:t>
            </a:r>
            <a:r>
              <a:rPr sz="2000" spc="-140" dirty="0">
                <a:solidFill>
                  <a:srgbClr val="FF3300"/>
                </a:solidFill>
                <a:latin typeface="Arial"/>
                <a:cs typeface="Arial"/>
              </a:rPr>
              <a:t>st</a:t>
            </a:r>
            <a:endParaRPr sz="2000">
              <a:latin typeface="Arial"/>
              <a:cs typeface="Arial"/>
            </a:endParaRPr>
          </a:p>
          <a:p>
            <a:pPr marL="781685" lvl="1" indent="-229235">
              <a:lnSpc>
                <a:spcPct val="100000"/>
              </a:lnSpc>
              <a:spcBef>
                <a:spcPts val="215"/>
              </a:spcBef>
              <a:buFont typeface="Trebuchet MS"/>
              <a:buChar char="•"/>
              <a:tabLst>
                <a:tab pos="782955" algn="l"/>
              </a:tabLst>
            </a:pPr>
            <a:r>
              <a:rPr sz="2000" spc="-30" dirty="0">
                <a:latin typeface="Arial"/>
                <a:cs typeface="Arial"/>
              </a:rPr>
              <a:t>All</a:t>
            </a:r>
            <a:r>
              <a:rPr sz="2000" spc="-65" dirty="0">
                <a:latin typeface="Arial"/>
                <a:cs typeface="Arial"/>
              </a:rPr>
              <a:t> </a:t>
            </a:r>
            <a:r>
              <a:rPr sz="2000" spc="-125" dirty="0">
                <a:latin typeface="Arial"/>
                <a:cs typeface="Arial"/>
              </a:rPr>
              <a:t>signals</a:t>
            </a:r>
            <a:r>
              <a:rPr sz="2000" spc="-45" dirty="0">
                <a:latin typeface="Arial"/>
                <a:cs typeface="Arial"/>
              </a:rPr>
              <a:t> </a:t>
            </a:r>
            <a:r>
              <a:rPr sz="2000" spc="-114" dirty="0">
                <a:latin typeface="Arial"/>
                <a:cs typeface="Arial"/>
              </a:rPr>
              <a:t>transmission</a:t>
            </a:r>
            <a:r>
              <a:rPr sz="2000" spc="-10" dirty="0">
                <a:latin typeface="Arial"/>
                <a:cs typeface="Arial"/>
              </a:rPr>
              <a:t> </a:t>
            </a:r>
            <a:r>
              <a:rPr sz="2000" spc="-55" dirty="0">
                <a:latin typeface="Arial"/>
                <a:cs typeface="Arial"/>
              </a:rPr>
              <a:t>through</a:t>
            </a:r>
            <a:r>
              <a:rPr sz="2000" spc="-35" dirty="0">
                <a:latin typeface="Arial"/>
                <a:cs typeface="Arial"/>
              </a:rPr>
              <a:t> the</a:t>
            </a:r>
            <a:r>
              <a:rPr sz="2000" spc="-45" dirty="0">
                <a:latin typeface="Arial"/>
                <a:cs typeface="Arial"/>
              </a:rPr>
              <a:t> </a:t>
            </a:r>
            <a:r>
              <a:rPr sz="2000" spc="-85" dirty="0">
                <a:latin typeface="Arial"/>
                <a:cs typeface="Arial"/>
              </a:rPr>
              <a:t>hub;</a:t>
            </a:r>
            <a:r>
              <a:rPr sz="2000" spc="-40" dirty="0">
                <a:latin typeface="Arial"/>
                <a:cs typeface="Arial"/>
              </a:rPr>
              <a:t> </a:t>
            </a:r>
            <a:r>
              <a:rPr sz="2000" spc="15" dirty="0">
                <a:solidFill>
                  <a:srgbClr val="FF3300"/>
                </a:solidFill>
                <a:latin typeface="Arial"/>
                <a:cs typeface="Arial"/>
              </a:rPr>
              <a:t>if</a:t>
            </a:r>
            <a:r>
              <a:rPr sz="2000" spc="-35" dirty="0">
                <a:solidFill>
                  <a:srgbClr val="FF3300"/>
                </a:solidFill>
                <a:latin typeface="Arial"/>
                <a:cs typeface="Arial"/>
              </a:rPr>
              <a:t> </a:t>
            </a:r>
            <a:r>
              <a:rPr sz="2000" spc="-65" dirty="0">
                <a:solidFill>
                  <a:srgbClr val="FF3300"/>
                </a:solidFill>
                <a:latin typeface="Arial"/>
                <a:cs typeface="Arial"/>
              </a:rPr>
              <a:t>down,</a:t>
            </a:r>
            <a:r>
              <a:rPr sz="2000" spc="-55" dirty="0">
                <a:solidFill>
                  <a:srgbClr val="FF3300"/>
                </a:solidFill>
                <a:latin typeface="Arial"/>
                <a:cs typeface="Arial"/>
              </a:rPr>
              <a:t> </a:t>
            </a:r>
            <a:r>
              <a:rPr sz="2000" spc="-40" dirty="0">
                <a:solidFill>
                  <a:srgbClr val="FF3300"/>
                </a:solidFill>
                <a:latin typeface="Arial"/>
                <a:cs typeface="Arial"/>
              </a:rPr>
              <a:t>entire</a:t>
            </a:r>
            <a:r>
              <a:rPr sz="2000" spc="-35" dirty="0">
                <a:solidFill>
                  <a:srgbClr val="FF3300"/>
                </a:solidFill>
                <a:latin typeface="Arial"/>
                <a:cs typeface="Arial"/>
              </a:rPr>
              <a:t> network</a:t>
            </a:r>
            <a:r>
              <a:rPr sz="2000" spc="-55" dirty="0">
                <a:solidFill>
                  <a:srgbClr val="FF3300"/>
                </a:solidFill>
                <a:latin typeface="Arial"/>
                <a:cs typeface="Arial"/>
              </a:rPr>
              <a:t> </a:t>
            </a:r>
            <a:r>
              <a:rPr sz="2000" spc="-80" dirty="0">
                <a:solidFill>
                  <a:srgbClr val="FF3300"/>
                </a:solidFill>
                <a:latin typeface="Arial"/>
                <a:cs typeface="Arial"/>
              </a:rPr>
              <a:t>down</a:t>
            </a:r>
            <a:endParaRPr sz="2000">
              <a:latin typeface="Arial"/>
              <a:cs typeface="Arial"/>
            </a:endParaRPr>
          </a:p>
          <a:p>
            <a:pPr marL="781685" marR="5080" lvl="1" indent="-228600">
              <a:lnSpc>
                <a:spcPts val="1939"/>
              </a:lnSpc>
              <a:spcBef>
                <a:spcPts val="465"/>
              </a:spcBef>
              <a:buFont typeface="Trebuchet MS"/>
              <a:buChar char="•"/>
              <a:tabLst>
                <a:tab pos="782955" algn="l"/>
              </a:tabLst>
            </a:pPr>
            <a:r>
              <a:rPr sz="2000" spc="-60" dirty="0">
                <a:latin typeface="Arial"/>
                <a:cs typeface="Arial"/>
              </a:rPr>
              <a:t>Depending</a:t>
            </a:r>
            <a:r>
              <a:rPr sz="2000" spc="-35" dirty="0">
                <a:latin typeface="Arial"/>
                <a:cs typeface="Arial"/>
              </a:rPr>
              <a:t> </a:t>
            </a:r>
            <a:r>
              <a:rPr sz="2000" spc="-114" dirty="0">
                <a:latin typeface="Arial"/>
                <a:cs typeface="Arial"/>
              </a:rPr>
              <a:t>on</a:t>
            </a:r>
            <a:r>
              <a:rPr sz="2000" spc="-50" dirty="0">
                <a:latin typeface="Arial"/>
                <a:cs typeface="Arial"/>
              </a:rPr>
              <a:t> </a:t>
            </a:r>
            <a:r>
              <a:rPr sz="2000" spc="-35" dirty="0">
                <a:latin typeface="Arial"/>
                <a:cs typeface="Arial"/>
              </a:rPr>
              <a:t>the</a:t>
            </a:r>
            <a:r>
              <a:rPr sz="2000" spc="-50" dirty="0">
                <a:latin typeface="Arial"/>
                <a:cs typeface="Arial"/>
              </a:rPr>
              <a:t> </a:t>
            </a:r>
            <a:r>
              <a:rPr sz="2000" spc="-65" dirty="0">
                <a:latin typeface="Arial"/>
                <a:cs typeface="Arial"/>
              </a:rPr>
              <a:t>intelligence</a:t>
            </a:r>
            <a:r>
              <a:rPr sz="2000" spc="-50" dirty="0">
                <a:latin typeface="Arial"/>
                <a:cs typeface="Arial"/>
              </a:rPr>
              <a:t> </a:t>
            </a:r>
            <a:r>
              <a:rPr sz="2000" spc="-60" dirty="0">
                <a:latin typeface="Arial"/>
                <a:cs typeface="Arial"/>
              </a:rPr>
              <a:t>of</a:t>
            </a:r>
            <a:r>
              <a:rPr sz="2000" spc="-40" dirty="0">
                <a:latin typeface="Arial"/>
                <a:cs typeface="Arial"/>
              </a:rPr>
              <a:t> </a:t>
            </a:r>
            <a:r>
              <a:rPr sz="2000" spc="-45" dirty="0">
                <a:latin typeface="Arial"/>
                <a:cs typeface="Arial"/>
              </a:rPr>
              <a:t>hub,</a:t>
            </a:r>
            <a:r>
              <a:rPr sz="2000" spc="-40" dirty="0">
                <a:latin typeface="Arial"/>
                <a:cs typeface="Arial"/>
              </a:rPr>
              <a:t> </a:t>
            </a:r>
            <a:r>
              <a:rPr sz="2000" spc="-35" dirty="0">
                <a:latin typeface="Arial"/>
                <a:cs typeface="Arial"/>
              </a:rPr>
              <a:t>two</a:t>
            </a:r>
            <a:r>
              <a:rPr sz="2000" spc="-75" dirty="0">
                <a:latin typeface="Arial"/>
                <a:cs typeface="Arial"/>
              </a:rPr>
              <a:t> </a:t>
            </a:r>
            <a:r>
              <a:rPr sz="2000" spc="-85" dirty="0">
                <a:latin typeface="Arial"/>
                <a:cs typeface="Arial"/>
              </a:rPr>
              <a:t>or</a:t>
            </a:r>
            <a:r>
              <a:rPr sz="2000" spc="-55" dirty="0">
                <a:latin typeface="Arial"/>
                <a:cs typeface="Arial"/>
              </a:rPr>
              <a:t> </a:t>
            </a:r>
            <a:r>
              <a:rPr sz="2000" spc="-80" dirty="0">
                <a:latin typeface="Arial"/>
                <a:cs typeface="Arial"/>
              </a:rPr>
              <a:t>more</a:t>
            </a:r>
            <a:r>
              <a:rPr sz="2000" spc="-10" dirty="0">
                <a:latin typeface="Arial"/>
                <a:cs typeface="Arial"/>
              </a:rPr>
              <a:t> </a:t>
            </a:r>
            <a:r>
              <a:rPr sz="2000" spc="-105" dirty="0">
                <a:latin typeface="Arial"/>
                <a:cs typeface="Arial"/>
              </a:rPr>
              <a:t>computers</a:t>
            </a:r>
            <a:r>
              <a:rPr sz="2000" spc="-35" dirty="0">
                <a:latin typeface="Arial"/>
                <a:cs typeface="Arial"/>
              </a:rPr>
              <a:t> </a:t>
            </a:r>
            <a:r>
              <a:rPr sz="2000" spc="-5" dirty="0">
                <a:latin typeface="Arial"/>
                <a:cs typeface="Arial"/>
              </a:rPr>
              <a:t>may</a:t>
            </a:r>
            <a:r>
              <a:rPr sz="2000" spc="-55" dirty="0">
                <a:latin typeface="Arial"/>
                <a:cs typeface="Arial"/>
              </a:rPr>
              <a:t> </a:t>
            </a:r>
            <a:r>
              <a:rPr sz="2000" spc="-150" dirty="0">
                <a:latin typeface="Arial"/>
                <a:cs typeface="Arial"/>
              </a:rPr>
              <a:t>send </a:t>
            </a:r>
            <a:r>
              <a:rPr sz="2000" spc="-490" dirty="0">
                <a:latin typeface="Arial"/>
                <a:cs typeface="Arial"/>
              </a:rPr>
              <a:t> </a:t>
            </a:r>
            <a:r>
              <a:rPr sz="2000" spc="-185" dirty="0">
                <a:latin typeface="Arial"/>
                <a:cs typeface="Arial"/>
              </a:rPr>
              <a:t>me</a:t>
            </a:r>
            <a:r>
              <a:rPr sz="2000" spc="-150" dirty="0">
                <a:latin typeface="Arial"/>
                <a:cs typeface="Arial"/>
              </a:rPr>
              <a:t>s</a:t>
            </a:r>
            <a:r>
              <a:rPr sz="2000" spc="-155" dirty="0">
                <a:latin typeface="Arial"/>
                <a:cs typeface="Arial"/>
              </a:rPr>
              <a:t>s</a:t>
            </a:r>
            <a:r>
              <a:rPr sz="2000" spc="-165" dirty="0">
                <a:latin typeface="Arial"/>
                <a:cs typeface="Arial"/>
              </a:rPr>
              <a:t>a</a:t>
            </a:r>
            <a:r>
              <a:rPr sz="2000" spc="-90" dirty="0">
                <a:latin typeface="Arial"/>
                <a:cs typeface="Arial"/>
              </a:rPr>
              <a:t>ge</a:t>
            </a:r>
            <a:r>
              <a:rPr sz="2000" spc="-50" dirty="0">
                <a:latin typeface="Arial"/>
                <a:cs typeface="Arial"/>
              </a:rPr>
              <a:t> </a:t>
            </a:r>
            <a:r>
              <a:rPr sz="2000" spc="45" dirty="0">
                <a:latin typeface="Arial"/>
                <a:cs typeface="Arial"/>
              </a:rPr>
              <a:t>a</a:t>
            </a:r>
            <a:r>
              <a:rPr sz="2000" spc="80" dirty="0">
                <a:latin typeface="Arial"/>
                <a:cs typeface="Arial"/>
              </a:rPr>
              <a:t>t</a:t>
            </a:r>
            <a:r>
              <a:rPr sz="2000" spc="-50" dirty="0">
                <a:latin typeface="Arial"/>
                <a:cs typeface="Arial"/>
              </a:rPr>
              <a:t> </a:t>
            </a:r>
            <a:r>
              <a:rPr sz="2000" spc="-35" dirty="0">
                <a:latin typeface="Arial"/>
                <a:cs typeface="Arial"/>
              </a:rPr>
              <a:t>the</a:t>
            </a:r>
            <a:r>
              <a:rPr sz="2000" spc="-60" dirty="0">
                <a:latin typeface="Arial"/>
                <a:cs typeface="Arial"/>
              </a:rPr>
              <a:t> </a:t>
            </a:r>
            <a:r>
              <a:rPr sz="2000" spc="-155" dirty="0">
                <a:latin typeface="Arial"/>
                <a:cs typeface="Arial"/>
              </a:rPr>
              <a:t>s</a:t>
            </a:r>
            <a:r>
              <a:rPr sz="2000" spc="-165" dirty="0">
                <a:latin typeface="Arial"/>
                <a:cs typeface="Arial"/>
              </a:rPr>
              <a:t>a</a:t>
            </a:r>
            <a:r>
              <a:rPr sz="2000" spc="-85" dirty="0">
                <a:latin typeface="Arial"/>
                <a:cs typeface="Arial"/>
              </a:rPr>
              <a:t>m</a:t>
            </a:r>
            <a:r>
              <a:rPr sz="2000" spc="-50" dirty="0">
                <a:latin typeface="Arial"/>
                <a:cs typeface="Arial"/>
              </a:rPr>
              <a:t>e</a:t>
            </a:r>
            <a:r>
              <a:rPr sz="2000" spc="-40" dirty="0">
                <a:latin typeface="Arial"/>
                <a:cs typeface="Arial"/>
              </a:rPr>
              <a:t> </a:t>
            </a:r>
            <a:r>
              <a:rPr sz="2000" spc="-15" dirty="0">
                <a:latin typeface="Arial"/>
                <a:cs typeface="Arial"/>
              </a:rPr>
              <a:t>time</a:t>
            </a:r>
            <a:endParaRPr sz="2000">
              <a:latin typeface="Arial"/>
              <a:cs typeface="Arial"/>
            </a:endParaRPr>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65201"/>
            <a:ext cx="3000375" cy="697230"/>
          </a:xfrm>
          <a:prstGeom prst="rect">
            <a:avLst/>
          </a:prstGeom>
        </p:spPr>
        <p:txBody>
          <a:bodyPr vert="horz" wrap="square" lIns="0" tIns="13335" rIns="0" bIns="0" rtlCol="0">
            <a:spAutoFit/>
          </a:bodyPr>
          <a:lstStyle/>
          <a:p>
            <a:pPr marL="12700">
              <a:lnSpc>
                <a:spcPct val="100000"/>
              </a:lnSpc>
              <a:spcBef>
                <a:spcPts val="105"/>
              </a:spcBef>
            </a:pPr>
            <a:r>
              <a:rPr spc="-195" dirty="0"/>
              <a:t>TOPO</a:t>
            </a:r>
            <a:r>
              <a:rPr spc="-155" dirty="0"/>
              <a:t>L</a:t>
            </a:r>
            <a:r>
              <a:rPr spc="-204" dirty="0"/>
              <a:t>OGY</a:t>
            </a:r>
          </a:p>
        </p:txBody>
      </p:sp>
      <p:sp>
        <p:nvSpPr>
          <p:cNvPr id="3" name="object 3"/>
          <p:cNvSpPr txBox="1"/>
          <p:nvPr/>
        </p:nvSpPr>
        <p:spPr>
          <a:xfrm>
            <a:off x="612140" y="1869707"/>
            <a:ext cx="6997700" cy="3361054"/>
          </a:xfrm>
          <a:prstGeom prst="rect">
            <a:avLst/>
          </a:prstGeom>
        </p:spPr>
        <p:txBody>
          <a:bodyPr vert="horz" wrap="square" lIns="0" tIns="62865" rIns="0" bIns="0" rtlCol="0">
            <a:spAutoFit/>
          </a:bodyPr>
          <a:lstStyle/>
          <a:p>
            <a:pPr marL="355600" indent="-342900">
              <a:lnSpc>
                <a:spcPct val="100000"/>
              </a:lnSpc>
              <a:spcBef>
                <a:spcPts val="495"/>
              </a:spcBef>
              <a:buFont typeface="Arial MT"/>
              <a:buChar char="•"/>
              <a:tabLst>
                <a:tab pos="354965" algn="l"/>
                <a:tab pos="355600" algn="l"/>
              </a:tabLst>
            </a:pPr>
            <a:r>
              <a:rPr sz="2800" spc="-5" dirty="0">
                <a:latin typeface="Arial"/>
                <a:cs typeface="Arial"/>
              </a:rPr>
              <a:t>Ring</a:t>
            </a:r>
            <a:r>
              <a:rPr sz="2800" spc="-50" dirty="0">
                <a:latin typeface="Arial"/>
                <a:cs typeface="Arial"/>
              </a:rPr>
              <a:t> </a:t>
            </a:r>
            <a:r>
              <a:rPr sz="2800" spc="-30" dirty="0">
                <a:latin typeface="Arial"/>
                <a:cs typeface="Arial"/>
              </a:rPr>
              <a:t>Topology</a:t>
            </a:r>
            <a:endParaRPr sz="2800">
              <a:latin typeface="Arial"/>
              <a:cs typeface="Arial"/>
            </a:endParaRPr>
          </a:p>
          <a:p>
            <a:pPr marL="756285" lvl="1" indent="-287020">
              <a:lnSpc>
                <a:spcPct val="100000"/>
              </a:lnSpc>
              <a:spcBef>
                <a:spcPts val="254"/>
              </a:spcBef>
              <a:buFont typeface="Trebuchet MS"/>
              <a:buChar char="•"/>
              <a:tabLst>
                <a:tab pos="756285" algn="l"/>
                <a:tab pos="756920" algn="l"/>
              </a:tabLst>
            </a:pPr>
            <a:r>
              <a:rPr sz="1800" spc="-80" dirty="0">
                <a:latin typeface="Arial"/>
                <a:cs typeface="Arial"/>
              </a:rPr>
              <a:t>Every</a:t>
            </a:r>
            <a:r>
              <a:rPr sz="1800" spc="-65" dirty="0">
                <a:latin typeface="Arial"/>
                <a:cs typeface="Arial"/>
              </a:rPr>
              <a:t> </a:t>
            </a:r>
            <a:r>
              <a:rPr sz="1800" spc="-70" dirty="0">
                <a:latin typeface="Arial"/>
                <a:cs typeface="Arial"/>
              </a:rPr>
              <a:t>computer</a:t>
            </a:r>
            <a:r>
              <a:rPr sz="1800" spc="-30" dirty="0">
                <a:latin typeface="Arial"/>
                <a:cs typeface="Arial"/>
              </a:rPr>
              <a:t> </a:t>
            </a:r>
            <a:r>
              <a:rPr sz="1800" spc="-170" dirty="0">
                <a:latin typeface="Arial"/>
                <a:cs typeface="Arial"/>
              </a:rPr>
              <a:t>serves</a:t>
            </a:r>
            <a:r>
              <a:rPr sz="1800" spc="-50" dirty="0">
                <a:latin typeface="Arial"/>
                <a:cs typeface="Arial"/>
              </a:rPr>
              <a:t> </a:t>
            </a:r>
            <a:r>
              <a:rPr sz="1800" spc="-155" dirty="0">
                <a:latin typeface="Arial"/>
                <a:cs typeface="Arial"/>
              </a:rPr>
              <a:t>as</a:t>
            </a:r>
            <a:r>
              <a:rPr sz="1800" spc="-55" dirty="0">
                <a:latin typeface="Arial"/>
                <a:cs typeface="Arial"/>
              </a:rPr>
              <a:t> </a:t>
            </a:r>
            <a:r>
              <a:rPr sz="1800" spc="55" dirty="0">
                <a:latin typeface="Arial"/>
                <a:cs typeface="Arial"/>
              </a:rPr>
              <a:t>a</a:t>
            </a:r>
            <a:r>
              <a:rPr sz="1800" spc="-45" dirty="0">
                <a:latin typeface="Arial"/>
                <a:cs typeface="Arial"/>
              </a:rPr>
              <a:t> </a:t>
            </a:r>
            <a:r>
              <a:rPr sz="1800" spc="-30" dirty="0">
                <a:latin typeface="Arial"/>
                <a:cs typeface="Arial"/>
              </a:rPr>
              <a:t>repeater</a:t>
            </a:r>
            <a:r>
              <a:rPr sz="1800" spc="-35" dirty="0">
                <a:latin typeface="Arial"/>
                <a:cs typeface="Arial"/>
              </a:rPr>
              <a:t> to</a:t>
            </a:r>
            <a:r>
              <a:rPr sz="1800" spc="-60" dirty="0">
                <a:latin typeface="Arial"/>
                <a:cs typeface="Arial"/>
              </a:rPr>
              <a:t> </a:t>
            </a:r>
            <a:r>
              <a:rPr sz="1800" spc="-130" dirty="0">
                <a:latin typeface="Arial"/>
                <a:cs typeface="Arial"/>
              </a:rPr>
              <a:t>boost</a:t>
            </a:r>
            <a:r>
              <a:rPr sz="1800" spc="-45" dirty="0">
                <a:latin typeface="Arial"/>
                <a:cs typeface="Arial"/>
              </a:rPr>
              <a:t> </a:t>
            </a:r>
            <a:r>
              <a:rPr sz="1800" spc="-125" dirty="0">
                <a:latin typeface="Arial"/>
                <a:cs typeface="Arial"/>
              </a:rPr>
              <a:t>signals</a:t>
            </a:r>
            <a:endParaRPr sz="1800">
              <a:latin typeface="Arial"/>
              <a:cs typeface="Arial"/>
            </a:endParaRPr>
          </a:p>
          <a:p>
            <a:pPr marL="756285" lvl="1" indent="-287020">
              <a:lnSpc>
                <a:spcPct val="100000"/>
              </a:lnSpc>
              <a:spcBef>
                <a:spcPts val="215"/>
              </a:spcBef>
              <a:buFont typeface="Trebuchet MS"/>
              <a:buChar char="•"/>
              <a:tabLst>
                <a:tab pos="756285" algn="l"/>
                <a:tab pos="756920" algn="l"/>
              </a:tabLst>
            </a:pPr>
            <a:r>
              <a:rPr sz="1800" spc="-60" dirty="0">
                <a:latin typeface="Arial"/>
                <a:cs typeface="Arial"/>
              </a:rPr>
              <a:t>Typ</a:t>
            </a:r>
            <a:r>
              <a:rPr sz="1800" spc="-40" dirty="0">
                <a:latin typeface="Arial"/>
                <a:cs typeface="Arial"/>
              </a:rPr>
              <a:t>i</a:t>
            </a:r>
            <a:r>
              <a:rPr sz="1800" spc="-100" dirty="0">
                <a:latin typeface="Arial"/>
                <a:cs typeface="Arial"/>
              </a:rPr>
              <a:t>c</a:t>
            </a:r>
            <a:r>
              <a:rPr sz="1800" spc="-110" dirty="0">
                <a:latin typeface="Arial"/>
                <a:cs typeface="Arial"/>
              </a:rPr>
              <a:t>a</a:t>
            </a:r>
            <a:r>
              <a:rPr sz="1800" spc="-20" dirty="0">
                <a:latin typeface="Arial"/>
                <a:cs typeface="Arial"/>
              </a:rPr>
              <a:t>l</a:t>
            </a:r>
            <a:r>
              <a:rPr sz="1800" spc="-50" dirty="0">
                <a:latin typeface="Arial"/>
                <a:cs typeface="Arial"/>
              </a:rPr>
              <a:t> </a:t>
            </a:r>
            <a:r>
              <a:rPr sz="1800" spc="-5" dirty="0">
                <a:latin typeface="Arial"/>
                <a:cs typeface="Arial"/>
              </a:rPr>
              <a:t>way</a:t>
            </a:r>
            <a:r>
              <a:rPr sz="1800" spc="-50" dirty="0">
                <a:latin typeface="Arial"/>
                <a:cs typeface="Arial"/>
              </a:rPr>
              <a:t> </a:t>
            </a:r>
            <a:r>
              <a:rPr sz="1800" spc="-35" dirty="0">
                <a:latin typeface="Arial"/>
                <a:cs typeface="Arial"/>
              </a:rPr>
              <a:t>to</a:t>
            </a:r>
            <a:r>
              <a:rPr sz="1800" spc="-70" dirty="0">
                <a:latin typeface="Arial"/>
                <a:cs typeface="Arial"/>
              </a:rPr>
              <a:t> </a:t>
            </a:r>
            <a:r>
              <a:rPr sz="1800" spc="-229" dirty="0">
                <a:latin typeface="Arial"/>
                <a:cs typeface="Arial"/>
              </a:rPr>
              <a:t>s</a:t>
            </a:r>
            <a:r>
              <a:rPr sz="1800" spc="-240" dirty="0">
                <a:latin typeface="Arial"/>
                <a:cs typeface="Arial"/>
              </a:rPr>
              <a:t>e</a:t>
            </a:r>
            <a:r>
              <a:rPr sz="1800" spc="-60" dirty="0">
                <a:latin typeface="Arial"/>
                <a:cs typeface="Arial"/>
              </a:rPr>
              <a:t>nd</a:t>
            </a:r>
            <a:r>
              <a:rPr sz="1800" spc="-45" dirty="0">
                <a:latin typeface="Arial"/>
                <a:cs typeface="Arial"/>
              </a:rPr>
              <a:t> </a:t>
            </a:r>
            <a:r>
              <a:rPr sz="1800" spc="-50" dirty="0">
                <a:latin typeface="Arial"/>
                <a:cs typeface="Arial"/>
              </a:rPr>
              <a:t>d</a:t>
            </a:r>
            <a:r>
              <a:rPr sz="1800" spc="10" dirty="0">
                <a:latin typeface="Arial"/>
                <a:cs typeface="Arial"/>
              </a:rPr>
              <a:t>ata:</a:t>
            </a:r>
            <a:endParaRPr sz="1800">
              <a:latin typeface="Arial"/>
              <a:cs typeface="Arial"/>
            </a:endParaRPr>
          </a:p>
          <a:p>
            <a:pPr marL="1155700" lvl="2" indent="-229235">
              <a:lnSpc>
                <a:spcPct val="100000"/>
              </a:lnSpc>
              <a:spcBef>
                <a:spcPts val="219"/>
              </a:spcBef>
              <a:buClr>
                <a:srgbClr val="000000"/>
              </a:buClr>
              <a:buFont typeface="Trebuchet MS"/>
              <a:buChar char="•"/>
              <a:tabLst>
                <a:tab pos="1156335" algn="l"/>
              </a:tabLst>
            </a:pPr>
            <a:r>
              <a:rPr sz="1800" spc="-150" dirty="0">
                <a:solidFill>
                  <a:srgbClr val="FF3300"/>
                </a:solidFill>
                <a:latin typeface="Arial"/>
                <a:cs typeface="Arial"/>
              </a:rPr>
              <a:t>T</a:t>
            </a:r>
            <a:r>
              <a:rPr sz="1800" spc="-160" dirty="0">
                <a:solidFill>
                  <a:srgbClr val="FF3300"/>
                </a:solidFill>
                <a:latin typeface="Arial"/>
                <a:cs typeface="Arial"/>
              </a:rPr>
              <a:t>o</a:t>
            </a:r>
            <a:r>
              <a:rPr sz="1800" spc="-15" dirty="0">
                <a:solidFill>
                  <a:srgbClr val="FF3300"/>
                </a:solidFill>
                <a:latin typeface="Arial"/>
                <a:cs typeface="Arial"/>
              </a:rPr>
              <a:t>k</a:t>
            </a:r>
            <a:r>
              <a:rPr sz="1800" spc="-20" dirty="0">
                <a:solidFill>
                  <a:srgbClr val="FF3300"/>
                </a:solidFill>
                <a:latin typeface="Arial"/>
                <a:cs typeface="Arial"/>
              </a:rPr>
              <a:t>e</a:t>
            </a:r>
            <a:r>
              <a:rPr sz="1800" spc="-80" dirty="0">
                <a:solidFill>
                  <a:srgbClr val="FF3300"/>
                </a:solidFill>
                <a:latin typeface="Arial"/>
                <a:cs typeface="Arial"/>
              </a:rPr>
              <a:t>n</a:t>
            </a:r>
            <a:r>
              <a:rPr sz="1800" spc="-50" dirty="0">
                <a:solidFill>
                  <a:srgbClr val="FF3300"/>
                </a:solidFill>
                <a:latin typeface="Arial"/>
                <a:cs typeface="Arial"/>
              </a:rPr>
              <a:t> </a:t>
            </a:r>
            <a:r>
              <a:rPr sz="1800" spc="15" dirty="0">
                <a:solidFill>
                  <a:srgbClr val="FF3300"/>
                </a:solidFill>
                <a:latin typeface="Arial"/>
                <a:cs typeface="Arial"/>
              </a:rPr>
              <a:t>p</a:t>
            </a:r>
            <a:r>
              <a:rPr sz="1800" spc="10" dirty="0">
                <a:solidFill>
                  <a:srgbClr val="FF3300"/>
                </a:solidFill>
                <a:latin typeface="Arial"/>
                <a:cs typeface="Arial"/>
              </a:rPr>
              <a:t>a</a:t>
            </a:r>
            <a:r>
              <a:rPr sz="1800" spc="-370" dirty="0">
                <a:solidFill>
                  <a:srgbClr val="FF3300"/>
                </a:solidFill>
                <a:latin typeface="Arial"/>
                <a:cs typeface="Arial"/>
              </a:rPr>
              <a:t>ss</a:t>
            </a:r>
            <a:r>
              <a:rPr sz="1800" spc="-30" dirty="0">
                <a:solidFill>
                  <a:srgbClr val="FF3300"/>
                </a:solidFill>
                <a:latin typeface="Arial"/>
                <a:cs typeface="Arial"/>
              </a:rPr>
              <a:t>i</a:t>
            </a:r>
            <a:r>
              <a:rPr sz="1800" spc="-70" dirty="0">
                <a:solidFill>
                  <a:srgbClr val="FF3300"/>
                </a:solidFill>
                <a:latin typeface="Arial"/>
                <a:cs typeface="Arial"/>
              </a:rPr>
              <a:t>n</a:t>
            </a:r>
            <a:r>
              <a:rPr sz="1800" spc="-75" dirty="0">
                <a:solidFill>
                  <a:srgbClr val="FF3300"/>
                </a:solidFill>
                <a:latin typeface="Arial"/>
                <a:cs typeface="Arial"/>
              </a:rPr>
              <a:t>g</a:t>
            </a:r>
            <a:endParaRPr sz="1800">
              <a:latin typeface="Arial"/>
              <a:cs typeface="Arial"/>
            </a:endParaRPr>
          </a:p>
          <a:p>
            <a:pPr marL="1612900" lvl="3" indent="-229235">
              <a:lnSpc>
                <a:spcPct val="100000"/>
              </a:lnSpc>
              <a:spcBef>
                <a:spcPts val="430"/>
              </a:spcBef>
              <a:buFont typeface="Trebuchet MS"/>
              <a:buChar char="•"/>
              <a:tabLst>
                <a:tab pos="1613535" algn="l"/>
              </a:tabLst>
            </a:pPr>
            <a:r>
              <a:rPr sz="1800" spc="-105" dirty="0">
                <a:latin typeface="Arial"/>
                <a:cs typeface="Arial"/>
              </a:rPr>
              <a:t>on</a:t>
            </a:r>
            <a:r>
              <a:rPr sz="1800" spc="-60" dirty="0">
                <a:latin typeface="Arial"/>
                <a:cs typeface="Arial"/>
              </a:rPr>
              <a:t>l</a:t>
            </a:r>
            <a:r>
              <a:rPr sz="1800" spc="-35" dirty="0">
                <a:latin typeface="Arial"/>
                <a:cs typeface="Arial"/>
              </a:rPr>
              <a:t>y</a:t>
            </a:r>
            <a:r>
              <a:rPr sz="1800" spc="-65" dirty="0">
                <a:latin typeface="Arial"/>
                <a:cs typeface="Arial"/>
              </a:rPr>
              <a:t> </a:t>
            </a:r>
            <a:r>
              <a:rPr sz="1800" spc="-35" dirty="0">
                <a:latin typeface="Arial"/>
                <a:cs typeface="Arial"/>
              </a:rPr>
              <a:t>the</a:t>
            </a:r>
            <a:r>
              <a:rPr sz="1800" spc="-50" dirty="0">
                <a:latin typeface="Arial"/>
                <a:cs typeface="Arial"/>
              </a:rPr>
              <a:t> </a:t>
            </a:r>
            <a:r>
              <a:rPr sz="1800" spc="-265" dirty="0">
                <a:latin typeface="Arial"/>
                <a:cs typeface="Arial"/>
              </a:rPr>
              <a:t>c</a:t>
            </a:r>
            <a:r>
              <a:rPr sz="1800" spc="-70" dirty="0">
                <a:latin typeface="Arial"/>
                <a:cs typeface="Arial"/>
              </a:rPr>
              <a:t>omp</a:t>
            </a:r>
            <a:r>
              <a:rPr sz="1800" spc="-65" dirty="0">
                <a:latin typeface="Arial"/>
                <a:cs typeface="Arial"/>
              </a:rPr>
              <a:t>u</a:t>
            </a:r>
            <a:r>
              <a:rPr sz="1800" spc="-15" dirty="0">
                <a:latin typeface="Arial"/>
                <a:cs typeface="Arial"/>
              </a:rPr>
              <a:t>ter</a:t>
            </a:r>
            <a:r>
              <a:rPr sz="1800" spc="-35" dirty="0">
                <a:latin typeface="Arial"/>
                <a:cs typeface="Arial"/>
              </a:rPr>
              <a:t> </a:t>
            </a:r>
            <a:r>
              <a:rPr sz="1800" spc="-90" dirty="0">
                <a:latin typeface="Arial"/>
                <a:cs typeface="Arial"/>
              </a:rPr>
              <a:t>who</a:t>
            </a:r>
            <a:r>
              <a:rPr sz="1800" dirty="0">
                <a:latin typeface="Arial"/>
                <a:cs typeface="Arial"/>
              </a:rPr>
              <a:t> </a:t>
            </a:r>
            <a:r>
              <a:rPr sz="1800" spc="-100" dirty="0">
                <a:latin typeface="Arial"/>
                <a:cs typeface="Arial"/>
              </a:rPr>
              <a:t> </a:t>
            </a:r>
            <a:r>
              <a:rPr sz="1800" spc="-35" dirty="0">
                <a:latin typeface="Arial"/>
                <a:cs typeface="Arial"/>
              </a:rPr>
              <a:t>get</a:t>
            </a:r>
            <a:r>
              <a:rPr sz="1800" spc="-365" dirty="0">
                <a:latin typeface="Arial"/>
                <a:cs typeface="Arial"/>
              </a:rPr>
              <a:t>s</a:t>
            </a:r>
            <a:r>
              <a:rPr sz="1800" spc="-65" dirty="0">
                <a:latin typeface="Arial"/>
                <a:cs typeface="Arial"/>
              </a:rPr>
              <a:t> </a:t>
            </a:r>
            <a:r>
              <a:rPr sz="1800" spc="-35" dirty="0">
                <a:latin typeface="Arial"/>
                <a:cs typeface="Arial"/>
              </a:rPr>
              <a:t>the</a:t>
            </a:r>
            <a:r>
              <a:rPr sz="1800" spc="-50" dirty="0">
                <a:latin typeface="Arial"/>
                <a:cs typeface="Arial"/>
              </a:rPr>
              <a:t> </a:t>
            </a:r>
            <a:r>
              <a:rPr sz="1800" dirty="0">
                <a:latin typeface="Arial"/>
                <a:cs typeface="Arial"/>
              </a:rPr>
              <a:t>to</a:t>
            </a:r>
            <a:r>
              <a:rPr sz="1800" spc="-5" dirty="0">
                <a:latin typeface="Arial"/>
                <a:cs typeface="Arial"/>
              </a:rPr>
              <a:t>k</a:t>
            </a:r>
            <a:r>
              <a:rPr sz="1800" spc="-90" dirty="0">
                <a:latin typeface="Arial"/>
                <a:cs typeface="Arial"/>
              </a:rPr>
              <a:t>en</a:t>
            </a:r>
            <a:r>
              <a:rPr sz="1800" spc="-50" dirty="0">
                <a:latin typeface="Arial"/>
                <a:cs typeface="Arial"/>
              </a:rPr>
              <a:t> </a:t>
            </a:r>
            <a:r>
              <a:rPr sz="1800" spc="-95" dirty="0">
                <a:latin typeface="Arial"/>
                <a:cs typeface="Arial"/>
              </a:rPr>
              <a:t>ca</a:t>
            </a:r>
            <a:r>
              <a:rPr sz="1800" spc="-100" dirty="0">
                <a:latin typeface="Arial"/>
                <a:cs typeface="Arial"/>
              </a:rPr>
              <a:t>n</a:t>
            </a:r>
            <a:r>
              <a:rPr sz="1800" spc="-40" dirty="0">
                <a:latin typeface="Arial"/>
                <a:cs typeface="Arial"/>
              </a:rPr>
              <a:t> </a:t>
            </a:r>
            <a:r>
              <a:rPr sz="1800" spc="-229" dirty="0">
                <a:latin typeface="Arial"/>
                <a:cs typeface="Arial"/>
              </a:rPr>
              <a:t>s</a:t>
            </a:r>
            <a:r>
              <a:rPr sz="1800" spc="-240" dirty="0">
                <a:latin typeface="Arial"/>
                <a:cs typeface="Arial"/>
              </a:rPr>
              <a:t>e</a:t>
            </a:r>
            <a:r>
              <a:rPr sz="1800" spc="-60" dirty="0">
                <a:latin typeface="Arial"/>
                <a:cs typeface="Arial"/>
              </a:rPr>
              <a:t>nd</a:t>
            </a:r>
            <a:r>
              <a:rPr sz="1800" spc="-55" dirty="0">
                <a:latin typeface="Arial"/>
                <a:cs typeface="Arial"/>
              </a:rPr>
              <a:t> </a:t>
            </a:r>
            <a:r>
              <a:rPr sz="1800" spc="-50" dirty="0">
                <a:latin typeface="Arial"/>
                <a:cs typeface="Arial"/>
              </a:rPr>
              <a:t>d</a:t>
            </a:r>
            <a:r>
              <a:rPr sz="1800" spc="65" dirty="0">
                <a:latin typeface="Arial"/>
                <a:cs typeface="Arial"/>
              </a:rPr>
              <a:t>ata</a:t>
            </a:r>
            <a:endParaRPr sz="1800">
              <a:latin typeface="Arial"/>
              <a:cs typeface="Arial"/>
            </a:endParaRPr>
          </a:p>
          <a:p>
            <a:pPr lvl="3">
              <a:lnSpc>
                <a:spcPct val="100000"/>
              </a:lnSpc>
              <a:spcBef>
                <a:spcPts val="50"/>
              </a:spcBef>
              <a:buFont typeface="Trebuchet MS"/>
              <a:buChar char="•"/>
            </a:pPr>
            <a:endParaRPr sz="2400">
              <a:latin typeface="Arial"/>
              <a:cs typeface="Arial"/>
            </a:endParaRPr>
          </a:p>
          <a:p>
            <a:pPr marL="756285" lvl="1" indent="-287020">
              <a:lnSpc>
                <a:spcPct val="100000"/>
              </a:lnSpc>
              <a:buFont typeface="Trebuchet MS"/>
              <a:buChar char="•"/>
              <a:tabLst>
                <a:tab pos="756285" algn="l"/>
                <a:tab pos="756920" algn="l"/>
              </a:tabLst>
            </a:pPr>
            <a:r>
              <a:rPr sz="1800" spc="-70" dirty="0">
                <a:latin typeface="Arial"/>
                <a:cs typeface="Arial"/>
              </a:rPr>
              <a:t>Disadvantages</a:t>
            </a:r>
            <a:endParaRPr sz="1800">
              <a:latin typeface="Arial"/>
              <a:cs typeface="Arial"/>
            </a:endParaRPr>
          </a:p>
          <a:p>
            <a:pPr marL="1155700" lvl="2" indent="-229235">
              <a:lnSpc>
                <a:spcPct val="100000"/>
              </a:lnSpc>
              <a:spcBef>
                <a:spcPts val="434"/>
              </a:spcBef>
              <a:buFont typeface="Trebuchet MS"/>
              <a:buChar char="•"/>
              <a:tabLst>
                <a:tab pos="1156335" algn="l"/>
              </a:tabLst>
            </a:pPr>
            <a:r>
              <a:rPr sz="1800" spc="-25" dirty="0">
                <a:latin typeface="Arial"/>
                <a:cs typeface="Arial"/>
              </a:rPr>
              <a:t>Difficult</a:t>
            </a:r>
            <a:r>
              <a:rPr sz="1800" spc="-65" dirty="0">
                <a:latin typeface="Arial"/>
                <a:cs typeface="Arial"/>
              </a:rPr>
              <a:t> </a:t>
            </a:r>
            <a:r>
              <a:rPr sz="1800" spc="-35" dirty="0">
                <a:latin typeface="Arial"/>
                <a:cs typeface="Arial"/>
              </a:rPr>
              <a:t>to</a:t>
            </a:r>
            <a:r>
              <a:rPr sz="1800" spc="-75" dirty="0">
                <a:latin typeface="Arial"/>
                <a:cs typeface="Arial"/>
              </a:rPr>
              <a:t> </a:t>
            </a:r>
            <a:r>
              <a:rPr sz="1800" spc="-10" dirty="0">
                <a:latin typeface="Arial"/>
                <a:cs typeface="Arial"/>
              </a:rPr>
              <a:t>add</a:t>
            </a:r>
            <a:r>
              <a:rPr sz="1800" spc="-60" dirty="0">
                <a:latin typeface="Arial"/>
                <a:cs typeface="Arial"/>
              </a:rPr>
              <a:t> </a:t>
            </a:r>
            <a:r>
              <a:rPr sz="1800" spc="-105" dirty="0">
                <a:latin typeface="Arial"/>
                <a:cs typeface="Arial"/>
              </a:rPr>
              <a:t>computers</a:t>
            </a:r>
            <a:endParaRPr sz="1800">
              <a:latin typeface="Arial"/>
              <a:cs typeface="Arial"/>
            </a:endParaRPr>
          </a:p>
          <a:p>
            <a:pPr marL="1155700" lvl="2" indent="-229235">
              <a:lnSpc>
                <a:spcPct val="100000"/>
              </a:lnSpc>
              <a:spcBef>
                <a:spcPts val="430"/>
              </a:spcBef>
              <a:buFont typeface="Trebuchet MS"/>
              <a:buChar char="•"/>
              <a:tabLst>
                <a:tab pos="1156335" algn="l"/>
              </a:tabLst>
            </a:pPr>
            <a:r>
              <a:rPr sz="1800" spc="-75" dirty="0">
                <a:latin typeface="Arial"/>
                <a:cs typeface="Arial"/>
              </a:rPr>
              <a:t>More</a:t>
            </a:r>
            <a:r>
              <a:rPr sz="1800" spc="-65" dirty="0">
                <a:latin typeface="Arial"/>
                <a:cs typeface="Arial"/>
              </a:rPr>
              <a:t> </a:t>
            </a:r>
            <a:r>
              <a:rPr sz="1800" spc="-114" dirty="0">
                <a:latin typeface="Arial"/>
                <a:cs typeface="Arial"/>
              </a:rPr>
              <a:t>e</a:t>
            </a:r>
            <a:r>
              <a:rPr sz="1800" spc="-125" dirty="0">
                <a:latin typeface="Arial"/>
                <a:cs typeface="Arial"/>
              </a:rPr>
              <a:t>x</a:t>
            </a:r>
            <a:r>
              <a:rPr sz="1800" spc="-70" dirty="0">
                <a:latin typeface="Arial"/>
                <a:cs typeface="Arial"/>
              </a:rPr>
              <a:t>pe</a:t>
            </a:r>
            <a:r>
              <a:rPr sz="1800" spc="-80" dirty="0">
                <a:latin typeface="Arial"/>
                <a:cs typeface="Arial"/>
              </a:rPr>
              <a:t>n</a:t>
            </a:r>
            <a:r>
              <a:rPr sz="1800" spc="-245" dirty="0">
                <a:latin typeface="Arial"/>
                <a:cs typeface="Arial"/>
              </a:rPr>
              <a:t>s</a:t>
            </a:r>
            <a:r>
              <a:rPr sz="1800" spc="-135" dirty="0">
                <a:latin typeface="Arial"/>
                <a:cs typeface="Arial"/>
              </a:rPr>
              <a:t>i</a:t>
            </a:r>
            <a:r>
              <a:rPr sz="1800" spc="-75" dirty="0">
                <a:latin typeface="Arial"/>
                <a:cs typeface="Arial"/>
              </a:rPr>
              <a:t>ve</a:t>
            </a:r>
            <a:endParaRPr sz="1800">
              <a:latin typeface="Arial"/>
              <a:cs typeface="Arial"/>
            </a:endParaRPr>
          </a:p>
          <a:p>
            <a:pPr marL="1155700" lvl="2" indent="-229235">
              <a:lnSpc>
                <a:spcPct val="100000"/>
              </a:lnSpc>
              <a:spcBef>
                <a:spcPts val="434"/>
              </a:spcBef>
              <a:buFont typeface="Trebuchet MS"/>
              <a:buChar char="•"/>
              <a:tabLst>
                <a:tab pos="1156335" algn="l"/>
              </a:tabLst>
            </a:pPr>
            <a:r>
              <a:rPr sz="1800" spc="25" dirty="0">
                <a:latin typeface="Arial"/>
                <a:cs typeface="Arial"/>
              </a:rPr>
              <a:t>I</a:t>
            </a:r>
            <a:r>
              <a:rPr sz="1800" spc="35" dirty="0">
                <a:latin typeface="Arial"/>
                <a:cs typeface="Arial"/>
              </a:rPr>
              <a:t>f</a:t>
            </a:r>
            <a:r>
              <a:rPr sz="1800" spc="-55" dirty="0">
                <a:latin typeface="Arial"/>
                <a:cs typeface="Arial"/>
              </a:rPr>
              <a:t> </a:t>
            </a:r>
            <a:r>
              <a:rPr sz="1800" spc="-160" dirty="0">
                <a:latin typeface="Arial"/>
                <a:cs typeface="Arial"/>
              </a:rPr>
              <a:t>o</a:t>
            </a:r>
            <a:r>
              <a:rPr sz="1800" spc="-90" dirty="0">
                <a:latin typeface="Arial"/>
                <a:cs typeface="Arial"/>
              </a:rPr>
              <a:t>ne</a:t>
            </a:r>
            <a:r>
              <a:rPr sz="1800" spc="-50" dirty="0">
                <a:latin typeface="Arial"/>
                <a:cs typeface="Arial"/>
              </a:rPr>
              <a:t> </a:t>
            </a:r>
            <a:r>
              <a:rPr sz="1800" spc="-195" dirty="0">
                <a:latin typeface="Arial"/>
                <a:cs typeface="Arial"/>
              </a:rPr>
              <a:t>c</a:t>
            </a:r>
            <a:r>
              <a:rPr sz="1800" spc="-220" dirty="0">
                <a:latin typeface="Arial"/>
                <a:cs typeface="Arial"/>
              </a:rPr>
              <a:t>o</a:t>
            </a:r>
            <a:r>
              <a:rPr sz="1800" spc="-40" dirty="0">
                <a:latin typeface="Arial"/>
                <a:cs typeface="Arial"/>
              </a:rPr>
              <a:t>mpu</a:t>
            </a:r>
            <a:r>
              <a:rPr sz="1800" spc="-15" dirty="0">
                <a:latin typeface="Arial"/>
                <a:cs typeface="Arial"/>
              </a:rPr>
              <a:t>ter</a:t>
            </a:r>
            <a:r>
              <a:rPr sz="1800" spc="-25" dirty="0">
                <a:latin typeface="Arial"/>
                <a:cs typeface="Arial"/>
              </a:rPr>
              <a:t> </a:t>
            </a:r>
            <a:r>
              <a:rPr sz="1800" spc="-55" dirty="0">
                <a:latin typeface="Arial"/>
                <a:cs typeface="Arial"/>
              </a:rPr>
              <a:t>fail</a:t>
            </a:r>
            <a:r>
              <a:rPr sz="1800" spc="-100" dirty="0">
                <a:latin typeface="Arial"/>
                <a:cs typeface="Arial"/>
              </a:rPr>
              <a:t>s</a:t>
            </a:r>
            <a:r>
              <a:rPr sz="1800" spc="5" dirty="0">
                <a:latin typeface="Arial"/>
                <a:cs typeface="Arial"/>
              </a:rPr>
              <a:t>,</a:t>
            </a:r>
            <a:r>
              <a:rPr sz="1800" spc="-50" dirty="0">
                <a:latin typeface="Arial"/>
                <a:cs typeface="Arial"/>
              </a:rPr>
              <a:t> </a:t>
            </a:r>
            <a:r>
              <a:rPr sz="1800" spc="-35" dirty="0">
                <a:latin typeface="Arial"/>
                <a:cs typeface="Arial"/>
              </a:rPr>
              <a:t>w</a:t>
            </a:r>
            <a:r>
              <a:rPr sz="1800" spc="-105" dirty="0">
                <a:latin typeface="Arial"/>
                <a:cs typeface="Arial"/>
              </a:rPr>
              <a:t>ho</a:t>
            </a:r>
            <a:r>
              <a:rPr sz="1800" spc="-60" dirty="0">
                <a:latin typeface="Arial"/>
                <a:cs typeface="Arial"/>
              </a:rPr>
              <a:t>l</a:t>
            </a:r>
            <a:r>
              <a:rPr sz="1800" spc="-100" dirty="0">
                <a:latin typeface="Arial"/>
                <a:cs typeface="Arial"/>
              </a:rPr>
              <a:t>e</a:t>
            </a:r>
            <a:r>
              <a:rPr sz="1800" spc="-60" dirty="0">
                <a:latin typeface="Arial"/>
                <a:cs typeface="Arial"/>
              </a:rPr>
              <a:t> </a:t>
            </a:r>
            <a:r>
              <a:rPr sz="1800" spc="-30" dirty="0">
                <a:latin typeface="Arial"/>
                <a:cs typeface="Arial"/>
              </a:rPr>
              <a:t>net</a:t>
            </a:r>
            <a:r>
              <a:rPr sz="1800" spc="-45" dirty="0">
                <a:latin typeface="Arial"/>
                <a:cs typeface="Arial"/>
              </a:rPr>
              <a:t>w</a:t>
            </a:r>
            <a:r>
              <a:rPr sz="1800" spc="-100" dirty="0">
                <a:latin typeface="Arial"/>
                <a:cs typeface="Arial"/>
              </a:rPr>
              <a:t>o</a:t>
            </a:r>
            <a:r>
              <a:rPr sz="1800" spc="-75" dirty="0">
                <a:latin typeface="Arial"/>
                <a:cs typeface="Arial"/>
              </a:rPr>
              <a:t>r</a:t>
            </a:r>
            <a:r>
              <a:rPr sz="1800" spc="80" dirty="0">
                <a:latin typeface="Arial"/>
                <a:cs typeface="Arial"/>
              </a:rPr>
              <a:t>k</a:t>
            </a:r>
            <a:r>
              <a:rPr sz="1800" spc="-55" dirty="0">
                <a:latin typeface="Arial"/>
                <a:cs typeface="Arial"/>
              </a:rPr>
              <a:t> </a:t>
            </a:r>
            <a:r>
              <a:rPr sz="1800" spc="-60" dirty="0">
                <a:latin typeface="Arial"/>
                <a:cs typeface="Arial"/>
              </a:rPr>
              <a:t>fails</a:t>
            </a:r>
            <a:endParaRPr sz="1800">
              <a:latin typeface="Arial"/>
              <a:cs typeface="Arial"/>
            </a:endParaRPr>
          </a:p>
        </p:txBody>
      </p:sp>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65201"/>
            <a:ext cx="3000375" cy="697230"/>
          </a:xfrm>
          <a:prstGeom prst="rect">
            <a:avLst/>
          </a:prstGeom>
        </p:spPr>
        <p:txBody>
          <a:bodyPr vert="horz" wrap="square" lIns="0" tIns="13335" rIns="0" bIns="0" rtlCol="0">
            <a:spAutoFit/>
          </a:bodyPr>
          <a:lstStyle/>
          <a:p>
            <a:pPr marL="12700">
              <a:lnSpc>
                <a:spcPct val="100000"/>
              </a:lnSpc>
              <a:spcBef>
                <a:spcPts val="105"/>
              </a:spcBef>
            </a:pPr>
            <a:r>
              <a:rPr spc="-195" dirty="0"/>
              <a:t>TOPO</a:t>
            </a:r>
            <a:r>
              <a:rPr spc="-155" dirty="0"/>
              <a:t>L</a:t>
            </a:r>
            <a:r>
              <a:rPr spc="-204" dirty="0"/>
              <a:t>OGY</a:t>
            </a:r>
          </a:p>
        </p:txBody>
      </p:sp>
      <p:pic>
        <p:nvPicPr>
          <p:cNvPr id="4" name="Picture 3" descr="TOPOLOGY.jpeg"/>
          <p:cNvPicPr>
            <a:picLocks noChangeAspect="1"/>
          </p:cNvPicPr>
          <p:nvPr/>
        </p:nvPicPr>
        <p:blipFill>
          <a:blip r:embed="rId2"/>
          <a:stretch>
            <a:fillRect/>
          </a:stretch>
        </p:blipFill>
        <p:spPr>
          <a:xfrm>
            <a:off x="0" y="1524000"/>
            <a:ext cx="9144000" cy="5334000"/>
          </a:xfrm>
          <a:prstGeom prst="rect">
            <a:avLst/>
          </a:prstGeom>
        </p:spPr>
      </p:pic>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1550" y="153415"/>
            <a:ext cx="7836534" cy="1123315"/>
          </a:xfrm>
          <a:prstGeom prst="rect">
            <a:avLst/>
          </a:prstGeom>
        </p:spPr>
        <p:txBody>
          <a:bodyPr vert="horz" wrap="square" lIns="0" tIns="12700" rIns="0" bIns="0" rtlCol="0">
            <a:spAutoFit/>
          </a:bodyPr>
          <a:lstStyle/>
          <a:p>
            <a:pPr marL="1879600" marR="5080" indent="-1867535">
              <a:lnSpc>
                <a:spcPct val="100000"/>
              </a:lnSpc>
              <a:spcBef>
                <a:spcPts val="100"/>
              </a:spcBef>
            </a:pPr>
            <a:r>
              <a:rPr sz="3600" spc="-210" dirty="0"/>
              <a:t>NE</a:t>
            </a:r>
            <a:r>
              <a:rPr sz="3600" spc="-195" dirty="0"/>
              <a:t>T</a:t>
            </a:r>
            <a:r>
              <a:rPr sz="3600" spc="-165" dirty="0"/>
              <a:t>WORK</a:t>
            </a:r>
            <a:r>
              <a:rPr sz="3600" spc="-100" dirty="0"/>
              <a:t> </a:t>
            </a:r>
            <a:r>
              <a:rPr sz="3600" spc="-459" dirty="0"/>
              <a:t>CLASS</a:t>
            </a:r>
            <a:r>
              <a:rPr sz="3600" spc="-200" dirty="0"/>
              <a:t>I</a:t>
            </a:r>
            <a:r>
              <a:rPr sz="3600" spc="-145" dirty="0"/>
              <a:t>FICAT</a:t>
            </a:r>
            <a:r>
              <a:rPr sz="3600" spc="-85" dirty="0"/>
              <a:t>I</a:t>
            </a:r>
            <a:r>
              <a:rPr sz="3600" spc="-10" dirty="0"/>
              <a:t>ON</a:t>
            </a:r>
            <a:r>
              <a:rPr sz="3600" spc="-90" dirty="0"/>
              <a:t> </a:t>
            </a:r>
            <a:r>
              <a:rPr sz="3600" spc="-250" dirty="0"/>
              <a:t>B</a:t>
            </a:r>
            <a:r>
              <a:rPr sz="3600" spc="-225" dirty="0"/>
              <a:t>Y</a:t>
            </a:r>
            <a:r>
              <a:rPr sz="3600" spc="-105" dirty="0"/>
              <a:t> </a:t>
            </a:r>
            <a:r>
              <a:rPr sz="3600" spc="-140" dirty="0"/>
              <a:t>THEIR  COMPONEN</a:t>
            </a:r>
            <a:r>
              <a:rPr sz="3600" spc="-110" dirty="0"/>
              <a:t>T</a:t>
            </a:r>
            <a:r>
              <a:rPr sz="3600" spc="-130" dirty="0"/>
              <a:t> </a:t>
            </a:r>
            <a:r>
              <a:rPr sz="3600" spc="-260" dirty="0"/>
              <a:t>ROLE</a:t>
            </a:r>
            <a:endParaRPr sz="3600"/>
          </a:p>
        </p:txBody>
      </p:sp>
      <p:grpSp>
        <p:nvGrpSpPr>
          <p:cNvPr id="3" name="object 3"/>
          <p:cNvGrpSpPr/>
          <p:nvPr/>
        </p:nvGrpSpPr>
        <p:grpSpPr>
          <a:xfrm>
            <a:off x="2427732" y="2583179"/>
            <a:ext cx="4124325" cy="1614170"/>
            <a:chOff x="2427732" y="2583179"/>
            <a:chExt cx="4124325" cy="1614170"/>
          </a:xfrm>
        </p:grpSpPr>
        <p:pic>
          <p:nvPicPr>
            <p:cNvPr id="4" name="object 4"/>
            <p:cNvPicPr/>
            <p:nvPr/>
          </p:nvPicPr>
          <p:blipFill>
            <a:blip r:embed="rId2" cstate="print"/>
            <a:stretch>
              <a:fillRect/>
            </a:stretch>
          </p:blipFill>
          <p:spPr>
            <a:xfrm>
              <a:off x="4485132" y="3474719"/>
              <a:ext cx="2066543" cy="713231"/>
            </a:xfrm>
            <a:prstGeom prst="rect">
              <a:avLst/>
            </a:prstGeom>
          </p:spPr>
        </p:pic>
        <p:pic>
          <p:nvPicPr>
            <p:cNvPr id="5" name="object 5"/>
            <p:cNvPicPr/>
            <p:nvPr/>
          </p:nvPicPr>
          <p:blipFill>
            <a:blip r:embed="rId3" cstate="print"/>
            <a:stretch>
              <a:fillRect/>
            </a:stretch>
          </p:blipFill>
          <p:spPr>
            <a:xfrm>
              <a:off x="2427732" y="3465575"/>
              <a:ext cx="2089404" cy="731519"/>
            </a:xfrm>
            <a:prstGeom prst="rect">
              <a:avLst/>
            </a:prstGeom>
          </p:spPr>
        </p:pic>
        <p:pic>
          <p:nvPicPr>
            <p:cNvPr id="6" name="object 6"/>
            <p:cNvPicPr/>
            <p:nvPr/>
          </p:nvPicPr>
          <p:blipFill>
            <a:blip r:embed="rId4" cstate="print"/>
            <a:stretch>
              <a:fillRect/>
            </a:stretch>
          </p:blipFill>
          <p:spPr>
            <a:xfrm>
              <a:off x="2756916" y="2583179"/>
              <a:ext cx="3479291" cy="969263"/>
            </a:xfrm>
            <a:prstGeom prst="rect">
              <a:avLst/>
            </a:prstGeom>
          </p:spPr>
        </p:pic>
      </p:grpSp>
      <p:sp>
        <p:nvSpPr>
          <p:cNvPr id="7" name="object 7"/>
          <p:cNvSpPr txBox="1"/>
          <p:nvPr/>
        </p:nvSpPr>
        <p:spPr>
          <a:xfrm>
            <a:off x="3078226" y="2851785"/>
            <a:ext cx="2837180" cy="330835"/>
          </a:xfrm>
          <a:prstGeom prst="rect">
            <a:avLst/>
          </a:prstGeom>
        </p:spPr>
        <p:txBody>
          <a:bodyPr vert="horz" wrap="square" lIns="0" tIns="13335" rIns="0" bIns="0" rtlCol="0">
            <a:spAutoFit/>
          </a:bodyPr>
          <a:lstStyle/>
          <a:p>
            <a:pPr marL="12700">
              <a:lnSpc>
                <a:spcPct val="100000"/>
              </a:lnSpc>
              <a:spcBef>
                <a:spcPts val="105"/>
              </a:spcBef>
            </a:pPr>
            <a:r>
              <a:rPr sz="2000" b="1" spc="-80" dirty="0">
                <a:solidFill>
                  <a:srgbClr val="FFFFFF"/>
                </a:solidFill>
                <a:latin typeface="Arial"/>
                <a:cs typeface="Arial"/>
              </a:rPr>
              <a:t>L</a:t>
            </a:r>
            <a:r>
              <a:rPr sz="2000" b="1" spc="-110" dirty="0">
                <a:solidFill>
                  <a:srgbClr val="FFFFFF"/>
                </a:solidFill>
                <a:latin typeface="Arial"/>
                <a:cs typeface="Arial"/>
              </a:rPr>
              <a:t>O</a:t>
            </a:r>
            <a:r>
              <a:rPr sz="2000" b="1" spc="-140" dirty="0">
                <a:solidFill>
                  <a:srgbClr val="FFFFFF"/>
                </a:solidFill>
                <a:latin typeface="Arial"/>
                <a:cs typeface="Arial"/>
              </a:rPr>
              <a:t>CA</a:t>
            </a:r>
            <a:r>
              <a:rPr sz="2000" b="1" spc="-114" dirty="0">
                <a:solidFill>
                  <a:srgbClr val="FFFFFF"/>
                </a:solidFill>
                <a:latin typeface="Arial"/>
                <a:cs typeface="Arial"/>
              </a:rPr>
              <a:t>L</a:t>
            </a:r>
            <a:r>
              <a:rPr sz="2000" b="1" spc="-70" dirty="0">
                <a:solidFill>
                  <a:srgbClr val="FFFFFF"/>
                </a:solidFill>
                <a:latin typeface="Arial"/>
                <a:cs typeface="Arial"/>
              </a:rPr>
              <a:t> </a:t>
            </a:r>
            <a:r>
              <a:rPr sz="2000" b="1" spc="-145" dirty="0">
                <a:solidFill>
                  <a:srgbClr val="FFFFFF"/>
                </a:solidFill>
                <a:latin typeface="Arial"/>
                <a:cs typeface="Arial"/>
              </a:rPr>
              <a:t>ARE</a:t>
            </a:r>
            <a:r>
              <a:rPr sz="2000" b="1" spc="-55" dirty="0">
                <a:solidFill>
                  <a:srgbClr val="FFFFFF"/>
                </a:solidFill>
                <a:latin typeface="Arial"/>
                <a:cs typeface="Arial"/>
              </a:rPr>
              <a:t>A</a:t>
            </a:r>
            <a:r>
              <a:rPr sz="2000" b="1" spc="-65" dirty="0">
                <a:solidFill>
                  <a:srgbClr val="FFFFFF"/>
                </a:solidFill>
                <a:latin typeface="Arial"/>
                <a:cs typeface="Arial"/>
              </a:rPr>
              <a:t> </a:t>
            </a:r>
            <a:r>
              <a:rPr sz="2000" b="1" spc="-90" dirty="0">
                <a:solidFill>
                  <a:srgbClr val="FFFFFF"/>
                </a:solidFill>
                <a:latin typeface="Arial"/>
                <a:cs typeface="Arial"/>
              </a:rPr>
              <a:t>N</a:t>
            </a:r>
            <a:r>
              <a:rPr sz="2000" b="1" spc="-85" dirty="0">
                <a:solidFill>
                  <a:srgbClr val="FFFFFF"/>
                </a:solidFill>
                <a:latin typeface="Arial"/>
                <a:cs typeface="Arial"/>
              </a:rPr>
              <a:t>E</a:t>
            </a:r>
            <a:r>
              <a:rPr sz="2000" b="1" spc="-100" dirty="0">
                <a:solidFill>
                  <a:srgbClr val="FFFFFF"/>
                </a:solidFill>
                <a:latin typeface="Arial"/>
                <a:cs typeface="Arial"/>
              </a:rPr>
              <a:t>TWO</a:t>
            </a:r>
            <a:r>
              <a:rPr sz="2000" b="1" spc="-105" dirty="0">
                <a:solidFill>
                  <a:srgbClr val="FFFFFF"/>
                </a:solidFill>
                <a:latin typeface="Arial"/>
                <a:cs typeface="Arial"/>
              </a:rPr>
              <a:t>R</a:t>
            </a:r>
            <a:r>
              <a:rPr sz="2000" b="1" spc="-130" dirty="0">
                <a:solidFill>
                  <a:srgbClr val="FFFFFF"/>
                </a:solidFill>
                <a:latin typeface="Arial"/>
                <a:cs typeface="Arial"/>
              </a:rPr>
              <a:t>K</a:t>
            </a:r>
            <a:endParaRPr sz="2000">
              <a:latin typeface="Arial"/>
              <a:cs typeface="Arial"/>
            </a:endParaRPr>
          </a:p>
        </p:txBody>
      </p:sp>
      <p:pic>
        <p:nvPicPr>
          <p:cNvPr id="8" name="object 8"/>
          <p:cNvPicPr/>
          <p:nvPr/>
        </p:nvPicPr>
        <p:blipFill>
          <a:blip r:embed="rId5" cstate="print"/>
          <a:stretch>
            <a:fillRect/>
          </a:stretch>
        </p:blipFill>
        <p:spPr>
          <a:xfrm>
            <a:off x="713231" y="4169664"/>
            <a:ext cx="3474720" cy="1197864"/>
          </a:xfrm>
          <a:prstGeom prst="rect">
            <a:avLst/>
          </a:prstGeom>
        </p:spPr>
      </p:pic>
      <p:sp>
        <p:nvSpPr>
          <p:cNvPr id="9" name="object 9"/>
          <p:cNvSpPr txBox="1"/>
          <p:nvPr/>
        </p:nvSpPr>
        <p:spPr>
          <a:xfrm>
            <a:off x="955954" y="4551679"/>
            <a:ext cx="2992755" cy="330835"/>
          </a:xfrm>
          <a:prstGeom prst="rect">
            <a:avLst/>
          </a:prstGeom>
        </p:spPr>
        <p:txBody>
          <a:bodyPr vert="horz" wrap="square" lIns="0" tIns="12700" rIns="0" bIns="0" rtlCol="0">
            <a:spAutoFit/>
          </a:bodyPr>
          <a:lstStyle/>
          <a:p>
            <a:pPr marL="12700">
              <a:lnSpc>
                <a:spcPct val="100000"/>
              </a:lnSpc>
              <a:spcBef>
                <a:spcPts val="100"/>
              </a:spcBef>
            </a:pPr>
            <a:r>
              <a:rPr sz="2000" b="1" spc="-145" dirty="0">
                <a:solidFill>
                  <a:srgbClr val="FFFFFF"/>
                </a:solidFill>
                <a:latin typeface="Arial"/>
                <a:cs typeface="Arial"/>
              </a:rPr>
              <a:t>PE</a:t>
            </a:r>
            <a:r>
              <a:rPr sz="2000" b="1" spc="-155" dirty="0">
                <a:solidFill>
                  <a:srgbClr val="FFFFFF"/>
                </a:solidFill>
                <a:latin typeface="Arial"/>
                <a:cs typeface="Arial"/>
              </a:rPr>
              <a:t>E</a:t>
            </a:r>
            <a:r>
              <a:rPr sz="2000" b="1" spc="-170" dirty="0">
                <a:solidFill>
                  <a:srgbClr val="FFFFFF"/>
                </a:solidFill>
                <a:latin typeface="Arial"/>
                <a:cs typeface="Arial"/>
              </a:rPr>
              <a:t>R</a:t>
            </a:r>
            <a:r>
              <a:rPr sz="2000" b="1" spc="-70" dirty="0">
                <a:solidFill>
                  <a:srgbClr val="FFFFFF"/>
                </a:solidFill>
                <a:latin typeface="Arial"/>
                <a:cs typeface="Arial"/>
              </a:rPr>
              <a:t> </a:t>
            </a:r>
            <a:r>
              <a:rPr sz="2000" b="1" spc="-110" dirty="0">
                <a:solidFill>
                  <a:srgbClr val="FFFFFF"/>
                </a:solidFill>
                <a:latin typeface="Arial"/>
                <a:cs typeface="Arial"/>
              </a:rPr>
              <a:t>TO</a:t>
            </a:r>
            <a:r>
              <a:rPr sz="2000" b="1" spc="-65" dirty="0">
                <a:solidFill>
                  <a:srgbClr val="FFFFFF"/>
                </a:solidFill>
                <a:latin typeface="Arial"/>
                <a:cs typeface="Arial"/>
              </a:rPr>
              <a:t> </a:t>
            </a:r>
            <a:r>
              <a:rPr sz="2000" b="1" spc="-150" dirty="0">
                <a:solidFill>
                  <a:srgbClr val="FFFFFF"/>
                </a:solidFill>
                <a:latin typeface="Arial"/>
                <a:cs typeface="Arial"/>
              </a:rPr>
              <a:t>PEER</a:t>
            </a:r>
            <a:r>
              <a:rPr sz="2000" b="1" spc="-75" dirty="0">
                <a:solidFill>
                  <a:srgbClr val="FFFFFF"/>
                </a:solidFill>
                <a:latin typeface="Arial"/>
                <a:cs typeface="Arial"/>
              </a:rPr>
              <a:t> </a:t>
            </a:r>
            <a:r>
              <a:rPr sz="2000" b="1" spc="-90" dirty="0">
                <a:solidFill>
                  <a:srgbClr val="FFFFFF"/>
                </a:solidFill>
                <a:latin typeface="Arial"/>
                <a:cs typeface="Arial"/>
              </a:rPr>
              <a:t>N</a:t>
            </a:r>
            <a:r>
              <a:rPr sz="2000" b="1" spc="-85" dirty="0">
                <a:solidFill>
                  <a:srgbClr val="FFFFFF"/>
                </a:solidFill>
                <a:latin typeface="Arial"/>
                <a:cs typeface="Arial"/>
              </a:rPr>
              <a:t>E</a:t>
            </a:r>
            <a:r>
              <a:rPr sz="2000" b="1" spc="-100" dirty="0">
                <a:solidFill>
                  <a:srgbClr val="FFFFFF"/>
                </a:solidFill>
                <a:latin typeface="Arial"/>
                <a:cs typeface="Arial"/>
              </a:rPr>
              <a:t>TWO</a:t>
            </a:r>
            <a:r>
              <a:rPr sz="2000" b="1" spc="-105" dirty="0">
                <a:solidFill>
                  <a:srgbClr val="FFFFFF"/>
                </a:solidFill>
                <a:latin typeface="Arial"/>
                <a:cs typeface="Arial"/>
              </a:rPr>
              <a:t>R</a:t>
            </a:r>
            <a:r>
              <a:rPr sz="2000" b="1" spc="-130" dirty="0">
                <a:solidFill>
                  <a:srgbClr val="FFFFFF"/>
                </a:solidFill>
                <a:latin typeface="Arial"/>
                <a:cs typeface="Arial"/>
              </a:rPr>
              <a:t>K</a:t>
            </a:r>
            <a:endParaRPr sz="2000">
              <a:latin typeface="Arial"/>
              <a:cs typeface="Arial"/>
            </a:endParaRPr>
          </a:p>
        </p:txBody>
      </p:sp>
      <p:pic>
        <p:nvPicPr>
          <p:cNvPr id="10" name="object 10"/>
          <p:cNvPicPr/>
          <p:nvPr/>
        </p:nvPicPr>
        <p:blipFill>
          <a:blip r:embed="rId6" cstate="print"/>
          <a:stretch>
            <a:fillRect/>
          </a:stretch>
        </p:blipFill>
        <p:spPr>
          <a:xfrm>
            <a:off x="4800600" y="4169664"/>
            <a:ext cx="3479292" cy="1229868"/>
          </a:xfrm>
          <a:prstGeom prst="rect">
            <a:avLst/>
          </a:prstGeom>
        </p:spPr>
      </p:pic>
      <p:sp>
        <p:nvSpPr>
          <p:cNvPr id="11" name="object 11"/>
          <p:cNvSpPr txBox="1"/>
          <p:nvPr/>
        </p:nvSpPr>
        <p:spPr>
          <a:xfrm>
            <a:off x="4993004" y="4566665"/>
            <a:ext cx="3097530" cy="330835"/>
          </a:xfrm>
          <a:prstGeom prst="rect">
            <a:avLst/>
          </a:prstGeom>
        </p:spPr>
        <p:txBody>
          <a:bodyPr vert="horz" wrap="square" lIns="0" tIns="12700" rIns="0" bIns="0" rtlCol="0">
            <a:spAutoFit/>
          </a:bodyPr>
          <a:lstStyle/>
          <a:p>
            <a:pPr marL="12700">
              <a:lnSpc>
                <a:spcPct val="100000"/>
              </a:lnSpc>
              <a:spcBef>
                <a:spcPts val="100"/>
              </a:spcBef>
            </a:pPr>
            <a:r>
              <a:rPr sz="2000" b="1" spc="-120" dirty="0">
                <a:solidFill>
                  <a:srgbClr val="FFFFFF"/>
                </a:solidFill>
                <a:latin typeface="Arial"/>
                <a:cs typeface="Arial"/>
              </a:rPr>
              <a:t>CLI</a:t>
            </a:r>
            <a:r>
              <a:rPr sz="2000" b="1" spc="-155" dirty="0">
                <a:solidFill>
                  <a:srgbClr val="FFFFFF"/>
                </a:solidFill>
                <a:latin typeface="Arial"/>
                <a:cs typeface="Arial"/>
              </a:rPr>
              <a:t>E</a:t>
            </a:r>
            <a:r>
              <a:rPr sz="2000" b="1" spc="-70" dirty="0">
                <a:solidFill>
                  <a:srgbClr val="FFFFFF"/>
                </a:solidFill>
                <a:latin typeface="Arial"/>
                <a:cs typeface="Arial"/>
              </a:rPr>
              <a:t>N</a:t>
            </a:r>
            <a:r>
              <a:rPr sz="2000" b="1" spc="-55" dirty="0">
                <a:solidFill>
                  <a:srgbClr val="FFFFFF"/>
                </a:solidFill>
                <a:latin typeface="Arial"/>
                <a:cs typeface="Arial"/>
              </a:rPr>
              <a:t>T</a:t>
            </a:r>
            <a:r>
              <a:rPr sz="2000" b="1" spc="-85" dirty="0">
                <a:solidFill>
                  <a:srgbClr val="FFFFFF"/>
                </a:solidFill>
                <a:latin typeface="Arial"/>
                <a:cs typeface="Arial"/>
              </a:rPr>
              <a:t> </a:t>
            </a:r>
            <a:r>
              <a:rPr sz="2000" b="1" spc="-290" dirty="0">
                <a:solidFill>
                  <a:srgbClr val="FFFFFF"/>
                </a:solidFill>
                <a:latin typeface="Arial"/>
                <a:cs typeface="Arial"/>
              </a:rPr>
              <a:t>SE</a:t>
            </a:r>
            <a:r>
              <a:rPr sz="2000" b="1" spc="-325" dirty="0">
                <a:solidFill>
                  <a:srgbClr val="FFFFFF"/>
                </a:solidFill>
                <a:latin typeface="Arial"/>
                <a:cs typeface="Arial"/>
              </a:rPr>
              <a:t>R</a:t>
            </a:r>
            <a:r>
              <a:rPr sz="2000" b="1" spc="-135" dirty="0">
                <a:solidFill>
                  <a:srgbClr val="FFFFFF"/>
                </a:solidFill>
                <a:latin typeface="Arial"/>
                <a:cs typeface="Arial"/>
              </a:rPr>
              <a:t>VER</a:t>
            </a:r>
            <a:r>
              <a:rPr sz="2000" b="1" spc="-55" dirty="0">
                <a:solidFill>
                  <a:srgbClr val="FFFFFF"/>
                </a:solidFill>
                <a:latin typeface="Arial"/>
                <a:cs typeface="Arial"/>
              </a:rPr>
              <a:t> </a:t>
            </a:r>
            <a:r>
              <a:rPr sz="2000" b="1" spc="-90" dirty="0">
                <a:solidFill>
                  <a:srgbClr val="FFFFFF"/>
                </a:solidFill>
                <a:latin typeface="Arial"/>
                <a:cs typeface="Arial"/>
              </a:rPr>
              <a:t>N</a:t>
            </a:r>
            <a:r>
              <a:rPr sz="2000" b="1" spc="-85" dirty="0">
                <a:solidFill>
                  <a:srgbClr val="FFFFFF"/>
                </a:solidFill>
                <a:latin typeface="Arial"/>
                <a:cs typeface="Arial"/>
              </a:rPr>
              <a:t>E</a:t>
            </a:r>
            <a:r>
              <a:rPr sz="2000" b="1" spc="-100" dirty="0">
                <a:solidFill>
                  <a:srgbClr val="FFFFFF"/>
                </a:solidFill>
                <a:latin typeface="Arial"/>
                <a:cs typeface="Arial"/>
              </a:rPr>
              <a:t>TWO</a:t>
            </a:r>
            <a:r>
              <a:rPr sz="2000" b="1" spc="-105" dirty="0">
                <a:solidFill>
                  <a:srgbClr val="FFFFFF"/>
                </a:solidFill>
                <a:latin typeface="Arial"/>
                <a:cs typeface="Arial"/>
              </a:rPr>
              <a:t>R</a:t>
            </a:r>
            <a:r>
              <a:rPr sz="2000" b="1" spc="-130" dirty="0">
                <a:solidFill>
                  <a:srgbClr val="FFFFFF"/>
                </a:solidFill>
                <a:latin typeface="Arial"/>
                <a:cs typeface="Arial"/>
              </a:rPr>
              <a:t>K</a:t>
            </a:r>
            <a:endParaRPr sz="2000">
              <a:latin typeface="Arial"/>
              <a:cs typeface="Arial"/>
            </a:endParaRPr>
          </a:p>
        </p:txBody>
      </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65201"/>
            <a:ext cx="6563359" cy="697230"/>
          </a:xfrm>
          <a:prstGeom prst="rect">
            <a:avLst/>
          </a:prstGeom>
        </p:spPr>
        <p:txBody>
          <a:bodyPr vert="horz" wrap="square" lIns="0" tIns="13335" rIns="0" bIns="0" rtlCol="0">
            <a:spAutoFit/>
          </a:bodyPr>
          <a:lstStyle/>
          <a:p>
            <a:pPr marL="12700">
              <a:lnSpc>
                <a:spcPct val="100000"/>
              </a:lnSpc>
              <a:spcBef>
                <a:spcPts val="105"/>
              </a:spcBef>
            </a:pPr>
            <a:r>
              <a:rPr spc="-335" dirty="0"/>
              <a:t>PEER</a:t>
            </a:r>
            <a:r>
              <a:rPr spc="-150" dirty="0"/>
              <a:t> </a:t>
            </a:r>
            <a:r>
              <a:rPr spc="-240" dirty="0"/>
              <a:t>TO</a:t>
            </a:r>
            <a:r>
              <a:rPr spc="-120" dirty="0"/>
              <a:t> </a:t>
            </a:r>
            <a:r>
              <a:rPr spc="-335" dirty="0"/>
              <a:t>PEER</a:t>
            </a:r>
            <a:r>
              <a:rPr spc="-140" dirty="0"/>
              <a:t> </a:t>
            </a:r>
            <a:r>
              <a:rPr spc="-210" dirty="0"/>
              <a:t>NETWO</a:t>
            </a:r>
            <a:r>
              <a:rPr spc="-195" dirty="0"/>
              <a:t>R</a:t>
            </a:r>
            <a:r>
              <a:rPr spc="-285" dirty="0"/>
              <a:t>K</a:t>
            </a:r>
          </a:p>
        </p:txBody>
      </p:sp>
      <p:sp>
        <p:nvSpPr>
          <p:cNvPr id="3" name="object 3"/>
          <p:cNvSpPr txBox="1"/>
          <p:nvPr/>
        </p:nvSpPr>
        <p:spPr>
          <a:xfrm>
            <a:off x="688340" y="1638122"/>
            <a:ext cx="7972425" cy="1742144"/>
          </a:xfrm>
          <a:prstGeom prst="rect">
            <a:avLst/>
          </a:prstGeom>
        </p:spPr>
        <p:txBody>
          <a:bodyPr vert="horz" wrap="square" lIns="0" tIns="79375" rIns="0" bIns="0" rtlCol="0">
            <a:spAutoFit/>
          </a:bodyPr>
          <a:lstStyle/>
          <a:p>
            <a:pPr marL="332740" marR="75565" indent="-320675">
              <a:lnSpc>
                <a:spcPct val="80000"/>
              </a:lnSpc>
              <a:spcBef>
                <a:spcPts val="625"/>
              </a:spcBef>
              <a:buClr>
                <a:srgbClr val="DA1F28"/>
              </a:buClr>
              <a:buSzPct val="59090"/>
              <a:buFont typeface="Wingdings"/>
              <a:buChar char=""/>
              <a:tabLst>
                <a:tab pos="332740" algn="l"/>
                <a:tab pos="333375" algn="l"/>
              </a:tabLst>
            </a:pPr>
            <a:r>
              <a:rPr lang="en-US" sz="2200" b="1" spc="-50" dirty="0">
                <a:latin typeface="Arial"/>
                <a:cs typeface="Arial"/>
              </a:rPr>
              <a:t>No centralized administration</a:t>
            </a:r>
          </a:p>
          <a:p>
            <a:pPr marL="332740" marR="75565" indent="-320675">
              <a:lnSpc>
                <a:spcPct val="80000"/>
              </a:lnSpc>
              <a:spcBef>
                <a:spcPts val="625"/>
              </a:spcBef>
              <a:buClr>
                <a:srgbClr val="DA1F28"/>
              </a:buClr>
              <a:buSzPct val="59090"/>
              <a:buFont typeface="Wingdings"/>
              <a:buChar char=""/>
              <a:tabLst>
                <a:tab pos="332740" algn="l"/>
                <a:tab pos="333375" algn="l"/>
              </a:tabLst>
            </a:pPr>
            <a:r>
              <a:rPr lang="en-US" sz="2200" b="1" spc="-50" dirty="0">
                <a:latin typeface="Arial"/>
                <a:cs typeface="Arial"/>
              </a:rPr>
              <a:t>All peers are equal</a:t>
            </a:r>
          </a:p>
          <a:p>
            <a:pPr marL="332740" marR="75565" indent="-320675">
              <a:lnSpc>
                <a:spcPct val="80000"/>
              </a:lnSpc>
              <a:spcBef>
                <a:spcPts val="625"/>
              </a:spcBef>
              <a:buClr>
                <a:srgbClr val="DA1F28"/>
              </a:buClr>
              <a:buSzPct val="59090"/>
              <a:buFont typeface="Wingdings"/>
              <a:buChar char=""/>
              <a:tabLst>
                <a:tab pos="332740" algn="l"/>
                <a:tab pos="333375" algn="l"/>
              </a:tabLst>
            </a:pPr>
            <a:r>
              <a:rPr lang="en-US" sz="2200" b="1" spc="-50" dirty="0">
                <a:latin typeface="Arial"/>
                <a:cs typeface="Arial"/>
              </a:rPr>
              <a:t>Simple applications</a:t>
            </a:r>
          </a:p>
          <a:p>
            <a:pPr marL="332740" marR="75565" indent="-320675">
              <a:lnSpc>
                <a:spcPct val="80000"/>
              </a:lnSpc>
              <a:spcBef>
                <a:spcPts val="625"/>
              </a:spcBef>
              <a:buClr>
                <a:srgbClr val="DA1F28"/>
              </a:buClr>
              <a:buSzPct val="59090"/>
              <a:buFont typeface="Wingdings"/>
              <a:buChar char=""/>
              <a:tabLst>
                <a:tab pos="332740" algn="l"/>
                <a:tab pos="333375" algn="l"/>
              </a:tabLst>
            </a:pPr>
            <a:r>
              <a:rPr lang="en-US" sz="2200" b="1" spc="-50" dirty="0">
                <a:latin typeface="Arial"/>
                <a:cs typeface="Arial"/>
              </a:rPr>
              <a:t>No scalable</a:t>
            </a:r>
          </a:p>
          <a:p>
            <a:pPr marL="332740" marR="32384" indent="-320675">
              <a:lnSpc>
                <a:spcPct val="80000"/>
              </a:lnSpc>
              <a:spcBef>
                <a:spcPts val="625"/>
              </a:spcBef>
              <a:buClr>
                <a:srgbClr val="DA1F28"/>
              </a:buClr>
              <a:buSzPct val="59090"/>
              <a:buFont typeface="Wingdings"/>
              <a:buChar char=""/>
              <a:tabLst>
                <a:tab pos="332740" algn="l"/>
                <a:tab pos="333375" algn="l"/>
              </a:tabLst>
            </a:pPr>
            <a:endParaRPr sz="2200">
              <a:latin typeface="Arial"/>
              <a:cs typeface="Arial"/>
            </a:endParaRPr>
          </a:p>
        </p:txBody>
      </p:sp>
    </p:spTree>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269043"/>
            <a:ext cx="7868920" cy="873957"/>
          </a:xfrm>
          <a:prstGeom prst="rect">
            <a:avLst/>
          </a:prstGeom>
        </p:spPr>
        <p:txBody>
          <a:bodyPr vert="horz" wrap="square" lIns="0" tIns="12065" rIns="0" bIns="0" rtlCol="0">
            <a:spAutoFit/>
          </a:bodyPr>
          <a:lstStyle/>
          <a:p>
            <a:pPr marL="12700" marR="5080">
              <a:lnSpc>
                <a:spcPct val="100000"/>
              </a:lnSpc>
              <a:spcBef>
                <a:spcPts val="95"/>
              </a:spcBef>
            </a:pPr>
            <a:r>
              <a:rPr sz="2800" spc="-120" dirty="0"/>
              <a:t>ADVANTA</a:t>
            </a:r>
            <a:r>
              <a:rPr sz="2800" spc="-130" dirty="0"/>
              <a:t>G</a:t>
            </a:r>
            <a:r>
              <a:rPr sz="2800" spc="-715" dirty="0"/>
              <a:t>ES</a:t>
            </a:r>
            <a:r>
              <a:rPr sz="2800" spc="-80" dirty="0"/>
              <a:t> </a:t>
            </a:r>
            <a:r>
              <a:rPr sz="2800" spc="-100" dirty="0"/>
              <a:t>&amp;</a:t>
            </a:r>
            <a:r>
              <a:rPr sz="2800" spc="-114" dirty="0"/>
              <a:t> </a:t>
            </a:r>
            <a:r>
              <a:rPr sz="2800" spc="-200" dirty="0"/>
              <a:t>DISAD</a:t>
            </a:r>
            <a:r>
              <a:rPr sz="2800" spc="-229" dirty="0"/>
              <a:t>V</a:t>
            </a:r>
            <a:r>
              <a:rPr sz="2800" spc="-120" dirty="0"/>
              <a:t>ANT</a:t>
            </a:r>
            <a:r>
              <a:rPr sz="2800" spc="-125" dirty="0"/>
              <a:t>A</a:t>
            </a:r>
            <a:r>
              <a:rPr sz="2800" spc="-370" dirty="0"/>
              <a:t>G</a:t>
            </a:r>
            <a:r>
              <a:rPr sz="2800" spc="-305" dirty="0"/>
              <a:t>E</a:t>
            </a:r>
            <a:r>
              <a:rPr sz="2800" spc="-620" dirty="0"/>
              <a:t>S  </a:t>
            </a:r>
            <a:r>
              <a:rPr sz="2800" spc="-155" dirty="0"/>
              <a:t>OF</a:t>
            </a:r>
            <a:r>
              <a:rPr sz="2800" spc="-114" dirty="0"/>
              <a:t> </a:t>
            </a:r>
            <a:r>
              <a:rPr sz="2800" spc="-310" dirty="0"/>
              <a:t>PEER</a:t>
            </a:r>
            <a:r>
              <a:rPr sz="2800" spc="-95" dirty="0"/>
              <a:t> </a:t>
            </a:r>
            <a:r>
              <a:rPr sz="2800" spc="-225" dirty="0"/>
              <a:t>TO</a:t>
            </a:r>
            <a:r>
              <a:rPr sz="2800" spc="-100" dirty="0"/>
              <a:t> </a:t>
            </a:r>
            <a:r>
              <a:rPr sz="2800" spc="-310" dirty="0"/>
              <a:t>PEER</a:t>
            </a:r>
            <a:r>
              <a:rPr sz="2800" spc="-95" dirty="0"/>
              <a:t> </a:t>
            </a:r>
            <a:r>
              <a:rPr sz="2800" spc="-160" dirty="0"/>
              <a:t>NET</a:t>
            </a:r>
            <a:r>
              <a:rPr sz="2800" spc="-210" dirty="0"/>
              <a:t>W</a:t>
            </a:r>
            <a:r>
              <a:rPr sz="2800" spc="-240" dirty="0"/>
              <a:t>ORK</a:t>
            </a:r>
            <a:endParaRPr sz="2800"/>
          </a:p>
        </p:txBody>
      </p:sp>
      <p:sp>
        <p:nvSpPr>
          <p:cNvPr id="3" name="object 3"/>
          <p:cNvSpPr txBox="1"/>
          <p:nvPr/>
        </p:nvSpPr>
        <p:spPr>
          <a:xfrm>
            <a:off x="1" y="1521972"/>
            <a:ext cx="4572000" cy="2755241"/>
          </a:xfrm>
          <a:prstGeom prst="rect">
            <a:avLst/>
          </a:prstGeom>
        </p:spPr>
        <p:txBody>
          <a:bodyPr vert="horz" wrap="square" lIns="0" tIns="117475" rIns="0" bIns="0" rtlCol="0">
            <a:spAutoFit/>
          </a:bodyPr>
          <a:lstStyle/>
          <a:p>
            <a:pPr marL="12700">
              <a:lnSpc>
                <a:spcPct val="100000"/>
              </a:lnSpc>
              <a:spcBef>
                <a:spcPts val="925"/>
              </a:spcBef>
            </a:pPr>
            <a:r>
              <a:rPr sz="2800" u="heavy" spc="-100" dirty="0">
                <a:uFill>
                  <a:solidFill>
                    <a:srgbClr val="000000"/>
                  </a:solidFill>
                </a:uFill>
                <a:latin typeface="Arial"/>
                <a:cs typeface="Arial"/>
              </a:rPr>
              <a:t>Advantages:</a:t>
            </a:r>
            <a:endParaRPr sz="2800">
              <a:latin typeface="Arial"/>
              <a:cs typeface="Arial"/>
            </a:endParaRPr>
          </a:p>
          <a:p>
            <a:pPr marL="332740" marR="725805" indent="-320675">
              <a:lnSpc>
                <a:spcPct val="100000"/>
              </a:lnSpc>
              <a:spcBef>
                <a:spcPts val="715"/>
              </a:spcBef>
              <a:buClr>
                <a:srgbClr val="DA1F28"/>
              </a:buClr>
              <a:buSzPct val="60416"/>
              <a:buFont typeface="Wingdings"/>
              <a:buChar char=""/>
              <a:tabLst>
                <a:tab pos="332740" algn="l"/>
                <a:tab pos="333375" algn="l"/>
              </a:tabLst>
            </a:pPr>
            <a:r>
              <a:rPr sz="2400" spc="-254" dirty="0">
                <a:latin typeface="Arial"/>
                <a:cs typeface="Arial"/>
              </a:rPr>
              <a:t>Us</a:t>
            </a:r>
            <a:r>
              <a:rPr sz="2400" spc="-220" dirty="0">
                <a:latin typeface="Arial"/>
                <a:cs typeface="Arial"/>
              </a:rPr>
              <a:t>e</a:t>
            </a:r>
            <a:r>
              <a:rPr sz="2400" spc="-95" dirty="0">
                <a:latin typeface="Arial"/>
                <a:cs typeface="Arial"/>
              </a:rPr>
              <a:t> </a:t>
            </a:r>
            <a:r>
              <a:rPr sz="2400" spc="-60" dirty="0">
                <a:latin typeface="Arial"/>
                <a:cs typeface="Arial"/>
              </a:rPr>
              <a:t>l</a:t>
            </a:r>
            <a:r>
              <a:rPr sz="2400" spc="-120" dirty="0">
                <a:latin typeface="Arial"/>
                <a:cs typeface="Arial"/>
              </a:rPr>
              <a:t>e</a:t>
            </a:r>
            <a:r>
              <a:rPr sz="2400" spc="-484" dirty="0">
                <a:latin typeface="Arial"/>
                <a:cs typeface="Arial"/>
              </a:rPr>
              <a:t>ss</a:t>
            </a:r>
            <a:r>
              <a:rPr sz="2400" spc="-70" dirty="0">
                <a:latin typeface="Arial"/>
                <a:cs typeface="Arial"/>
              </a:rPr>
              <a:t> </a:t>
            </a:r>
            <a:r>
              <a:rPr sz="2400" spc="-145" dirty="0">
                <a:latin typeface="Arial"/>
                <a:cs typeface="Arial"/>
              </a:rPr>
              <a:t>e</a:t>
            </a:r>
            <a:r>
              <a:rPr sz="2400" spc="-105" dirty="0">
                <a:latin typeface="Arial"/>
                <a:cs typeface="Arial"/>
              </a:rPr>
              <a:t>xpe</a:t>
            </a:r>
            <a:r>
              <a:rPr sz="2400" spc="-125" dirty="0">
                <a:latin typeface="Arial"/>
                <a:cs typeface="Arial"/>
              </a:rPr>
              <a:t>n</a:t>
            </a:r>
            <a:r>
              <a:rPr sz="2400" spc="-145" dirty="0">
                <a:latin typeface="Arial"/>
                <a:cs typeface="Arial"/>
              </a:rPr>
              <a:t>sive  </a:t>
            </a:r>
            <a:r>
              <a:rPr sz="2400" spc="-135" dirty="0">
                <a:latin typeface="Arial"/>
                <a:cs typeface="Arial"/>
              </a:rPr>
              <a:t>compu</a:t>
            </a:r>
            <a:r>
              <a:rPr sz="2400" spc="-15" dirty="0">
                <a:latin typeface="Arial"/>
                <a:cs typeface="Arial"/>
              </a:rPr>
              <a:t>ter</a:t>
            </a:r>
            <a:r>
              <a:rPr sz="2400" spc="-70" dirty="0">
                <a:latin typeface="Arial"/>
                <a:cs typeface="Arial"/>
              </a:rPr>
              <a:t> </a:t>
            </a:r>
            <a:r>
              <a:rPr sz="2400" spc="-30" dirty="0">
                <a:latin typeface="Arial"/>
                <a:cs typeface="Arial"/>
              </a:rPr>
              <a:t>hard</a:t>
            </a:r>
            <a:r>
              <a:rPr sz="2400" spc="-50" dirty="0">
                <a:latin typeface="Arial"/>
                <a:cs typeface="Arial"/>
              </a:rPr>
              <a:t>w</a:t>
            </a:r>
            <a:r>
              <a:rPr sz="2400" spc="-30" dirty="0">
                <a:latin typeface="Arial"/>
                <a:cs typeface="Arial"/>
              </a:rPr>
              <a:t>are</a:t>
            </a:r>
            <a:endParaRPr sz="2400">
              <a:latin typeface="Arial"/>
              <a:cs typeface="Arial"/>
            </a:endParaRPr>
          </a:p>
          <a:p>
            <a:pPr marL="332740" indent="-320675">
              <a:lnSpc>
                <a:spcPct val="100000"/>
              </a:lnSpc>
              <a:spcBef>
                <a:spcPts val="695"/>
              </a:spcBef>
              <a:buClr>
                <a:srgbClr val="DA1F28"/>
              </a:buClr>
              <a:buSzPct val="60416"/>
              <a:buFont typeface="Wingdings"/>
              <a:buChar char=""/>
              <a:tabLst>
                <a:tab pos="332740" algn="l"/>
                <a:tab pos="333375" algn="l"/>
              </a:tabLst>
            </a:pPr>
            <a:r>
              <a:rPr sz="2400" spc="-175" dirty="0">
                <a:latin typeface="Arial"/>
                <a:cs typeface="Arial"/>
              </a:rPr>
              <a:t>Easy</a:t>
            </a:r>
            <a:r>
              <a:rPr sz="2400" spc="-100" dirty="0">
                <a:latin typeface="Arial"/>
                <a:cs typeface="Arial"/>
              </a:rPr>
              <a:t> </a:t>
            </a:r>
            <a:r>
              <a:rPr sz="2400" spc="-45" dirty="0">
                <a:latin typeface="Arial"/>
                <a:cs typeface="Arial"/>
              </a:rPr>
              <a:t>to</a:t>
            </a:r>
            <a:r>
              <a:rPr sz="2400" spc="-55" dirty="0">
                <a:latin typeface="Arial"/>
                <a:cs typeface="Arial"/>
              </a:rPr>
              <a:t> </a:t>
            </a:r>
            <a:r>
              <a:rPr sz="2400" spc="-65" dirty="0">
                <a:latin typeface="Arial"/>
                <a:cs typeface="Arial"/>
              </a:rPr>
              <a:t>administer</a:t>
            </a:r>
            <a:endParaRPr sz="2400">
              <a:latin typeface="Arial"/>
              <a:cs typeface="Arial"/>
            </a:endParaRPr>
          </a:p>
          <a:p>
            <a:pPr marL="332740" indent="-320675">
              <a:lnSpc>
                <a:spcPct val="100000"/>
              </a:lnSpc>
              <a:spcBef>
                <a:spcPts val="705"/>
              </a:spcBef>
              <a:buClr>
                <a:srgbClr val="DA1F28"/>
              </a:buClr>
              <a:buSzPct val="60416"/>
              <a:buFont typeface="Wingdings"/>
              <a:buChar char=""/>
              <a:tabLst>
                <a:tab pos="332740" algn="l"/>
                <a:tab pos="333375" algn="l"/>
              </a:tabLst>
            </a:pPr>
            <a:r>
              <a:rPr sz="2400" spc="-135">
                <a:latin typeface="Arial"/>
                <a:cs typeface="Arial"/>
              </a:rPr>
              <a:t>M</a:t>
            </a:r>
            <a:r>
              <a:rPr sz="2400" spc="-95">
                <a:latin typeface="Arial"/>
                <a:cs typeface="Arial"/>
              </a:rPr>
              <a:t>o</a:t>
            </a:r>
            <a:r>
              <a:rPr sz="2400" spc="-80">
                <a:latin typeface="Arial"/>
                <a:cs typeface="Arial"/>
              </a:rPr>
              <a:t>re</a:t>
            </a:r>
            <a:r>
              <a:rPr sz="2400" spc="-85">
                <a:latin typeface="Arial"/>
                <a:cs typeface="Arial"/>
              </a:rPr>
              <a:t> </a:t>
            </a:r>
            <a:r>
              <a:rPr sz="2400" spc="-60" dirty="0">
                <a:latin typeface="Arial"/>
                <a:cs typeface="Arial"/>
              </a:rPr>
              <a:t>b</a:t>
            </a:r>
            <a:r>
              <a:rPr sz="2400" spc="-55" dirty="0">
                <a:latin typeface="Arial"/>
                <a:cs typeface="Arial"/>
              </a:rPr>
              <a:t>u</a:t>
            </a:r>
            <a:r>
              <a:rPr sz="2400" spc="25" dirty="0">
                <a:latin typeface="Arial"/>
                <a:cs typeface="Arial"/>
              </a:rPr>
              <a:t>ilt</a:t>
            </a:r>
            <a:r>
              <a:rPr sz="2400" spc="-70" dirty="0">
                <a:latin typeface="Arial"/>
                <a:cs typeface="Arial"/>
              </a:rPr>
              <a:t> </a:t>
            </a:r>
            <a:r>
              <a:rPr sz="2400" spc="-60" dirty="0">
                <a:latin typeface="Arial"/>
                <a:cs typeface="Arial"/>
              </a:rPr>
              <a:t>in</a:t>
            </a:r>
            <a:r>
              <a:rPr sz="2400" spc="-70" dirty="0">
                <a:latin typeface="Arial"/>
                <a:cs typeface="Arial"/>
              </a:rPr>
              <a:t> </a:t>
            </a:r>
            <a:r>
              <a:rPr sz="2400" spc="-30" dirty="0">
                <a:latin typeface="Arial"/>
                <a:cs typeface="Arial"/>
              </a:rPr>
              <a:t>r</a:t>
            </a:r>
            <a:r>
              <a:rPr sz="2400" spc="-95" dirty="0">
                <a:latin typeface="Arial"/>
                <a:cs typeface="Arial"/>
              </a:rPr>
              <a:t>edundancy</a:t>
            </a:r>
            <a:endParaRPr sz="2400">
              <a:latin typeface="Arial"/>
              <a:cs typeface="Arial"/>
            </a:endParaRPr>
          </a:p>
          <a:p>
            <a:pPr marL="332740" indent="-320675">
              <a:lnSpc>
                <a:spcPct val="100000"/>
              </a:lnSpc>
              <a:spcBef>
                <a:spcPts val="700"/>
              </a:spcBef>
              <a:buClr>
                <a:srgbClr val="DA1F28"/>
              </a:buClr>
              <a:buSzPct val="60416"/>
              <a:buFont typeface="Wingdings"/>
              <a:buChar char=""/>
              <a:tabLst>
                <a:tab pos="332740" algn="l"/>
                <a:tab pos="333375" algn="l"/>
              </a:tabLst>
            </a:pPr>
            <a:r>
              <a:rPr sz="2400" spc="-175" dirty="0">
                <a:latin typeface="Arial"/>
                <a:cs typeface="Arial"/>
              </a:rPr>
              <a:t>Easy</a:t>
            </a:r>
            <a:r>
              <a:rPr sz="2400" spc="-100" dirty="0">
                <a:latin typeface="Arial"/>
                <a:cs typeface="Arial"/>
              </a:rPr>
              <a:t> </a:t>
            </a:r>
            <a:r>
              <a:rPr sz="2400" spc="-120" dirty="0">
                <a:latin typeface="Arial"/>
                <a:cs typeface="Arial"/>
              </a:rPr>
              <a:t>setup</a:t>
            </a:r>
            <a:r>
              <a:rPr sz="2400" spc="-70" dirty="0">
                <a:latin typeface="Arial"/>
                <a:cs typeface="Arial"/>
              </a:rPr>
              <a:t> </a:t>
            </a:r>
            <a:r>
              <a:rPr sz="2400" spc="-60" dirty="0">
                <a:latin typeface="Arial"/>
                <a:cs typeface="Arial"/>
              </a:rPr>
              <a:t>&amp;</a:t>
            </a:r>
            <a:r>
              <a:rPr sz="2400" spc="-75" dirty="0">
                <a:latin typeface="Arial"/>
                <a:cs typeface="Arial"/>
              </a:rPr>
              <a:t> </a:t>
            </a:r>
            <a:r>
              <a:rPr sz="2400" spc="-80" dirty="0">
                <a:latin typeface="Arial"/>
                <a:cs typeface="Arial"/>
              </a:rPr>
              <a:t>lo</a:t>
            </a:r>
            <a:r>
              <a:rPr sz="2400" spc="-130" dirty="0">
                <a:latin typeface="Arial"/>
                <a:cs typeface="Arial"/>
              </a:rPr>
              <a:t>w</a:t>
            </a:r>
            <a:r>
              <a:rPr sz="2400" spc="-70" dirty="0">
                <a:latin typeface="Arial"/>
                <a:cs typeface="Arial"/>
              </a:rPr>
              <a:t> </a:t>
            </a:r>
            <a:r>
              <a:rPr sz="2400" spc="-229" dirty="0">
                <a:latin typeface="Arial"/>
                <a:cs typeface="Arial"/>
              </a:rPr>
              <a:t>cost</a:t>
            </a:r>
            <a:endParaRPr sz="2400">
              <a:latin typeface="Arial"/>
              <a:cs typeface="Arial"/>
            </a:endParaRPr>
          </a:p>
        </p:txBody>
      </p:sp>
      <p:sp>
        <p:nvSpPr>
          <p:cNvPr id="4" name="object 4"/>
          <p:cNvSpPr txBox="1"/>
          <p:nvPr/>
        </p:nvSpPr>
        <p:spPr>
          <a:xfrm>
            <a:off x="4572000" y="1537965"/>
            <a:ext cx="4572000" cy="3426579"/>
          </a:xfrm>
          <a:prstGeom prst="rect">
            <a:avLst/>
          </a:prstGeom>
        </p:spPr>
        <p:txBody>
          <a:bodyPr vert="horz" wrap="square" lIns="0" tIns="101600" rIns="0" bIns="0" rtlCol="0">
            <a:spAutoFit/>
          </a:bodyPr>
          <a:lstStyle/>
          <a:p>
            <a:pPr marL="12700">
              <a:lnSpc>
                <a:spcPct val="100000"/>
              </a:lnSpc>
              <a:spcBef>
                <a:spcPts val="800"/>
              </a:spcBef>
            </a:pPr>
            <a:r>
              <a:rPr sz="2800" u="heavy" spc="-114" dirty="0">
                <a:uFill>
                  <a:solidFill>
                    <a:srgbClr val="000000"/>
                  </a:solidFill>
                </a:uFill>
                <a:latin typeface="Arial"/>
                <a:cs typeface="Arial"/>
              </a:rPr>
              <a:t>Disadvantages:</a:t>
            </a:r>
            <a:endParaRPr sz="2800">
              <a:latin typeface="Arial"/>
              <a:cs typeface="Arial"/>
            </a:endParaRPr>
          </a:p>
          <a:p>
            <a:pPr marL="332740" indent="-274320">
              <a:lnSpc>
                <a:spcPct val="100000"/>
              </a:lnSpc>
              <a:spcBef>
                <a:spcPts val="605"/>
              </a:spcBef>
              <a:buClr>
                <a:srgbClr val="2CA1BE"/>
              </a:buClr>
              <a:buSzPct val="68750"/>
              <a:buFont typeface="Wingdings"/>
              <a:buChar char=""/>
              <a:tabLst>
                <a:tab pos="332105" algn="l"/>
                <a:tab pos="332740" algn="l"/>
              </a:tabLst>
            </a:pPr>
            <a:r>
              <a:rPr sz="2400" spc="-20" dirty="0">
                <a:latin typeface="Arial"/>
                <a:cs typeface="Arial"/>
              </a:rPr>
              <a:t>Not</a:t>
            </a:r>
            <a:r>
              <a:rPr sz="2400" spc="-95" dirty="0">
                <a:latin typeface="Arial"/>
                <a:cs typeface="Arial"/>
              </a:rPr>
              <a:t> </a:t>
            </a:r>
            <a:r>
              <a:rPr sz="2400" spc="-65" dirty="0">
                <a:latin typeface="Arial"/>
                <a:cs typeface="Arial"/>
              </a:rPr>
              <a:t>very</a:t>
            </a:r>
            <a:r>
              <a:rPr sz="2400" spc="-90" dirty="0">
                <a:latin typeface="Arial"/>
                <a:cs typeface="Arial"/>
              </a:rPr>
              <a:t> </a:t>
            </a:r>
            <a:r>
              <a:rPr sz="2400" spc="-200" dirty="0">
                <a:latin typeface="Arial"/>
                <a:cs typeface="Arial"/>
              </a:rPr>
              <a:t>secure</a:t>
            </a:r>
            <a:endParaRPr sz="2400">
              <a:latin typeface="Arial"/>
              <a:cs typeface="Arial"/>
            </a:endParaRPr>
          </a:p>
          <a:p>
            <a:pPr marL="332105" marR="5080" indent="-274320">
              <a:lnSpc>
                <a:spcPct val="100000"/>
              </a:lnSpc>
              <a:spcBef>
                <a:spcPts val="600"/>
              </a:spcBef>
              <a:buClr>
                <a:srgbClr val="2CA1BE"/>
              </a:buClr>
              <a:buSzPct val="68750"/>
              <a:buFont typeface="Wingdings"/>
              <a:buChar char=""/>
              <a:tabLst>
                <a:tab pos="332105" algn="l"/>
                <a:tab pos="332740" algn="l"/>
              </a:tabLst>
            </a:pPr>
            <a:r>
              <a:rPr sz="2400" spc="-75" dirty="0">
                <a:latin typeface="Arial"/>
                <a:cs typeface="Arial"/>
              </a:rPr>
              <a:t>No </a:t>
            </a:r>
            <a:r>
              <a:rPr sz="2400" spc="-65" dirty="0">
                <a:latin typeface="Arial"/>
                <a:cs typeface="Arial"/>
              </a:rPr>
              <a:t>central </a:t>
            </a:r>
            <a:r>
              <a:rPr sz="2400" spc="-50" dirty="0">
                <a:latin typeface="Arial"/>
                <a:cs typeface="Arial"/>
              </a:rPr>
              <a:t>point </a:t>
            </a:r>
            <a:r>
              <a:rPr sz="2400" spc="-75" dirty="0">
                <a:latin typeface="Arial"/>
                <a:cs typeface="Arial"/>
              </a:rPr>
              <a:t>of </a:t>
            </a:r>
            <a:r>
              <a:rPr sz="2400" spc="-70" dirty="0">
                <a:latin typeface="Arial"/>
                <a:cs typeface="Arial"/>
              </a:rPr>
              <a:t> </a:t>
            </a:r>
            <a:r>
              <a:rPr sz="2400" spc="-105" dirty="0">
                <a:latin typeface="Arial"/>
                <a:cs typeface="Arial"/>
              </a:rPr>
              <a:t>storage</a:t>
            </a:r>
            <a:r>
              <a:rPr sz="2400" spc="-90" dirty="0">
                <a:latin typeface="Arial"/>
                <a:cs typeface="Arial"/>
              </a:rPr>
              <a:t> </a:t>
            </a:r>
            <a:r>
              <a:rPr sz="2400" spc="-110" dirty="0">
                <a:latin typeface="Arial"/>
                <a:cs typeface="Arial"/>
              </a:rPr>
              <a:t>or</a:t>
            </a:r>
            <a:r>
              <a:rPr sz="2400" spc="-60" dirty="0">
                <a:latin typeface="Arial"/>
                <a:cs typeface="Arial"/>
              </a:rPr>
              <a:t> </a:t>
            </a:r>
            <a:r>
              <a:rPr sz="2400" spc="-30" dirty="0">
                <a:latin typeface="Arial"/>
                <a:cs typeface="Arial"/>
              </a:rPr>
              <a:t>fil</a:t>
            </a:r>
            <a:r>
              <a:rPr sz="2400" spc="-45" dirty="0">
                <a:latin typeface="Arial"/>
                <a:cs typeface="Arial"/>
              </a:rPr>
              <a:t>e</a:t>
            </a:r>
            <a:r>
              <a:rPr sz="2400" spc="-70" dirty="0">
                <a:latin typeface="Arial"/>
                <a:cs typeface="Arial"/>
              </a:rPr>
              <a:t> </a:t>
            </a:r>
            <a:r>
              <a:rPr sz="2400" spc="-90" dirty="0">
                <a:latin typeface="Arial"/>
                <a:cs typeface="Arial"/>
              </a:rPr>
              <a:t>ar</a:t>
            </a:r>
            <a:r>
              <a:rPr sz="2400" spc="-114" dirty="0">
                <a:latin typeface="Arial"/>
                <a:cs typeface="Arial"/>
              </a:rPr>
              <a:t>c</a:t>
            </a:r>
            <a:r>
              <a:rPr sz="2400" spc="-50" dirty="0">
                <a:latin typeface="Arial"/>
                <a:cs typeface="Arial"/>
              </a:rPr>
              <a:t>hi</a:t>
            </a:r>
            <a:r>
              <a:rPr sz="2400" spc="-75" dirty="0">
                <a:latin typeface="Arial"/>
                <a:cs typeface="Arial"/>
              </a:rPr>
              <a:t>v</a:t>
            </a:r>
            <a:r>
              <a:rPr sz="2400" spc="-70" dirty="0">
                <a:latin typeface="Arial"/>
                <a:cs typeface="Arial"/>
              </a:rPr>
              <a:t>ing</a:t>
            </a:r>
            <a:endParaRPr sz="2400">
              <a:latin typeface="Arial"/>
              <a:cs typeface="Arial"/>
            </a:endParaRPr>
          </a:p>
          <a:p>
            <a:pPr marL="332105" marR="419100" indent="-274320">
              <a:lnSpc>
                <a:spcPct val="100000"/>
              </a:lnSpc>
              <a:spcBef>
                <a:spcPts val="605"/>
              </a:spcBef>
              <a:buClr>
                <a:srgbClr val="2CA1BE"/>
              </a:buClr>
              <a:buSzPct val="68750"/>
              <a:buFont typeface="Wingdings"/>
              <a:buChar char=""/>
              <a:tabLst>
                <a:tab pos="332105" algn="l"/>
                <a:tab pos="332740" algn="l"/>
              </a:tabLst>
            </a:pPr>
            <a:r>
              <a:rPr sz="2400" spc="-35" dirty="0">
                <a:latin typeface="Arial"/>
                <a:cs typeface="Arial"/>
              </a:rPr>
              <a:t>Additional </a:t>
            </a:r>
            <a:r>
              <a:rPr sz="2400" spc="-55" dirty="0">
                <a:latin typeface="Arial"/>
                <a:cs typeface="Arial"/>
              </a:rPr>
              <a:t>load </a:t>
            </a:r>
            <a:r>
              <a:rPr sz="2400" spc="-155" dirty="0">
                <a:latin typeface="Arial"/>
                <a:cs typeface="Arial"/>
              </a:rPr>
              <a:t>on </a:t>
            </a:r>
            <a:r>
              <a:rPr sz="2400" spc="-150" dirty="0">
                <a:latin typeface="Arial"/>
                <a:cs typeface="Arial"/>
              </a:rPr>
              <a:t> </a:t>
            </a:r>
            <a:r>
              <a:rPr sz="2400" spc="-105" dirty="0">
                <a:latin typeface="Arial"/>
                <a:cs typeface="Arial"/>
              </a:rPr>
              <a:t>compu</a:t>
            </a:r>
            <a:r>
              <a:rPr sz="2400" spc="-50" dirty="0">
                <a:latin typeface="Arial"/>
                <a:cs typeface="Arial"/>
              </a:rPr>
              <a:t>t</a:t>
            </a:r>
            <a:r>
              <a:rPr sz="2400" spc="-80" dirty="0">
                <a:latin typeface="Arial"/>
                <a:cs typeface="Arial"/>
              </a:rPr>
              <a:t>er</a:t>
            </a:r>
            <a:r>
              <a:rPr sz="2400" spc="-70" dirty="0">
                <a:latin typeface="Arial"/>
                <a:cs typeface="Arial"/>
              </a:rPr>
              <a:t> </a:t>
            </a:r>
            <a:r>
              <a:rPr sz="2400" spc="-180" dirty="0">
                <a:latin typeface="Arial"/>
                <a:cs typeface="Arial"/>
              </a:rPr>
              <a:t>bec</a:t>
            </a:r>
            <a:r>
              <a:rPr sz="2400" dirty="0">
                <a:latin typeface="Arial"/>
                <a:cs typeface="Arial"/>
              </a:rPr>
              <a:t>a</a:t>
            </a:r>
            <a:r>
              <a:rPr sz="2400" spc="5" dirty="0">
                <a:latin typeface="Arial"/>
                <a:cs typeface="Arial"/>
              </a:rPr>
              <a:t>u</a:t>
            </a:r>
            <a:r>
              <a:rPr sz="2400" spc="-310" dirty="0">
                <a:latin typeface="Arial"/>
                <a:cs typeface="Arial"/>
              </a:rPr>
              <a:t>se</a:t>
            </a:r>
            <a:r>
              <a:rPr sz="2400" spc="-85" dirty="0">
                <a:latin typeface="Arial"/>
                <a:cs typeface="Arial"/>
              </a:rPr>
              <a:t> </a:t>
            </a:r>
            <a:r>
              <a:rPr sz="2400" spc="-60" dirty="0">
                <a:latin typeface="Arial"/>
                <a:cs typeface="Arial"/>
              </a:rPr>
              <a:t>of  </a:t>
            </a:r>
            <a:r>
              <a:rPr sz="2400" spc="-200" dirty="0">
                <a:latin typeface="Arial"/>
                <a:cs typeface="Arial"/>
              </a:rPr>
              <a:t>re</a:t>
            </a:r>
            <a:r>
              <a:rPr sz="2400" spc="-245" dirty="0">
                <a:latin typeface="Arial"/>
                <a:cs typeface="Arial"/>
              </a:rPr>
              <a:t>s</a:t>
            </a:r>
            <a:r>
              <a:rPr sz="2400" spc="-150" dirty="0">
                <a:latin typeface="Arial"/>
                <a:cs typeface="Arial"/>
              </a:rPr>
              <a:t>ource</a:t>
            </a:r>
            <a:r>
              <a:rPr sz="2400" spc="-85" dirty="0">
                <a:latin typeface="Arial"/>
                <a:cs typeface="Arial"/>
              </a:rPr>
              <a:t> </a:t>
            </a:r>
            <a:r>
              <a:rPr sz="2400" spc="-280" dirty="0">
                <a:latin typeface="Arial"/>
                <a:cs typeface="Arial"/>
              </a:rPr>
              <a:t>s</a:t>
            </a:r>
            <a:r>
              <a:rPr sz="2400" spc="-320" dirty="0">
                <a:latin typeface="Arial"/>
                <a:cs typeface="Arial"/>
              </a:rPr>
              <a:t>h</a:t>
            </a:r>
            <a:r>
              <a:rPr sz="2400" spc="-30" dirty="0">
                <a:latin typeface="Arial"/>
                <a:cs typeface="Arial"/>
              </a:rPr>
              <a:t>aring</a:t>
            </a:r>
            <a:endParaRPr sz="2400">
              <a:latin typeface="Arial"/>
              <a:cs typeface="Arial"/>
            </a:endParaRPr>
          </a:p>
          <a:p>
            <a:pPr marL="332105" marR="831850" indent="-274320">
              <a:lnSpc>
                <a:spcPct val="100000"/>
              </a:lnSpc>
              <a:spcBef>
                <a:spcPts val="600"/>
              </a:spcBef>
              <a:buClr>
                <a:srgbClr val="2CA1BE"/>
              </a:buClr>
              <a:buSzPct val="68750"/>
              <a:buFont typeface="Wingdings"/>
              <a:buChar char=""/>
              <a:tabLst>
                <a:tab pos="332105" algn="l"/>
                <a:tab pos="332740" algn="l"/>
              </a:tabLst>
            </a:pPr>
            <a:r>
              <a:rPr sz="2400" spc="10" dirty="0">
                <a:latin typeface="Arial"/>
                <a:cs typeface="Arial"/>
              </a:rPr>
              <a:t>Hard</a:t>
            </a:r>
            <a:r>
              <a:rPr sz="2400" spc="-120" dirty="0">
                <a:latin typeface="Arial"/>
                <a:cs typeface="Arial"/>
              </a:rPr>
              <a:t> </a:t>
            </a:r>
            <a:r>
              <a:rPr sz="2400" spc="-45" dirty="0">
                <a:latin typeface="Arial"/>
                <a:cs typeface="Arial"/>
              </a:rPr>
              <a:t>to</a:t>
            </a:r>
            <a:r>
              <a:rPr sz="2400" spc="-80" dirty="0">
                <a:latin typeface="Arial"/>
                <a:cs typeface="Arial"/>
              </a:rPr>
              <a:t> </a:t>
            </a:r>
            <a:r>
              <a:rPr sz="2400" spc="-5" dirty="0">
                <a:latin typeface="Arial"/>
                <a:cs typeface="Arial"/>
              </a:rPr>
              <a:t>maintain </a:t>
            </a:r>
            <a:r>
              <a:rPr sz="2400" spc="-655" dirty="0">
                <a:latin typeface="Arial"/>
                <a:cs typeface="Arial"/>
              </a:rPr>
              <a:t> </a:t>
            </a:r>
            <a:r>
              <a:rPr sz="2400" spc="-175" dirty="0">
                <a:latin typeface="Arial"/>
                <a:cs typeface="Arial"/>
              </a:rPr>
              <a:t>ver</a:t>
            </a:r>
            <a:r>
              <a:rPr sz="2400" spc="-195" dirty="0">
                <a:latin typeface="Arial"/>
                <a:cs typeface="Arial"/>
              </a:rPr>
              <a:t>s</a:t>
            </a:r>
            <a:r>
              <a:rPr sz="2400" spc="-105" dirty="0">
                <a:latin typeface="Arial"/>
                <a:cs typeface="Arial"/>
              </a:rPr>
              <a:t>ion</a:t>
            </a:r>
            <a:r>
              <a:rPr sz="2400" spc="-70" dirty="0">
                <a:latin typeface="Arial"/>
                <a:cs typeface="Arial"/>
              </a:rPr>
              <a:t> </a:t>
            </a:r>
            <a:r>
              <a:rPr sz="2400" spc="-210" dirty="0">
                <a:latin typeface="Arial"/>
                <a:cs typeface="Arial"/>
              </a:rPr>
              <a:t>co</a:t>
            </a:r>
            <a:r>
              <a:rPr sz="2400" spc="-229" dirty="0">
                <a:latin typeface="Arial"/>
                <a:cs typeface="Arial"/>
              </a:rPr>
              <a:t>n</a:t>
            </a:r>
            <a:r>
              <a:rPr sz="2400" spc="-35" dirty="0">
                <a:latin typeface="Arial"/>
                <a:cs typeface="Arial"/>
              </a:rPr>
              <a:t>trol</a:t>
            </a:r>
            <a:endParaRPr sz="2400">
              <a:latin typeface="Arial"/>
              <a:cs typeface="Arial"/>
            </a:endParaRPr>
          </a:p>
        </p:txBody>
      </p:sp>
    </p:spTree>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65201"/>
            <a:ext cx="6838315" cy="697230"/>
          </a:xfrm>
          <a:prstGeom prst="rect">
            <a:avLst/>
          </a:prstGeom>
        </p:spPr>
        <p:txBody>
          <a:bodyPr vert="horz" wrap="square" lIns="0" tIns="13335" rIns="0" bIns="0" rtlCol="0">
            <a:spAutoFit/>
          </a:bodyPr>
          <a:lstStyle/>
          <a:p>
            <a:pPr marL="12700">
              <a:lnSpc>
                <a:spcPct val="100000"/>
              </a:lnSpc>
              <a:spcBef>
                <a:spcPts val="105"/>
              </a:spcBef>
            </a:pPr>
            <a:r>
              <a:rPr spc="-300" dirty="0"/>
              <a:t>CLIENT/SERVE</a:t>
            </a:r>
            <a:r>
              <a:rPr spc="-355" dirty="0"/>
              <a:t>R</a:t>
            </a:r>
            <a:r>
              <a:rPr spc="-140" dirty="0"/>
              <a:t> </a:t>
            </a:r>
            <a:r>
              <a:rPr spc="-210" dirty="0"/>
              <a:t>NETWO</a:t>
            </a:r>
            <a:r>
              <a:rPr spc="-195" dirty="0"/>
              <a:t>R</a:t>
            </a:r>
            <a:r>
              <a:rPr spc="-285" dirty="0"/>
              <a:t>K</a:t>
            </a:r>
          </a:p>
        </p:txBody>
      </p:sp>
      <p:sp>
        <p:nvSpPr>
          <p:cNvPr id="3" name="object 3"/>
          <p:cNvSpPr txBox="1"/>
          <p:nvPr/>
        </p:nvSpPr>
        <p:spPr>
          <a:xfrm>
            <a:off x="0" y="1561541"/>
            <a:ext cx="9143999" cy="4952253"/>
          </a:xfrm>
          <a:prstGeom prst="rect">
            <a:avLst/>
          </a:prstGeom>
        </p:spPr>
        <p:txBody>
          <a:bodyPr vert="horz" wrap="square" lIns="0" tIns="79375" rIns="0" bIns="0" rtlCol="0">
            <a:spAutoFit/>
          </a:bodyPr>
          <a:lstStyle/>
          <a:p>
            <a:pPr marL="332740" marR="75565" indent="-320675">
              <a:lnSpc>
                <a:spcPct val="80000"/>
              </a:lnSpc>
              <a:spcBef>
                <a:spcPts val="625"/>
              </a:spcBef>
              <a:buClr>
                <a:srgbClr val="DA1F28"/>
              </a:buClr>
              <a:buSzPct val="59090"/>
              <a:buFont typeface="Wingdings"/>
              <a:buChar char=""/>
              <a:tabLst>
                <a:tab pos="332740" algn="l"/>
                <a:tab pos="333375" algn="l"/>
              </a:tabLst>
            </a:pPr>
            <a:r>
              <a:rPr sz="3000" spc="-30" dirty="0">
                <a:latin typeface="Arial" pitchFamily="34" charset="0"/>
                <a:cs typeface="Arial" pitchFamily="34" charset="0"/>
              </a:rPr>
              <a:t>In</a:t>
            </a:r>
            <a:r>
              <a:rPr sz="3000" spc="-80" dirty="0">
                <a:latin typeface="Arial" pitchFamily="34" charset="0"/>
                <a:cs typeface="Arial" pitchFamily="34" charset="0"/>
              </a:rPr>
              <a:t> </a:t>
            </a:r>
            <a:r>
              <a:rPr sz="3000" spc="-85" dirty="0">
                <a:latin typeface="Arial" pitchFamily="34" charset="0"/>
                <a:cs typeface="Arial" pitchFamily="34" charset="0"/>
              </a:rPr>
              <a:t>clien</a:t>
            </a:r>
            <a:r>
              <a:rPr sz="3000" spc="-70" dirty="0">
                <a:latin typeface="Arial" pitchFamily="34" charset="0"/>
                <a:cs typeface="Arial" pitchFamily="34" charset="0"/>
              </a:rPr>
              <a:t>t</a:t>
            </a:r>
            <a:r>
              <a:rPr sz="3000" spc="200" dirty="0">
                <a:latin typeface="Arial" pitchFamily="34" charset="0"/>
                <a:cs typeface="Arial" pitchFamily="34" charset="0"/>
              </a:rPr>
              <a:t>-</a:t>
            </a:r>
            <a:r>
              <a:rPr sz="3000" spc="-130" dirty="0">
                <a:latin typeface="Arial" pitchFamily="34" charset="0"/>
                <a:cs typeface="Arial" pitchFamily="34" charset="0"/>
              </a:rPr>
              <a:t>server</a:t>
            </a:r>
            <a:r>
              <a:rPr sz="3000" spc="-60" dirty="0">
                <a:latin typeface="Arial" pitchFamily="34" charset="0"/>
                <a:cs typeface="Arial" pitchFamily="34" charset="0"/>
              </a:rPr>
              <a:t> </a:t>
            </a:r>
            <a:r>
              <a:rPr sz="3000" spc="-70" dirty="0">
                <a:latin typeface="Arial" pitchFamily="34" charset="0"/>
                <a:cs typeface="Arial" pitchFamily="34" charset="0"/>
              </a:rPr>
              <a:t>netwo</a:t>
            </a:r>
            <a:r>
              <a:rPr sz="3000" spc="-40" dirty="0">
                <a:latin typeface="Arial" pitchFamily="34" charset="0"/>
                <a:cs typeface="Arial" pitchFamily="34" charset="0"/>
              </a:rPr>
              <a:t>r</a:t>
            </a:r>
            <a:r>
              <a:rPr sz="3000" spc="95" dirty="0">
                <a:latin typeface="Arial" pitchFamily="34" charset="0"/>
                <a:cs typeface="Arial" pitchFamily="34" charset="0"/>
              </a:rPr>
              <a:t>k</a:t>
            </a:r>
            <a:r>
              <a:rPr sz="3000" spc="-65" dirty="0">
                <a:latin typeface="Arial" pitchFamily="34" charset="0"/>
                <a:cs typeface="Arial" pitchFamily="34" charset="0"/>
              </a:rPr>
              <a:t> </a:t>
            </a:r>
            <a:r>
              <a:rPr sz="3000" spc="-55" dirty="0">
                <a:latin typeface="Arial" pitchFamily="34" charset="0"/>
                <a:cs typeface="Arial" pitchFamily="34" charset="0"/>
              </a:rPr>
              <a:t>rel</a:t>
            </a:r>
            <a:r>
              <a:rPr sz="3000" spc="-90" dirty="0">
                <a:latin typeface="Arial" pitchFamily="34" charset="0"/>
                <a:cs typeface="Arial" pitchFamily="34" charset="0"/>
              </a:rPr>
              <a:t>ationsh</a:t>
            </a:r>
            <a:r>
              <a:rPr sz="3000" spc="-60" dirty="0">
                <a:latin typeface="Arial" pitchFamily="34" charset="0"/>
                <a:cs typeface="Arial" pitchFamily="34" charset="0"/>
              </a:rPr>
              <a:t>i</a:t>
            </a:r>
            <a:r>
              <a:rPr sz="3000" spc="-190" dirty="0">
                <a:latin typeface="Arial" pitchFamily="34" charset="0"/>
                <a:cs typeface="Arial" pitchFamily="34" charset="0"/>
              </a:rPr>
              <a:t>ps</a:t>
            </a:r>
            <a:r>
              <a:rPr sz="3000" spc="-90" dirty="0">
                <a:latin typeface="Arial" pitchFamily="34" charset="0"/>
                <a:cs typeface="Arial" pitchFamily="34" charset="0"/>
              </a:rPr>
              <a:t>,</a:t>
            </a:r>
            <a:r>
              <a:rPr sz="3000" spc="-50" dirty="0">
                <a:latin typeface="Arial" pitchFamily="34" charset="0"/>
                <a:cs typeface="Arial" pitchFamily="34" charset="0"/>
              </a:rPr>
              <a:t> </a:t>
            </a:r>
            <a:r>
              <a:rPr sz="3000" spc="-60" dirty="0">
                <a:latin typeface="Arial" pitchFamily="34" charset="0"/>
                <a:cs typeface="Arial" pitchFamily="34" charset="0"/>
              </a:rPr>
              <a:t>certai</a:t>
            </a:r>
            <a:r>
              <a:rPr sz="3000" spc="-75" dirty="0">
                <a:latin typeface="Arial" pitchFamily="34" charset="0"/>
                <a:cs typeface="Arial" pitchFamily="34" charset="0"/>
              </a:rPr>
              <a:t>n </a:t>
            </a:r>
            <a:r>
              <a:rPr sz="3000" spc="-130" dirty="0">
                <a:latin typeface="Arial" pitchFamily="34" charset="0"/>
                <a:cs typeface="Arial" pitchFamily="34" charset="0"/>
              </a:rPr>
              <a:t>computer</a:t>
            </a:r>
            <a:r>
              <a:rPr sz="3000" spc="-120" dirty="0">
                <a:latin typeface="Arial" pitchFamily="34" charset="0"/>
                <a:cs typeface="Arial" pitchFamily="34" charset="0"/>
              </a:rPr>
              <a:t>s</a:t>
            </a:r>
            <a:r>
              <a:rPr sz="3000" spc="-40" dirty="0">
                <a:latin typeface="Arial" pitchFamily="34" charset="0"/>
                <a:cs typeface="Arial" pitchFamily="34" charset="0"/>
              </a:rPr>
              <a:t> act  </a:t>
            </a:r>
            <a:r>
              <a:rPr sz="3000" spc="-190" dirty="0">
                <a:latin typeface="Arial" pitchFamily="34" charset="0"/>
                <a:cs typeface="Arial" pitchFamily="34" charset="0"/>
              </a:rPr>
              <a:t>as</a:t>
            </a:r>
            <a:r>
              <a:rPr sz="3000" spc="-65" dirty="0">
                <a:latin typeface="Arial" pitchFamily="34" charset="0"/>
                <a:cs typeface="Arial" pitchFamily="34" charset="0"/>
              </a:rPr>
              <a:t> </a:t>
            </a:r>
            <a:r>
              <a:rPr sz="3000" spc="-135" dirty="0">
                <a:latin typeface="Arial" pitchFamily="34" charset="0"/>
                <a:cs typeface="Arial" pitchFamily="34" charset="0"/>
              </a:rPr>
              <a:t>server</a:t>
            </a:r>
            <a:r>
              <a:rPr sz="3000" spc="-65" dirty="0">
                <a:latin typeface="Arial" pitchFamily="34" charset="0"/>
                <a:cs typeface="Arial" pitchFamily="34" charset="0"/>
              </a:rPr>
              <a:t> </a:t>
            </a:r>
            <a:r>
              <a:rPr sz="3000" spc="-30" dirty="0">
                <a:latin typeface="Arial" pitchFamily="34" charset="0"/>
                <a:cs typeface="Arial" pitchFamily="34" charset="0"/>
              </a:rPr>
              <a:t>and</a:t>
            </a:r>
            <a:r>
              <a:rPr sz="3000" spc="-60" dirty="0">
                <a:latin typeface="Arial" pitchFamily="34" charset="0"/>
                <a:cs typeface="Arial" pitchFamily="34" charset="0"/>
              </a:rPr>
              <a:t> </a:t>
            </a:r>
            <a:r>
              <a:rPr sz="3000" spc="-70" dirty="0">
                <a:latin typeface="Arial" pitchFamily="34" charset="0"/>
                <a:cs typeface="Arial" pitchFamily="34" charset="0"/>
              </a:rPr>
              <a:t>other</a:t>
            </a:r>
            <a:r>
              <a:rPr sz="3000" spc="-65" dirty="0">
                <a:latin typeface="Arial" pitchFamily="34" charset="0"/>
                <a:cs typeface="Arial" pitchFamily="34" charset="0"/>
              </a:rPr>
              <a:t> </a:t>
            </a:r>
            <a:r>
              <a:rPr sz="3000" spc="-50" dirty="0">
                <a:latin typeface="Arial" pitchFamily="34" charset="0"/>
                <a:cs typeface="Arial" pitchFamily="34" charset="0"/>
              </a:rPr>
              <a:t>act</a:t>
            </a:r>
            <a:r>
              <a:rPr sz="3000" spc="-60" dirty="0">
                <a:latin typeface="Arial" pitchFamily="34" charset="0"/>
                <a:cs typeface="Arial" pitchFamily="34" charset="0"/>
              </a:rPr>
              <a:t> </a:t>
            </a:r>
            <a:r>
              <a:rPr sz="3000" spc="-190" dirty="0">
                <a:latin typeface="Arial" pitchFamily="34" charset="0"/>
                <a:cs typeface="Arial" pitchFamily="34" charset="0"/>
              </a:rPr>
              <a:t>as</a:t>
            </a:r>
            <a:r>
              <a:rPr sz="3000" spc="-65" dirty="0">
                <a:latin typeface="Arial" pitchFamily="34" charset="0"/>
                <a:cs typeface="Arial" pitchFamily="34" charset="0"/>
              </a:rPr>
              <a:t> </a:t>
            </a:r>
            <a:r>
              <a:rPr sz="3000" spc="-114" dirty="0">
                <a:latin typeface="Arial" pitchFamily="34" charset="0"/>
                <a:cs typeface="Arial" pitchFamily="34" charset="0"/>
              </a:rPr>
              <a:t>clients</a:t>
            </a:r>
            <a:r>
              <a:rPr sz="3000" spc="-114">
                <a:latin typeface="Arial" pitchFamily="34" charset="0"/>
                <a:cs typeface="Arial" pitchFamily="34" charset="0"/>
              </a:rPr>
              <a:t>.</a:t>
            </a:r>
            <a:r>
              <a:rPr sz="3000" spc="-60">
                <a:latin typeface="Arial" pitchFamily="34" charset="0"/>
                <a:cs typeface="Arial" pitchFamily="34" charset="0"/>
              </a:rPr>
              <a:t> </a:t>
            </a:r>
            <a:endParaRPr lang="en-US" sz="3000" spc="-60" dirty="0">
              <a:latin typeface="Arial" pitchFamily="34" charset="0"/>
              <a:cs typeface="Arial" pitchFamily="34" charset="0"/>
            </a:endParaRPr>
          </a:p>
          <a:p>
            <a:pPr marL="332740" marR="75565" indent="-320675">
              <a:lnSpc>
                <a:spcPct val="80000"/>
              </a:lnSpc>
              <a:spcBef>
                <a:spcPts val="625"/>
              </a:spcBef>
              <a:buClr>
                <a:srgbClr val="DA1F28"/>
              </a:buClr>
              <a:buSzPct val="59090"/>
              <a:buFont typeface="Wingdings"/>
              <a:buChar char=""/>
              <a:tabLst>
                <a:tab pos="332740" algn="l"/>
                <a:tab pos="333375" algn="l"/>
              </a:tabLst>
            </a:pPr>
            <a:r>
              <a:rPr sz="3000" spc="-70">
                <a:latin typeface="Arial" pitchFamily="34" charset="0"/>
                <a:cs typeface="Arial" pitchFamily="34" charset="0"/>
              </a:rPr>
              <a:t>A</a:t>
            </a:r>
            <a:r>
              <a:rPr sz="3000" spc="-45">
                <a:latin typeface="Arial" pitchFamily="34" charset="0"/>
                <a:cs typeface="Arial" pitchFamily="34" charset="0"/>
              </a:rPr>
              <a:t> </a:t>
            </a:r>
            <a:r>
              <a:rPr sz="3000" u="heavy" spc="-130" dirty="0">
                <a:uFill>
                  <a:solidFill>
                    <a:srgbClr val="000000"/>
                  </a:solidFill>
                </a:uFill>
                <a:latin typeface="Arial" pitchFamily="34" charset="0"/>
                <a:cs typeface="Arial" pitchFamily="34" charset="0"/>
              </a:rPr>
              <a:t>server</a:t>
            </a:r>
            <a:r>
              <a:rPr sz="3000" spc="-65" dirty="0">
                <a:latin typeface="Arial" pitchFamily="34" charset="0"/>
                <a:cs typeface="Arial" pitchFamily="34" charset="0"/>
              </a:rPr>
              <a:t> </a:t>
            </a:r>
            <a:r>
              <a:rPr sz="3000" spc="-225" dirty="0">
                <a:latin typeface="Arial" pitchFamily="34" charset="0"/>
                <a:cs typeface="Arial" pitchFamily="34" charset="0"/>
              </a:rPr>
              <a:t>is</a:t>
            </a:r>
            <a:r>
              <a:rPr sz="3000" spc="-65" dirty="0">
                <a:latin typeface="Arial" pitchFamily="34" charset="0"/>
                <a:cs typeface="Arial" pitchFamily="34" charset="0"/>
              </a:rPr>
              <a:t> </a:t>
            </a:r>
            <a:r>
              <a:rPr sz="3000" spc="-105" dirty="0">
                <a:latin typeface="Arial" pitchFamily="34" charset="0"/>
                <a:cs typeface="Arial" pitchFamily="34" charset="0"/>
              </a:rPr>
              <a:t>simply</a:t>
            </a:r>
            <a:r>
              <a:rPr sz="3000" spc="-30" dirty="0">
                <a:latin typeface="Arial" pitchFamily="34" charset="0"/>
                <a:cs typeface="Arial" pitchFamily="34" charset="0"/>
              </a:rPr>
              <a:t> </a:t>
            </a:r>
            <a:r>
              <a:rPr sz="3000" spc="65" dirty="0">
                <a:latin typeface="Arial" pitchFamily="34" charset="0"/>
                <a:cs typeface="Arial" pitchFamily="34" charset="0"/>
              </a:rPr>
              <a:t>a </a:t>
            </a:r>
            <a:r>
              <a:rPr sz="3000" spc="70" dirty="0">
                <a:latin typeface="Arial" pitchFamily="34" charset="0"/>
                <a:cs typeface="Arial" pitchFamily="34" charset="0"/>
              </a:rPr>
              <a:t> </a:t>
            </a:r>
            <a:r>
              <a:rPr sz="3000" spc="-75" dirty="0">
                <a:latin typeface="Arial" pitchFamily="34" charset="0"/>
                <a:cs typeface="Arial" pitchFamily="34" charset="0"/>
              </a:rPr>
              <a:t>computer,</a:t>
            </a:r>
            <a:r>
              <a:rPr sz="3000" spc="-65" dirty="0">
                <a:latin typeface="Arial" pitchFamily="34" charset="0"/>
                <a:cs typeface="Arial" pitchFamily="34" charset="0"/>
              </a:rPr>
              <a:t> </a:t>
            </a:r>
            <a:r>
              <a:rPr sz="3000" spc="40" dirty="0">
                <a:latin typeface="Arial" pitchFamily="34" charset="0"/>
                <a:cs typeface="Arial" pitchFamily="34" charset="0"/>
              </a:rPr>
              <a:t>that</a:t>
            </a:r>
            <a:r>
              <a:rPr sz="3000" spc="-55" dirty="0">
                <a:latin typeface="Arial" pitchFamily="34" charset="0"/>
                <a:cs typeface="Arial" pitchFamily="34" charset="0"/>
              </a:rPr>
              <a:t> </a:t>
            </a:r>
            <a:r>
              <a:rPr sz="3000" spc="-10" dirty="0">
                <a:latin typeface="Arial" pitchFamily="34" charset="0"/>
                <a:cs typeface="Arial" pitchFamily="34" charset="0"/>
              </a:rPr>
              <a:t>available</a:t>
            </a:r>
            <a:r>
              <a:rPr sz="3000" spc="-75" dirty="0">
                <a:latin typeface="Arial" pitchFamily="34" charset="0"/>
                <a:cs typeface="Arial" pitchFamily="34" charset="0"/>
              </a:rPr>
              <a:t> </a:t>
            </a:r>
            <a:r>
              <a:rPr sz="3000" spc="-45" dirty="0">
                <a:latin typeface="Arial" pitchFamily="34" charset="0"/>
                <a:cs typeface="Arial" pitchFamily="34" charset="0"/>
              </a:rPr>
              <a:t>the</a:t>
            </a:r>
            <a:r>
              <a:rPr sz="3000" spc="-60" dirty="0">
                <a:latin typeface="Arial" pitchFamily="34" charset="0"/>
                <a:cs typeface="Arial" pitchFamily="34" charset="0"/>
              </a:rPr>
              <a:t> </a:t>
            </a:r>
            <a:r>
              <a:rPr sz="3000" spc="-40" dirty="0">
                <a:latin typeface="Arial" pitchFamily="34" charset="0"/>
                <a:cs typeface="Arial" pitchFamily="34" charset="0"/>
              </a:rPr>
              <a:t>network</a:t>
            </a:r>
            <a:r>
              <a:rPr sz="3000" spc="-65" dirty="0">
                <a:latin typeface="Arial" pitchFamily="34" charset="0"/>
                <a:cs typeface="Arial" pitchFamily="34" charset="0"/>
              </a:rPr>
              <a:t> </a:t>
            </a:r>
            <a:r>
              <a:rPr sz="3000" spc="-195" dirty="0">
                <a:latin typeface="Arial" pitchFamily="34" charset="0"/>
                <a:cs typeface="Arial" pitchFamily="34" charset="0"/>
              </a:rPr>
              <a:t>resources</a:t>
            </a:r>
            <a:r>
              <a:rPr sz="3000" spc="-60" dirty="0">
                <a:latin typeface="Arial" pitchFamily="34" charset="0"/>
                <a:cs typeface="Arial" pitchFamily="34" charset="0"/>
              </a:rPr>
              <a:t> </a:t>
            </a:r>
            <a:r>
              <a:rPr sz="3000" spc="-25" dirty="0">
                <a:latin typeface="Arial" pitchFamily="34" charset="0"/>
                <a:cs typeface="Arial" pitchFamily="34" charset="0"/>
              </a:rPr>
              <a:t>and</a:t>
            </a:r>
            <a:r>
              <a:rPr sz="3000" spc="-65" dirty="0">
                <a:latin typeface="Arial" pitchFamily="34" charset="0"/>
                <a:cs typeface="Arial" pitchFamily="34" charset="0"/>
              </a:rPr>
              <a:t> </a:t>
            </a:r>
            <a:r>
              <a:rPr sz="3000" spc="-114" dirty="0">
                <a:latin typeface="Arial" pitchFamily="34" charset="0"/>
                <a:cs typeface="Arial" pitchFamily="34" charset="0"/>
              </a:rPr>
              <a:t>provides </a:t>
            </a:r>
            <a:r>
              <a:rPr sz="3000" spc="-595" dirty="0">
                <a:latin typeface="Arial" pitchFamily="34" charset="0"/>
                <a:cs typeface="Arial" pitchFamily="34" charset="0"/>
              </a:rPr>
              <a:t> </a:t>
            </a:r>
            <a:r>
              <a:rPr sz="3000" spc="-155" dirty="0">
                <a:latin typeface="Arial" pitchFamily="34" charset="0"/>
                <a:cs typeface="Arial" pitchFamily="34" charset="0"/>
              </a:rPr>
              <a:t>service</a:t>
            </a:r>
            <a:r>
              <a:rPr sz="3000" spc="-60" dirty="0">
                <a:latin typeface="Arial" pitchFamily="34" charset="0"/>
                <a:cs typeface="Arial" pitchFamily="34" charset="0"/>
              </a:rPr>
              <a:t> </a:t>
            </a:r>
            <a:r>
              <a:rPr sz="3000" spc="-50" dirty="0">
                <a:latin typeface="Arial" pitchFamily="34" charset="0"/>
                <a:cs typeface="Arial" pitchFamily="34" charset="0"/>
              </a:rPr>
              <a:t>to</a:t>
            </a:r>
            <a:r>
              <a:rPr sz="3000" spc="-60" dirty="0">
                <a:latin typeface="Arial" pitchFamily="34" charset="0"/>
                <a:cs typeface="Arial" pitchFamily="34" charset="0"/>
              </a:rPr>
              <a:t> </a:t>
            </a:r>
            <a:r>
              <a:rPr sz="3000" spc="-70" dirty="0">
                <a:latin typeface="Arial" pitchFamily="34" charset="0"/>
                <a:cs typeface="Arial" pitchFamily="34" charset="0"/>
              </a:rPr>
              <a:t>other</a:t>
            </a:r>
            <a:r>
              <a:rPr sz="3000" spc="-55" dirty="0">
                <a:latin typeface="Arial" pitchFamily="34" charset="0"/>
                <a:cs typeface="Arial" pitchFamily="34" charset="0"/>
              </a:rPr>
              <a:t> </a:t>
            </a:r>
            <a:r>
              <a:rPr sz="3000" spc="-125" dirty="0">
                <a:latin typeface="Arial" pitchFamily="34" charset="0"/>
                <a:cs typeface="Arial" pitchFamily="34" charset="0"/>
              </a:rPr>
              <a:t>computers</a:t>
            </a:r>
            <a:r>
              <a:rPr sz="3000" spc="-40" dirty="0">
                <a:latin typeface="Arial" pitchFamily="34" charset="0"/>
                <a:cs typeface="Arial" pitchFamily="34" charset="0"/>
              </a:rPr>
              <a:t> </a:t>
            </a:r>
            <a:r>
              <a:rPr sz="3000" spc="-95" dirty="0">
                <a:latin typeface="Arial" pitchFamily="34" charset="0"/>
                <a:cs typeface="Arial" pitchFamily="34" charset="0"/>
              </a:rPr>
              <a:t>when</a:t>
            </a:r>
            <a:r>
              <a:rPr sz="3000" spc="-65" dirty="0">
                <a:latin typeface="Arial" pitchFamily="34" charset="0"/>
                <a:cs typeface="Arial" pitchFamily="34" charset="0"/>
              </a:rPr>
              <a:t> </a:t>
            </a:r>
            <a:r>
              <a:rPr sz="3000" spc="-45" dirty="0">
                <a:latin typeface="Arial" pitchFamily="34" charset="0"/>
                <a:cs typeface="Arial" pitchFamily="34" charset="0"/>
              </a:rPr>
              <a:t>they</a:t>
            </a:r>
            <a:r>
              <a:rPr sz="3000" spc="-35" dirty="0">
                <a:latin typeface="Arial" pitchFamily="34" charset="0"/>
                <a:cs typeface="Arial" pitchFamily="34" charset="0"/>
              </a:rPr>
              <a:t> </a:t>
            </a:r>
            <a:r>
              <a:rPr sz="3000" spc="-105" dirty="0">
                <a:latin typeface="Arial" pitchFamily="34" charset="0"/>
                <a:cs typeface="Arial" pitchFamily="34" charset="0"/>
              </a:rPr>
              <a:t>request</a:t>
            </a:r>
            <a:r>
              <a:rPr sz="3000" spc="-45" dirty="0">
                <a:latin typeface="Arial" pitchFamily="34" charset="0"/>
                <a:cs typeface="Arial" pitchFamily="34" charset="0"/>
              </a:rPr>
              <a:t> </a:t>
            </a:r>
            <a:r>
              <a:rPr sz="3000" spc="30">
                <a:latin typeface="Arial" pitchFamily="34" charset="0"/>
                <a:cs typeface="Arial" pitchFamily="34" charset="0"/>
              </a:rPr>
              <a:t>it.</a:t>
            </a:r>
            <a:endParaRPr lang="en-US" sz="3000" spc="30" dirty="0">
              <a:latin typeface="Arial" pitchFamily="34" charset="0"/>
              <a:cs typeface="Arial" pitchFamily="34" charset="0"/>
            </a:endParaRPr>
          </a:p>
          <a:p>
            <a:pPr marL="332740" marR="75565" indent="-320675">
              <a:lnSpc>
                <a:spcPct val="80000"/>
              </a:lnSpc>
              <a:spcBef>
                <a:spcPts val="625"/>
              </a:spcBef>
              <a:buClr>
                <a:srgbClr val="DA1F28"/>
              </a:buClr>
              <a:buSzPct val="59090"/>
              <a:buFont typeface="Wingdings"/>
              <a:buChar char=""/>
              <a:tabLst>
                <a:tab pos="332740" algn="l"/>
                <a:tab pos="333375" algn="l"/>
              </a:tabLst>
            </a:pPr>
            <a:r>
              <a:rPr sz="3000" spc="-65">
                <a:latin typeface="Arial" pitchFamily="34" charset="0"/>
                <a:cs typeface="Arial" pitchFamily="34" charset="0"/>
              </a:rPr>
              <a:t> </a:t>
            </a:r>
            <a:r>
              <a:rPr sz="3000" spc="-70" dirty="0">
                <a:latin typeface="Arial" pitchFamily="34" charset="0"/>
                <a:cs typeface="Arial" pitchFamily="34" charset="0"/>
              </a:rPr>
              <a:t>A</a:t>
            </a:r>
            <a:r>
              <a:rPr sz="3000" spc="-30" dirty="0">
                <a:latin typeface="Arial" pitchFamily="34" charset="0"/>
                <a:cs typeface="Arial" pitchFamily="34" charset="0"/>
              </a:rPr>
              <a:t> </a:t>
            </a:r>
            <a:r>
              <a:rPr sz="3000" u="heavy" spc="-80" dirty="0">
                <a:uFill>
                  <a:solidFill>
                    <a:srgbClr val="000000"/>
                  </a:solidFill>
                </a:uFill>
                <a:latin typeface="Arial" pitchFamily="34" charset="0"/>
                <a:cs typeface="Arial" pitchFamily="34" charset="0"/>
              </a:rPr>
              <a:t>client</a:t>
            </a:r>
            <a:r>
              <a:rPr sz="3000" spc="-45" dirty="0">
                <a:latin typeface="Arial" pitchFamily="34" charset="0"/>
                <a:cs typeface="Arial" pitchFamily="34" charset="0"/>
              </a:rPr>
              <a:t> </a:t>
            </a:r>
            <a:r>
              <a:rPr sz="3000" spc="-225" dirty="0">
                <a:latin typeface="Arial" pitchFamily="34" charset="0"/>
                <a:cs typeface="Arial" pitchFamily="34" charset="0"/>
              </a:rPr>
              <a:t>is </a:t>
            </a:r>
            <a:r>
              <a:rPr sz="3000" spc="-220" dirty="0">
                <a:latin typeface="Arial" pitchFamily="34" charset="0"/>
                <a:cs typeface="Arial" pitchFamily="34" charset="0"/>
              </a:rPr>
              <a:t> </a:t>
            </a:r>
            <a:r>
              <a:rPr sz="3000" spc="-45" dirty="0">
                <a:latin typeface="Arial" pitchFamily="34" charset="0"/>
                <a:cs typeface="Arial" pitchFamily="34" charset="0"/>
              </a:rPr>
              <a:t>the </a:t>
            </a:r>
            <a:r>
              <a:rPr sz="3000" spc="-85" dirty="0">
                <a:latin typeface="Arial" pitchFamily="34" charset="0"/>
                <a:cs typeface="Arial" pitchFamily="34" charset="0"/>
              </a:rPr>
              <a:t>computer </a:t>
            </a:r>
            <a:r>
              <a:rPr sz="3000" spc="-70" dirty="0">
                <a:latin typeface="Arial" pitchFamily="34" charset="0"/>
                <a:cs typeface="Arial" pitchFamily="34" charset="0"/>
              </a:rPr>
              <a:t>running </a:t>
            </a:r>
            <a:r>
              <a:rPr sz="3000" spc="65" dirty="0">
                <a:latin typeface="Arial" pitchFamily="34" charset="0"/>
                <a:cs typeface="Arial" pitchFamily="34" charset="0"/>
              </a:rPr>
              <a:t>a </a:t>
            </a:r>
            <a:r>
              <a:rPr sz="3000" spc="-50" dirty="0">
                <a:latin typeface="Arial" pitchFamily="34" charset="0"/>
                <a:cs typeface="Arial" pitchFamily="34" charset="0"/>
              </a:rPr>
              <a:t>program </a:t>
            </a:r>
            <a:r>
              <a:rPr sz="3000" spc="40" dirty="0">
                <a:latin typeface="Arial" pitchFamily="34" charset="0"/>
                <a:cs typeface="Arial" pitchFamily="34" charset="0"/>
              </a:rPr>
              <a:t>that </a:t>
            </a:r>
            <a:r>
              <a:rPr sz="3000" spc="-150" dirty="0">
                <a:latin typeface="Arial" pitchFamily="34" charset="0"/>
                <a:cs typeface="Arial" pitchFamily="34" charset="0"/>
              </a:rPr>
              <a:t>requests </a:t>
            </a:r>
            <a:r>
              <a:rPr sz="3000" spc="-45" dirty="0">
                <a:latin typeface="Arial" pitchFamily="34" charset="0"/>
                <a:cs typeface="Arial" pitchFamily="34" charset="0"/>
              </a:rPr>
              <a:t>the </a:t>
            </a:r>
            <a:r>
              <a:rPr sz="3000" spc="-155" dirty="0">
                <a:latin typeface="Arial" pitchFamily="34" charset="0"/>
                <a:cs typeface="Arial" pitchFamily="34" charset="0"/>
              </a:rPr>
              <a:t>service </a:t>
            </a:r>
            <a:r>
              <a:rPr sz="3000" spc="-150" dirty="0">
                <a:latin typeface="Arial" pitchFamily="34" charset="0"/>
                <a:cs typeface="Arial" pitchFamily="34" charset="0"/>
              </a:rPr>
              <a:t> </a:t>
            </a:r>
            <a:r>
              <a:rPr sz="3000" spc="-55" dirty="0">
                <a:latin typeface="Arial" pitchFamily="34" charset="0"/>
                <a:cs typeface="Arial" pitchFamily="34" charset="0"/>
              </a:rPr>
              <a:t>from</a:t>
            </a:r>
            <a:r>
              <a:rPr sz="3000" spc="-85" dirty="0">
                <a:latin typeface="Arial" pitchFamily="34" charset="0"/>
                <a:cs typeface="Arial" pitchFamily="34" charset="0"/>
              </a:rPr>
              <a:t> </a:t>
            </a:r>
            <a:r>
              <a:rPr sz="3000" spc="65">
                <a:latin typeface="Arial" pitchFamily="34" charset="0"/>
                <a:cs typeface="Arial" pitchFamily="34" charset="0"/>
              </a:rPr>
              <a:t>a</a:t>
            </a:r>
            <a:r>
              <a:rPr sz="3000" spc="-65">
                <a:latin typeface="Arial" pitchFamily="34" charset="0"/>
                <a:cs typeface="Arial" pitchFamily="34" charset="0"/>
              </a:rPr>
              <a:t> </a:t>
            </a:r>
            <a:r>
              <a:rPr sz="3000" spc="-114">
                <a:latin typeface="Arial" pitchFamily="34" charset="0"/>
                <a:cs typeface="Arial" pitchFamily="34" charset="0"/>
              </a:rPr>
              <a:t>server.</a:t>
            </a:r>
            <a:endParaRPr lang="en-US" sz="3000" spc="-114" dirty="0">
              <a:latin typeface="Arial" pitchFamily="34" charset="0"/>
              <a:cs typeface="Arial" pitchFamily="34" charset="0"/>
            </a:endParaRPr>
          </a:p>
          <a:p>
            <a:pPr marL="332740" marR="75565" indent="-320675">
              <a:lnSpc>
                <a:spcPct val="80000"/>
              </a:lnSpc>
              <a:spcBef>
                <a:spcPts val="625"/>
              </a:spcBef>
              <a:buClr>
                <a:srgbClr val="DA1F28"/>
              </a:buClr>
              <a:buSzPct val="59090"/>
              <a:buFont typeface="Wingdings"/>
              <a:buChar char=""/>
              <a:tabLst>
                <a:tab pos="332740" algn="l"/>
                <a:tab pos="333375" algn="l"/>
              </a:tabLst>
            </a:pPr>
            <a:r>
              <a:rPr lang="en-US" sz="3000" spc="-50" dirty="0">
                <a:latin typeface="Arial" pitchFamily="34" charset="0"/>
                <a:cs typeface="Arial" pitchFamily="34" charset="0"/>
              </a:rPr>
              <a:t>centralized administration</a:t>
            </a:r>
          </a:p>
          <a:p>
            <a:pPr marL="332740" marR="75565" indent="-320675">
              <a:lnSpc>
                <a:spcPct val="80000"/>
              </a:lnSpc>
              <a:spcBef>
                <a:spcPts val="625"/>
              </a:spcBef>
              <a:buClr>
                <a:srgbClr val="DA1F28"/>
              </a:buClr>
              <a:buSzPct val="59090"/>
              <a:buFont typeface="Wingdings"/>
              <a:buChar char=""/>
              <a:tabLst>
                <a:tab pos="332740" algn="l"/>
                <a:tab pos="333375" algn="l"/>
              </a:tabLst>
            </a:pPr>
            <a:r>
              <a:rPr lang="en-US" sz="3000" spc="-50" dirty="0">
                <a:latin typeface="Arial" pitchFamily="34" charset="0"/>
                <a:cs typeface="Arial" pitchFamily="34" charset="0"/>
              </a:rPr>
              <a:t>Request response model</a:t>
            </a:r>
          </a:p>
          <a:p>
            <a:pPr marL="332740" marR="75565" indent="-320675">
              <a:lnSpc>
                <a:spcPct val="80000"/>
              </a:lnSpc>
              <a:spcBef>
                <a:spcPts val="625"/>
              </a:spcBef>
              <a:buClr>
                <a:srgbClr val="DA1F28"/>
              </a:buClr>
              <a:buSzPct val="59090"/>
              <a:buFont typeface="Wingdings"/>
              <a:buChar char=""/>
              <a:tabLst>
                <a:tab pos="332740" algn="l"/>
                <a:tab pos="333375" algn="l"/>
              </a:tabLst>
            </a:pPr>
            <a:r>
              <a:rPr lang="en-US" sz="3000" spc="-50" dirty="0">
                <a:latin typeface="Arial" pitchFamily="34" charset="0"/>
                <a:cs typeface="Arial" pitchFamily="34" charset="0"/>
              </a:rPr>
              <a:t>Scalable</a:t>
            </a:r>
          </a:p>
          <a:p>
            <a:pPr marL="332740" marR="75565" indent="-320675">
              <a:lnSpc>
                <a:spcPct val="80000"/>
              </a:lnSpc>
              <a:spcBef>
                <a:spcPts val="625"/>
              </a:spcBef>
              <a:buClr>
                <a:srgbClr val="DA1F28"/>
              </a:buClr>
              <a:buSzPct val="59090"/>
              <a:buFont typeface="Wingdings"/>
              <a:buChar char=""/>
              <a:tabLst>
                <a:tab pos="332740" algn="l"/>
                <a:tab pos="333375" algn="l"/>
              </a:tabLst>
            </a:pPr>
            <a:r>
              <a:rPr lang="en-US" sz="3000" spc="-50" dirty="0">
                <a:latin typeface="Arial" pitchFamily="34" charset="0"/>
                <a:cs typeface="Arial" pitchFamily="34" charset="0"/>
              </a:rPr>
              <a:t>Server may be overloaded</a:t>
            </a:r>
          </a:p>
          <a:p>
            <a:pPr marL="332740" marR="75565" indent="-320675">
              <a:lnSpc>
                <a:spcPct val="80000"/>
              </a:lnSpc>
              <a:spcBef>
                <a:spcPts val="625"/>
              </a:spcBef>
              <a:buClr>
                <a:srgbClr val="DA1F28"/>
              </a:buClr>
              <a:buSzPct val="59090"/>
              <a:buFont typeface="Wingdings"/>
              <a:buChar char=""/>
              <a:tabLst>
                <a:tab pos="332740" algn="l"/>
                <a:tab pos="333375" algn="l"/>
              </a:tabLst>
            </a:pPr>
            <a:endParaRPr sz="2200">
              <a:latin typeface="Arial"/>
              <a:cs typeface="Arial"/>
            </a:endParaRPr>
          </a:p>
        </p:txBody>
      </p:sp>
    </p:spTree>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153415"/>
            <a:ext cx="7753984" cy="997709"/>
          </a:xfrm>
          <a:prstGeom prst="rect">
            <a:avLst/>
          </a:prstGeom>
        </p:spPr>
        <p:txBody>
          <a:bodyPr vert="horz" wrap="square" lIns="0" tIns="12700" rIns="0" bIns="0" rtlCol="0">
            <a:spAutoFit/>
          </a:bodyPr>
          <a:lstStyle/>
          <a:p>
            <a:pPr marL="12700" marR="5080">
              <a:lnSpc>
                <a:spcPct val="100000"/>
              </a:lnSpc>
              <a:spcBef>
                <a:spcPts val="100"/>
              </a:spcBef>
            </a:pPr>
            <a:r>
              <a:rPr sz="3200" spc="-215" dirty="0"/>
              <a:t>ADVANTAGES</a:t>
            </a:r>
            <a:r>
              <a:rPr sz="3200" spc="-100" dirty="0"/>
              <a:t> </a:t>
            </a:r>
            <a:r>
              <a:rPr sz="3200" spc="-20" dirty="0"/>
              <a:t>AND</a:t>
            </a:r>
            <a:r>
              <a:rPr sz="3200" spc="-90" dirty="0"/>
              <a:t> </a:t>
            </a:r>
            <a:r>
              <a:rPr sz="3200" spc="-215" dirty="0"/>
              <a:t>DISADVANTAGES  </a:t>
            </a:r>
            <a:r>
              <a:rPr sz="3200" spc="-140" dirty="0"/>
              <a:t>OF</a:t>
            </a:r>
            <a:r>
              <a:rPr sz="3200" spc="-100" dirty="0"/>
              <a:t> </a:t>
            </a:r>
            <a:r>
              <a:rPr sz="3200" spc="-190" dirty="0"/>
              <a:t>CLIEN</a:t>
            </a:r>
            <a:r>
              <a:rPr sz="3200" spc="-215" dirty="0"/>
              <a:t>T</a:t>
            </a:r>
            <a:r>
              <a:rPr sz="3200" spc="320" dirty="0"/>
              <a:t>-</a:t>
            </a:r>
            <a:r>
              <a:rPr sz="3200" spc="-390" dirty="0"/>
              <a:t>SERVE</a:t>
            </a:r>
            <a:r>
              <a:rPr sz="3200" spc="-409" dirty="0"/>
              <a:t>R</a:t>
            </a:r>
            <a:r>
              <a:rPr sz="3200" spc="-65" dirty="0"/>
              <a:t> </a:t>
            </a:r>
            <a:r>
              <a:rPr sz="3200" spc="-185" dirty="0"/>
              <a:t>NETWORK</a:t>
            </a:r>
            <a:endParaRPr sz="3200"/>
          </a:p>
        </p:txBody>
      </p:sp>
      <p:sp>
        <p:nvSpPr>
          <p:cNvPr id="3" name="object 3"/>
          <p:cNvSpPr txBox="1"/>
          <p:nvPr/>
        </p:nvSpPr>
        <p:spPr>
          <a:xfrm>
            <a:off x="691387" y="1538136"/>
            <a:ext cx="3576954" cy="2679700"/>
          </a:xfrm>
          <a:prstGeom prst="rect">
            <a:avLst/>
          </a:prstGeom>
        </p:spPr>
        <p:txBody>
          <a:bodyPr vert="horz" wrap="square" lIns="0" tIns="100965" rIns="0" bIns="0" rtlCol="0">
            <a:spAutoFit/>
          </a:bodyPr>
          <a:lstStyle/>
          <a:p>
            <a:pPr marL="12700">
              <a:lnSpc>
                <a:spcPct val="100000"/>
              </a:lnSpc>
              <a:spcBef>
                <a:spcPts val="795"/>
              </a:spcBef>
            </a:pPr>
            <a:r>
              <a:rPr sz="2900" u="heavy" spc="-105" dirty="0">
                <a:uFill>
                  <a:solidFill>
                    <a:srgbClr val="000000"/>
                  </a:solidFill>
                </a:uFill>
                <a:latin typeface="Arial"/>
                <a:cs typeface="Arial"/>
              </a:rPr>
              <a:t>Advantages:</a:t>
            </a:r>
            <a:endParaRPr sz="2900">
              <a:latin typeface="Arial"/>
              <a:cs typeface="Arial"/>
            </a:endParaRPr>
          </a:p>
          <a:p>
            <a:pPr marL="332740" indent="-320675">
              <a:lnSpc>
                <a:spcPct val="100000"/>
              </a:lnSpc>
              <a:spcBef>
                <a:spcPts val="695"/>
              </a:spcBef>
              <a:buClr>
                <a:srgbClr val="DA1F28"/>
              </a:buClr>
              <a:buSzPct val="60344"/>
              <a:buFont typeface="Wingdings"/>
              <a:buChar char=""/>
              <a:tabLst>
                <a:tab pos="332740" algn="l"/>
                <a:tab pos="333375" algn="l"/>
              </a:tabLst>
            </a:pPr>
            <a:r>
              <a:rPr sz="2900" spc="-70" dirty="0">
                <a:latin typeface="Arial"/>
                <a:cs typeface="Arial"/>
              </a:rPr>
              <a:t>Very</a:t>
            </a:r>
            <a:r>
              <a:rPr sz="2900" spc="-114" dirty="0">
                <a:latin typeface="Arial"/>
                <a:cs typeface="Arial"/>
              </a:rPr>
              <a:t> </a:t>
            </a:r>
            <a:r>
              <a:rPr sz="2900" spc="-235" dirty="0">
                <a:latin typeface="Arial"/>
                <a:cs typeface="Arial"/>
              </a:rPr>
              <a:t>secure</a:t>
            </a:r>
            <a:endParaRPr sz="2900">
              <a:latin typeface="Arial"/>
              <a:cs typeface="Arial"/>
            </a:endParaRPr>
          </a:p>
          <a:p>
            <a:pPr marL="332740" indent="-320675">
              <a:lnSpc>
                <a:spcPct val="100000"/>
              </a:lnSpc>
              <a:spcBef>
                <a:spcPts val="710"/>
              </a:spcBef>
              <a:buClr>
                <a:srgbClr val="DA1F28"/>
              </a:buClr>
              <a:buSzPct val="60344"/>
              <a:buFont typeface="Wingdings"/>
              <a:buChar char=""/>
              <a:tabLst>
                <a:tab pos="332740" algn="l"/>
                <a:tab pos="333375" algn="l"/>
              </a:tabLst>
            </a:pPr>
            <a:r>
              <a:rPr sz="2900" spc="-65" dirty="0">
                <a:latin typeface="Arial"/>
                <a:cs typeface="Arial"/>
              </a:rPr>
              <a:t>Bett</a:t>
            </a:r>
            <a:r>
              <a:rPr sz="2900" spc="-80" dirty="0">
                <a:latin typeface="Arial"/>
                <a:cs typeface="Arial"/>
              </a:rPr>
              <a:t>e</a:t>
            </a:r>
            <a:r>
              <a:rPr sz="2900" spc="-25" dirty="0">
                <a:latin typeface="Arial"/>
                <a:cs typeface="Arial"/>
              </a:rPr>
              <a:t>r</a:t>
            </a:r>
            <a:r>
              <a:rPr sz="2900" spc="-100" dirty="0">
                <a:latin typeface="Arial"/>
                <a:cs typeface="Arial"/>
              </a:rPr>
              <a:t> </a:t>
            </a:r>
            <a:r>
              <a:rPr sz="2900" spc="-75" dirty="0">
                <a:latin typeface="Arial"/>
                <a:cs typeface="Arial"/>
              </a:rPr>
              <a:t>perfo</a:t>
            </a:r>
            <a:r>
              <a:rPr sz="2900" spc="-65" dirty="0">
                <a:latin typeface="Arial"/>
                <a:cs typeface="Arial"/>
              </a:rPr>
              <a:t>r</a:t>
            </a:r>
            <a:r>
              <a:rPr sz="2900" spc="-135" dirty="0">
                <a:latin typeface="Arial"/>
                <a:cs typeface="Arial"/>
              </a:rPr>
              <a:t>mance</a:t>
            </a:r>
            <a:endParaRPr sz="2900">
              <a:latin typeface="Arial"/>
              <a:cs typeface="Arial"/>
            </a:endParaRPr>
          </a:p>
          <a:p>
            <a:pPr marL="332740" indent="-320675">
              <a:lnSpc>
                <a:spcPct val="100000"/>
              </a:lnSpc>
              <a:spcBef>
                <a:spcPts val="700"/>
              </a:spcBef>
              <a:buClr>
                <a:srgbClr val="DA1F28"/>
              </a:buClr>
              <a:buSzPct val="60344"/>
              <a:buFont typeface="Wingdings"/>
              <a:buChar char=""/>
              <a:tabLst>
                <a:tab pos="332740" algn="l"/>
                <a:tab pos="333375" algn="l"/>
              </a:tabLst>
            </a:pPr>
            <a:r>
              <a:rPr sz="2900" spc="-105" dirty="0">
                <a:latin typeface="Arial"/>
                <a:cs typeface="Arial"/>
              </a:rPr>
              <a:t>Cent</a:t>
            </a:r>
            <a:r>
              <a:rPr sz="2900" spc="-85" dirty="0">
                <a:latin typeface="Arial"/>
                <a:cs typeface="Arial"/>
              </a:rPr>
              <a:t>r</a:t>
            </a:r>
            <a:r>
              <a:rPr sz="2900" spc="-45" dirty="0">
                <a:latin typeface="Arial"/>
                <a:cs typeface="Arial"/>
              </a:rPr>
              <a:t>alized</a:t>
            </a:r>
            <a:r>
              <a:rPr sz="2900" spc="-95" dirty="0">
                <a:latin typeface="Arial"/>
                <a:cs typeface="Arial"/>
              </a:rPr>
              <a:t> </a:t>
            </a:r>
            <a:r>
              <a:rPr sz="2900" spc="-60" dirty="0">
                <a:latin typeface="Arial"/>
                <a:cs typeface="Arial"/>
              </a:rPr>
              <a:t>backup</a:t>
            </a:r>
            <a:endParaRPr sz="2900">
              <a:latin typeface="Arial"/>
              <a:cs typeface="Arial"/>
            </a:endParaRPr>
          </a:p>
          <a:p>
            <a:pPr marL="332740" indent="-320675">
              <a:lnSpc>
                <a:spcPct val="100000"/>
              </a:lnSpc>
              <a:spcBef>
                <a:spcPts val="695"/>
              </a:spcBef>
              <a:buClr>
                <a:srgbClr val="DA1F28"/>
              </a:buClr>
              <a:buSzPct val="60344"/>
              <a:buFont typeface="Wingdings"/>
              <a:buChar char=""/>
              <a:tabLst>
                <a:tab pos="332740" algn="l"/>
                <a:tab pos="333375" algn="l"/>
              </a:tabLst>
            </a:pPr>
            <a:r>
              <a:rPr sz="2900" spc="-75" dirty="0">
                <a:latin typeface="Arial"/>
                <a:cs typeface="Arial"/>
              </a:rPr>
              <a:t>ver</a:t>
            </a:r>
            <a:r>
              <a:rPr sz="2900" spc="-80" dirty="0">
                <a:latin typeface="Arial"/>
                <a:cs typeface="Arial"/>
              </a:rPr>
              <a:t>y</a:t>
            </a:r>
            <a:r>
              <a:rPr sz="2900" spc="-120" dirty="0">
                <a:latin typeface="Arial"/>
                <a:cs typeface="Arial"/>
              </a:rPr>
              <a:t> </a:t>
            </a:r>
            <a:r>
              <a:rPr sz="2900" spc="-35" dirty="0">
                <a:latin typeface="Arial"/>
                <a:cs typeface="Arial"/>
              </a:rPr>
              <a:t>reliab</a:t>
            </a:r>
            <a:r>
              <a:rPr sz="2900" spc="-20" dirty="0">
                <a:latin typeface="Arial"/>
                <a:cs typeface="Arial"/>
              </a:rPr>
              <a:t>l</a:t>
            </a:r>
            <a:r>
              <a:rPr sz="2900" spc="-160" dirty="0">
                <a:latin typeface="Arial"/>
                <a:cs typeface="Arial"/>
              </a:rPr>
              <a:t>e</a:t>
            </a:r>
            <a:endParaRPr sz="2900">
              <a:latin typeface="Arial"/>
              <a:cs typeface="Arial"/>
            </a:endParaRPr>
          </a:p>
        </p:txBody>
      </p:sp>
      <p:sp>
        <p:nvSpPr>
          <p:cNvPr id="4" name="object 4"/>
          <p:cNvSpPr txBox="1">
            <a:spLocks noGrp="1"/>
          </p:cNvSpPr>
          <p:nvPr>
            <p:ph sz="half" idx="3"/>
          </p:nvPr>
        </p:nvSpPr>
        <p:spPr>
          <a:prstGeom prst="rect">
            <a:avLst/>
          </a:prstGeom>
        </p:spPr>
        <p:txBody>
          <a:bodyPr vert="horz" wrap="square" lIns="0" tIns="99060" rIns="0" bIns="0" rtlCol="0">
            <a:spAutoFit/>
          </a:bodyPr>
          <a:lstStyle/>
          <a:p>
            <a:pPr marL="12700">
              <a:lnSpc>
                <a:spcPct val="100000"/>
              </a:lnSpc>
              <a:spcBef>
                <a:spcPts val="780"/>
              </a:spcBef>
            </a:pPr>
            <a:r>
              <a:rPr b="0" spc="-114" dirty="0"/>
              <a:t>Disadvantages</a:t>
            </a:r>
            <a:r>
              <a:rPr b="0" u="none" spc="-114" dirty="0"/>
              <a:t>:</a:t>
            </a:r>
          </a:p>
          <a:p>
            <a:pPr marL="332105" marR="5080" indent="-274320">
              <a:lnSpc>
                <a:spcPct val="100000"/>
              </a:lnSpc>
              <a:spcBef>
                <a:spcPts val="615"/>
              </a:spcBef>
              <a:buClr>
                <a:srgbClr val="2CA1BE"/>
              </a:buClr>
              <a:buSzPct val="69230"/>
              <a:buFont typeface="Wingdings"/>
              <a:buChar char=""/>
              <a:tabLst>
                <a:tab pos="332105" algn="l"/>
                <a:tab pos="332740" algn="l"/>
              </a:tabLst>
            </a:pPr>
            <a:r>
              <a:rPr sz="2600" b="0" u="none" spc="-65" dirty="0"/>
              <a:t>requ</a:t>
            </a:r>
            <a:r>
              <a:rPr sz="2600" b="0" u="none" spc="-30" dirty="0"/>
              <a:t>i</a:t>
            </a:r>
            <a:r>
              <a:rPr sz="2600" b="0" u="none" spc="-35" dirty="0"/>
              <a:t>r</a:t>
            </a:r>
            <a:r>
              <a:rPr sz="2600" b="0" u="none" spc="-335" dirty="0"/>
              <a:t>es</a:t>
            </a:r>
            <a:r>
              <a:rPr sz="2600" b="0" u="none" spc="-125" dirty="0"/>
              <a:t> </a:t>
            </a:r>
            <a:r>
              <a:rPr sz="2600" b="0" u="none" spc="-30" dirty="0"/>
              <a:t>p</a:t>
            </a:r>
            <a:r>
              <a:rPr sz="2600" b="0" u="none" spc="-15" dirty="0"/>
              <a:t>r</a:t>
            </a:r>
            <a:r>
              <a:rPr sz="2600" b="0" u="none" spc="-95" dirty="0"/>
              <a:t>of</a:t>
            </a:r>
            <a:r>
              <a:rPr sz="2600" b="0" u="none" spc="-110" dirty="0"/>
              <a:t>e</a:t>
            </a:r>
            <a:r>
              <a:rPr sz="2600" b="0" u="none" spc="-170" dirty="0"/>
              <a:t>ssional  </a:t>
            </a:r>
            <a:r>
              <a:rPr sz="2600" b="0" u="none" spc="-50" dirty="0"/>
              <a:t>administration</a:t>
            </a:r>
            <a:endParaRPr sz="2600" b="0"/>
          </a:p>
          <a:p>
            <a:pPr marL="332105" marR="619760" indent="-274320">
              <a:lnSpc>
                <a:spcPct val="100000"/>
              </a:lnSpc>
              <a:spcBef>
                <a:spcPts val="600"/>
              </a:spcBef>
              <a:buClr>
                <a:srgbClr val="2CA1BE"/>
              </a:buClr>
              <a:buSzPct val="69230"/>
              <a:buFont typeface="Wingdings"/>
              <a:buChar char=""/>
              <a:tabLst>
                <a:tab pos="332105" algn="l"/>
                <a:tab pos="332740" algn="l"/>
              </a:tabLst>
            </a:pPr>
            <a:r>
              <a:rPr sz="2600" b="0" u="none" spc="-105" dirty="0"/>
              <a:t>More</a:t>
            </a:r>
            <a:r>
              <a:rPr sz="2600" b="0" u="none" spc="-114" dirty="0"/>
              <a:t> </a:t>
            </a:r>
            <a:r>
              <a:rPr sz="2600" b="0" u="none" spc="-30" dirty="0"/>
              <a:t>hardwar</a:t>
            </a:r>
            <a:r>
              <a:rPr sz="2600" b="0" u="none" spc="-25" dirty="0"/>
              <a:t>e</a:t>
            </a:r>
            <a:r>
              <a:rPr sz="2600" b="0" u="none" spc="210" dirty="0"/>
              <a:t>-  </a:t>
            </a:r>
            <a:r>
              <a:rPr sz="2600" b="0" u="none" spc="-110" dirty="0"/>
              <a:t>intensive</a:t>
            </a:r>
            <a:endParaRPr sz="2600" b="0"/>
          </a:p>
          <a:p>
            <a:pPr marL="332105" marR="930910" indent="-274320">
              <a:lnSpc>
                <a:spcPct val="100000"/>
              </a:lnSpc>
              <a:spcBef>
                <a:spcPts val="600"/>
              </a:spcBef>
              <a:buClr>
                <a:srgbClr val="2CA1BE"/>
              </a:buClr>
              <a:buSzPct val="69230"/>
              <a:buFont typeface="Wingdings"/>
              <a:buChar char=""/>
              <a:tabLst>
                <a:tab pos="332105" algn="l"/>
                <a:tab pos="332740" algn="l"/>
              </a:tabLst>
            </a:pPr>
            <a:r>
              <a:rPr sz="2600" b="0" u="none" spc="-105" dirty="0"/>
              <a:t>Mo</a:t>
            </a:r>
            <a:r>
              <a:rPr sz="2600" b="0" u="none" spc="-55" dirty="0"/>
              <a:t>r</a:t>
            </a:r>
            <a:r>
              <a:rPr sz="2600" b="0" u="none" spc="-145" dirty="0"/>
              <a:t>e</a:t>
            </a:r>
            <a:r>
              <a:rPr sz="2600" b="0" u="none" spc="-120" dirty="0"/>
              <a:t> </a:t>
            </a:r>
            <a:r>
              <a:rPr sz="2600" b="0" u="none" spc="-85" dirty="0"/>
              <a:t>softwa</a:t>
            </a:r>
            <a:r>
              <a:rPr sz="2600" b="0" u="none" spc="-55" dirty="0"/>
              <a:t>r</a:t>
            </a:r>
            <a:r>
              <a:rPr sz="2600" b="0" u="none" spc="-95" dirty="0"/>
              <a:t>e  </a:t>
            </a:r>
            <a:r>
              <a:rPr sz="2600" b="0" u="none" spc="-110" dirty="0"/>
              <a:t>intensive</a:t>
            </a:r>
            <a:endParaRPr sz="2600" b="0"/>
          </a:p>
          <a:p>
            <a:pPr marL="332105" marR="20955" indent="-274320">
              <a:lnSpc>
                <a:spcPct val="100000"/>
              </a:lnSpc>
              <a:spcBef>
                <a:spcPts val="605"/>
              </a:spcBef>
              <a:buClr>
                <a:srgbClr val="2CA1BE"/>
              </a:buClr>
              <a:buSzPct val="69230"/>
              <a:buFont typeface="Wingdings"/>
              <a:buChar char=""/>
              <a:tabLst>
                <a:tab pos="332105" algn="l"/>
                <a:tab pos="332740" algn="l"/>
              </a:tabLst>
            </a:pPr>
            <a:r>
              <a:rPr sz="2600" b="0" u="none" spc="-155" dirty="0"/>
              <a:t>Exp</a:t>
            </a:r>
            <a:r>
              <a:rPr sz="2600" b="0" u="none" spc="-135" dirty="0"/>
              <a:t>e</a:t>
            </a:r>
            <a:r>
              <a:rPr sz="2600" b="0" u="none" spc="-170" dirty="0"/>
              <a:t>nsive</a:t>
            </a:r>
            <a:r>
              <a:rPr sz="2600" b="0" u="none" spc="-110" dirty="0"/>
              <a:t> </a:t>
            </a:r>
            <a:r>
              <a:rPr sz="2600" b="0" u="none" spc="-90" dirty="0"/>
              <a:t>dedica</a:t>
            </a:r>
            <a:r>
              <a:rPr sz="2600" b="0" u="none" spc="-25" dirty="0"/>
              <a:t>ted  </a:t>
            </a:r>
            <a:r>
              <a:rPr sz="2600" b="0" u="none" spc="-90" dirty="0"/>
              <a:t>software</a:t>
            </a:r>
            <a:endParaRPr sz="2600" b="0"/>
          </a:p>
        </p:txBody>
      </p:sp>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15361" y="1018768"/>
            <a:ext cx="7433550" cy="4974591"/>
          </a:xfrm>
          <a:prstGeom prst="rect">
            <a:avLst/>
          </a:prstGeom>
        </p:spPr>
      </p:pic>
    </p:spTree>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6771084"/>
          </a:xfrm>
          <a:prstGeom prst="rect">
            <a:avLst/>
          </a:prstGeom>
          <a:noFill/>
        </p:spPr>
        <p:txBody>
          <a:bodyPr wrap="square" rtlCol="0">
            <a:spAutoFit/>
          </a:bodyPr>
          <a:lstStyle/>
          <a:p>
            <a:r>
              <a:rPr lang="en-US" sz="3200" dirty="0"/>
              <a:t>1.DEFINE COMPUTE NETWORK</a:t>
            </a:r>
          </a:p>
          <a:p>
            <a:r>
              <a:rPr lang="en-US" sz="3200" dirty="0"/>
              <a:t>2.COMPONENTS OF A CN</a:t>
            </a:r>
          </a:p>
          <a:p>
            <a:r>
              <a:rPr lang="en-US" sz="3200" dirty="0"/>
              <a:t>3.WHAT IS A TOPOLOGY</a:t>
            </a:r>
          </a:p>
          <a:p>
            <a:r>
              <a:rPr lang="en-US" sz="3200" dirty="0"/>
              <a:t>4.TYPES OF TOPOLOGY</a:t>
            </a:r>
          </a:p>
          <a:p>
            <a:r>
              <a:rPr lang="en-US" sz="3200" dirty="0"/>
              <a:t>5.LAN CLASSIFICATIONS</a:t>
            </a:r>
          </a:p>
          <a:p>
            <a:r>
              <a:rPr lang="en-US" sz="3200" dirty="0"/>
              <a:t>6.TYPES OF TRANSMODES</a:t>
            </a:r>
          </a:p>
          <a:p>
            <a:r>
              <a:rPr lang="en-US" sz="3200" dirty="0"/>
              <a:t>7.CHARACTERSTICS OF CN</a:t>
            </a:r>
          </a:p>
          <a:p>
            <a:r>
              <a:rPr lang="en-US" sz="3200" dirty="0"/>
              <a:t>8.CLASSIFICATION OF CN</a:t>
            </a:r>
          </a:p>
          <a:p>
            <a:r>
              <a:rPr lang="en-US" sz="3200" dirty="0"/>
              <a:t>9.ADV AND DIS ADV OF CN</a:t>
            </a:r>
          </a:p>
          <a:p>
            <a:r>
              <a:rPr lang="en-US" sz="3200" dirty="0"/>
              <a:t>10.DIFFERENCE BETWEEN  LAN,WAN,MAN</a:t>
            </a:r>
          </a:p>
          <a:p>
            <a:r>
              <a:rPr lang="en-US" sz="3200" dirty="0"/>
              <a:t>11.DIFF BETWEEN SERVER BASED N P2P N/W</a:t>
            </a:r>
          </a:p>
          <a:p>
            <a:r>
              <a:rPr lang="en-US" sz="3200" dirty="0"/>
              <a:t>12.ADV N DISADV OF SERVER BASED N/W</a:t>
            </a:r>
          </a:p>
          <a:p>
            <a:r>
              <a:rPr lang="en-US" sz="3200" dirty="0"/>
              <a:t>13.ADV N DISADV OF P2P N/W</a:t>
            </a:r>
          </a:p>
          <a:p>
            <a:endParaRPr lang="en-US" dirty="0"/>
          </a:p>
        </p:txBody>
      </p:sp>
    </p:spTree>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5293757"/>
          </a:xfrm>
        </p:spPr>
        <p:txBody>
          <a:bodyPr/>
          <a:lstStyle/>
          <a:p>
            <a:pPr>
              <a:buNone/>
            </a:pPr>
            <a:endParaRPr lang="en-US" dirty="0"/>
          </a:p>
          <a:p>
            <a:pPr>
              <a:buNone/>
            </a:pPr>
            <a:r>
              <a:rPr lang="en-US" b="1" dirty="0"/>
              <a:t>        </a:t>
            </a:r>
            <a:r>
              <a:rPr lang="en-US" sz="3600" b="1" dirty="0"/>
              <a:t>Protocols</a:t>
            </a:r>
            <a:r>
              <a:rPr lang="en-US" sz="3600" dirty="0"/>
              <a:t>:</a:t>
            </a:r>
          </a:p>
          <a:p>
            <a:pPr>
              <a:buNone/>
            </a:pPr>
            <a:r>
              <a:rPr lang="en-US" dirty="0"/>
              <a:t>	</a:t>
            </a:r>
          </a:p>
          <a:p>
            <a:pPr>
              <a:buNone/>
            </a:pPr>
            <a:endParaRPr lang="en-US" dirty="0"/>
          </a:p>
          <a:p>
            <a:pPr>
              <a:buNone/>
            </a:pPr>
            <a:r>
              <a:rPr lang="en-US" dirty="0"/>
              <a:t>All communication schemes will have the following things in common:</a:t>
            </a:r>
          </a:p>
          <a:p>
            <a:pPr>
              <a:buNone/>
            </a:pPr>
            <a:endParaRPr lang="en-US" dirty="0"/>
          </a:p>
          <a:p>
            <a:pPr lvl="2"/>
            <a:r>
              <a:rPr lang="en-US" sz="3200" dirty="0"/>
              <a:t>Source or sender</a:t>
            </a:r>
          </a:p>
          <a:p>
            <a:pPr lvl="2"/>
            <a:r>
              <a:rPr lang="en-US" sz="3200" dirty="0"/>
              <a:t>Destination or receiver</a:t>
            </a:r>
          </a:p>
          <a:p>
            <a:pPr lvl="2"/>
            <a:r>
              <a:rPr lang="en-US" sz="3200" dirty="0"/>
              <a:t>Channel or medium</a:t>
            </a:r>
          </a:p>
          <a:p>
            <a:pPr lvl="2">
              <a:buNone/>
            </a:pPr>
            <a:endParaRPr lang="en-US" dirty="0"/>
          </a:p>
          <a:p>
            <a:pPr>
              <a:buNone/>
            </a:pPr>
            <a:r>
              <a:rPr lang="en-US" sz="2600" b="1" dirty="0">
                <a:solidFill>
                  <a:srgbClr val="FF0000"/>
                </a:solidFill>
              </a:rPr>
              <a:t>Rules or protocols govern all methods of communication</a:t>
            </a:r>
          </a:p>
        </p:txBody>
      </p:sp>
    </p:spTree>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5059363"/>
          </a:xfrm>
        </p:spPr>
        <p:txBody>
          <a:bodyPr>
            <a:normAutofit/>
          </a:bodyPr>
          <a:lstStyle/>
          <a:p>
            <a:pPr>
              <a:buNone/>
            </a:pPr>
            <a:r>
              <a:rPr lang="en-US" sz="4000" b="1" dirty="0"/>
              <a:t>Elements of Protocols:</a:t>
            </a:r>
          </a:p>
          <a:p>
            <a:pPr>
              <a:buNone/>
            </a:pPr>
            <a:endParaRPr lang="en-US" sz="4000" dirty="0"/>
          </a:p>
          <a:p>
            <a:pPr>
              <a:buFont typeface="Wingdings" pitchFamily="2" charset="2"/>
              <a:buChar char="v"/>
            </a:pPr>
            <a:r>
              <a:rPr lang="en-US" sz="3600" b="0" dirty="0"/>
              <a:t>Message encoding</a:t>
            </a:r>
          </a:p>
          <a:p>
            <a:pPr>
              <a:buFont typeface="Wingdings" pitchFamily="2" charset="2"/>
              <a:buChar char="v"/>
            </a:pPr>
            <a:r>
              <a:rPr lang="en-US" sz="3600" b="0" dirty="0"/>
              <a:t>Message formatting and encapsulation</a:t>
            </a:r>
          </a:p>
          <a:p>
            <a:pPr>
              <a:buFont typeface="Wingdings" pitchFamily="2" charset="2"/>
              <a:buChar char="v"/>
            </a:pPr>
            <a:r>
              <a:rPr lang="en-US" sz="3600" b="0" dirty="0"/>
              <a:t>Message timing</a:t>
            </a:r>
          </a:p>
          <a:p>
            <a:pPr>
              <a:buFont typeface="Wingdings" pitchFamily="2" charset="2"/>
              <a:buChar char="v"/>
            </a:pPr>
            <a:r>
              <a:rPr lang="en-US" sz="3600" b="0" dirty="0"/>
              <a:t>Message size</a:t>
            </a:r>
          </a:p>
          <a:p>
            <a:pPr>
              <a:buFont typeface="Wingdings" pitchFamily="2" charset="2"/>
              <a:buChar char="v"/>
            </a:pPr>
            <a:r>
              <a:rPr lang="en-US" sz="3600" b="0" dirty="0"/>
              <a:t>Message delivery option</a:t>
            </a:r>
          </a:p>
        </p:txBody>
      </p:sp>
    </p:spTree>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a:t>Message encoding</a:t>
            </a:r>
          </a:p>
        </p:txBody>
      </p:sp>
      <p:pic>
        <p:nvPicPr>
          <p:cNvPr id="4" name="Content Placeholder 3" descr="msg_encoder.jpg"/>
          <p:cNvPicPr>
            <a:picLocks noGrp="1" noChangeAspect="1"/>
          </p:cNvPicPr>
          <p:nvPr>
            <p:ph idx="1"/>
          </p:nvPr>
        </p:nvPicPr>
        <p:blipFill>
          <a:blip r:embed="rId2"/>
          <a:stretch>
            <a:fillRect/>
          </a:stretch>
        </p:blipFill>
        <p:spPr>
          <a:xfrm>
            <a:off x="0" y="1371600"/>
            <a:ext cx="9144000" cy="5486400"/>
          </a:xfrm>
        </p:spPr>
      </p:pic>
    </p:spTree>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1143000"/>
          </a:xfrm>
        </p:spPr>
        <p:txBody>
          <a:bodyPr>
            <a:normAutofit/>
          </a:bodyPr>
          <a:lstStyle/>
          <a:p>
            <a:r>
              <a:rPr lang="en-US" sz="3800" b="1" dirty="0"/>
              <a:t>Message formatting and encapsulation </a:t>
            </a:r>
          </a:p>
        </p:txBody>
      </p:sp>
      <p:sp>
        <p:nvSpPr>
          <p:cNvPr id="3" name="Content Placeholder 2"/>
          <p:cNvSpPr>
            <a:spLocks noGrp="1"/>
          </p:cNvSpPr>
          <p:nvPr>
            <p:ph idx="1"/>
          </p:nvPr>
        </p:nvSpPr>
        <p:spPr>
          <a:xfrm>
            <a:off x="0" y="1600201"/>
            <a:ext cx="9144000" cy="1292662"/>
          </a:xfrm>
        </p:spPr>
        <p:txBody>
          <a:bodyPr/>
          <a:lstStyle/>
          <a:p>
            <a:pPr>
              <a:buFont typeface="Arial" pitchFamily="34" charset="0"/>
              <a:buChar char="•"/>
            </a:pPr>
            <a:r>
              <a:rPr lang="en-US" dirty="0"/>
              <a:t> </a:t>
            </a:r>
            <a:r>
              <a:rPr lang="en-US" b="0" dirty="0"/>
              <a:t>Agreed format</a:t>
            </a:r>
          </a:p>
          <a:p>
            <a:pPr>
              <a:buFont typeface="Arial" pitchFamily="34" charset="0"/>
              <a:buChar char="•"/>
            </a:pPr>
            <a:r>
              <a:rPr lang="en-US" b="0" dirty="0"/>
              <a:t> Encapsulate the information to identify the sender and receiver rightly</a:t>
            </a:r>
          </a:p>
        </p:txBody>
      </p:sp>
      <p:sp>
        <p:nvSpPr>
          <p:cNvPr id="4" name="Title 1"/>
          <p:cNvSpPr txBox="1">
            <a:spLocks/>
          </p:cNvSpPr>
          <p:nvPr/>
        </p:nvSpPr>
        <p:spPr>
          <a:xfrm>
            <a:off x="0" y="2971800"/>
            <a:ext cx="9144000" cy="762000"/>
          </a:xfrm>
          <a:prstGeom prst="rect">
            <a:avLst/>
          </a:prstGeom>
        </p:spPr>
        <p:txBody>
          <a:bodyPr vert="horz" lIns="91440" tIns="45720" rIns="91440" bIns="45720" rtlCol="0" anchor="ctr">
            <a:normAutofit fontScale="97500"/>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mj-lt"/>
                <a:ea typeface="+mj-ea"/>
                <a:cs typeface="+mj-cs"/>
              </a:rPr>
              <a:t>Message size </a:t>
            </a:r>
          </a:p>
        </p:txBody>
      </p:sp>
      <p:sp>
        <p:nvSpPr>
          <p:cNvPr id="5" name="Content Placeholder 2"/>
          <p:cNvSpPr txBox="1">
            <a:spLocks/>
          </p:cNvSpPr>
          <p:nvPr/>
        </p:nvSpPr>
        <p:spPr>
          <a:xfrm>
            <a:off x="0" y="3657600"/>
            <a:ext cx="9144000" cy="6858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3200" dirty="0"/>
              <a:t>Break long message into smaller parts</a:t>
            </a:r>
            <a:endParaRPr kumimoji="0" lang="en-US" sz="3200" i="0" u="none" strike="noStrike" kern="1200" cap="none" spc="0" normalizeH="0" baseline="0" noProof="0" dirty="0">
              <a:ln>
                <a:noFill/>
              </a:ln>
              <a:solidFill>
                <a:schemeClr val="tx1"/>
              </a:solidFill>
              <a:effectLst/>
              <a:uLnTx/>
              <a:uFillTx/>
              <a:latin typeface="+mn-lt"/>
              <a:ea typeface="+mn-ea"/>
              <a:cs typeface="+mn-cs"/>
            </a:endParaRPr>
          </a:p>
        </p:txBody>
      </p:sp>
      <p:sp>
        <p:nvSpPr>
          <p:cNvPr id="6" name="Title 1"/>
          <p:cNvSpPr txBox="1">
            <a:spLocks/>
          </p:cNvSpPr>
          <p:nvPr/>
        </p:nvSpPr>
        <p:spPr>
          <a:xfrm>
            <a:off x="0" y="4343400"/>
            <a:ext cx="7787385" cy="697230"/>
          </a:xfrm>
          <a:prstGeom prst="rect">
            <a:avLst/>
          </a:prstGeom>
        </p:spPr>
        <p:txBody>
          <a:bodyPr vert="horz" wrap="square" lIns="91440" tIns="45720" rIns="91440" bIns="45720" rtlCol="0" anchor="ctr">
            <a:normAutofit fontScale="90000" lnSpcReduction="10000"/>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mj-lt"/>
                <a:ea typeface="+mj-ea"/>
                <a:cs typeface="+mj-cs"/>
              </a:rPr>
              <a:t>Message timing </a:t>
            </a:r>
          </a:p>
        </p:txBody>
      </p:sp>
      <p:sp>
        <p:nvSpPr>
          <p:cNvPr id="7" name="Content Placeholder 2"/>
          <p:cNvSpPr txBox="1">
            <a:spLocks/>
          </p:cNvSpPr>
          <p:nvPr/>
        </p:nvSpPr>
        <p:spPr>
          <a:xfrm>
            <a:off x="152400" y="5029200"/>
            <a:ext cx="3810000" cy="861774"/>
          </a:xfrm>
          <a:prstGeom prst="rect">
            <a:avLst/>
          </a:prstGeom>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i="0" u="none" strike="noStrike" kern="0" cap="none" spc="0" normalizeH="0" baseline="0" noProof="0" dirty="0">
                <a:ln>
                  <a:noFill/>
                </a:ln>
                <a:solidFill>
                  <a:schemeClr val="tx1"/>
                </a:solidFill>
                <a:effectLst/>
                <a:uLnTx/>
                <a:uFillTx/>
                <a:latin typeface="Arial"/>
                <a:ea typeface="+mn-ea"/>
                <a:cs typeface="Arial"/>
              </a:rPr>
              <a:t>Flow control</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800" i="0" u="none" strike="noStrike" kern="0" cap="none" spc="0" normalizeH="0" baseline="0" noProof="0" dirty="0">
                <a:ln>
                  <a:noFill/>
                </a:ln>
                <a:solidFill>
                  <a:schemeClr val="tx1"/>
                </a:solidFill>
                <a:effectLst/>
                <a:uLnTx/>
                <a:uFillTx/>
                <a:latin typeface="Arial"/>
                <a:ea typeface="+mn-ea"/>
                <a:cs typeface="Arial"/>
              </a:rPr>
              <a:t>Response timeout</a:t>
            </a:r>
          </a:p>
        </p:txBody>
      </p:sp>
    </p:spTree>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a:buNone/>
            </a:pPr>
            <a:endParaRPr lang="en-US" dirty="0"/>
          </a:p>
          <a:p>
            <a:pPr>
              <a:buNone/>
            </a:pPr>
            <a:endParaRPr lang="en-US" dirty="0"/>
          </a:p>
          <a:p>
            <a:pPr>
              <a:buNone/>
            </a:pPr>
            <a:endParaRPr lang="en-US" dirty="0"/>
          </a:p>
          <a:p>
            <a:endParaRPr lang="en-US" dirty="0"/>
          </a:p>
        </p:txBody>
      </p:sp>
      <p:pic>
        <p:nvPicPr>
          <p:cNvPr id="4" name="Picture 3" descr="unicast.JPG"/>
          <p:cNvPicPr>
            <a:picLocks noChangeAspect="1"/>
          </p:cNvPicPr>
          <p:nvPr/>
        </p:nvPicPr>
        <p:blipFill>
          <a:blip r:embed="rId2"/>
          <a:stretch>
            <a:fillRect/>
          </a:stretch>
        </p:blipFill>
        <p:spPr>
          <a:xfrm>
            <a:off x="1" y="1524000"/>
            <a:ext cx="3352800" cy="2202180"/>
          </a:xfrm>
          <a:prstGeom prst="rect">
            <a:avLst/>
          </a:prstGeom>
        </p:spPr>
      </p:pic>
      <p:sp>
        <p:nvSpPr>
          <p:cNvPr id="5" name="TextBox 4"/>
          <p:cNvSpPr txBox="1"/>
          <p:nvPr/>
        </p:nvSpPr>
        <p:spPr>
          <a:xfrm>
            <a:off x="3962400" y="5867400"/>
            <a:ext cx="1833964" cy="584775"/>
          </a:xfrm>
          <a:prstGeom prst="rect">
            <a:avLst/>
          </a:prstGeom>
          <a:noFill/>
        </p:spPr>
        <p:txBody>
          <a:bodyPr wrap="none" rtlCol="0">
            <a:spAutoFit/>
          </a:bodyPr>
          <a:lstStyle/>
          <a:p>
            <a:r>
              <a:rPr lang="en-US" sz="3200" dirty="0"/>
              <a:t>Broadcast</a:t>
            </a:r>
          </a:p>
        </p:txBody>
      </p:sp>
      <p:pic>
        <p:nvPicPr>
          <p:cNvPr id="6" name="Picture 5" descr="multicast.JPG"/>
          <p:cNvPicPr>
            <a:picLocks noChangeAspect="1"/>
          </p:cNvPicPr>
          <p:nvPr/>
        </p:nvPicPr>
        <p:blipFill>
          <a:blip r:embed="rId3"/>
          <a:stretch>
            <a:fillRect/>
          </a:stretch>
        </p:blipFill>
        <p:spPr>
          <a:xfrm>
            <a:off x="5562600" y="2819400"/>
            <a:ext cx="3581400" cy="2305050"/>
          </a:xfrm>
          <a:prstGeom prst="rect">
            <a:avLst/>
          </a:prstGeom>
        </p:spPr>
      </p:pic>
      <p:sp>
        <p:nvSpPr>
          <p:cNvPr id="7" name="TextBox 6"/>
          <p:cNvSpPr txBox="1"/>
          <p:nvPr/>
        </p:nvSpPr>
        <p:spPr>
          <a:xfrm>
            <a:off x="6324600" y="2234625"/>
            <a:ext cx="1739579" cy="584775"/>
          </a:xfrm>
          <a:prstGeom prst="rect">
            <a:avLst/>
          </a:prstGeom>
          <a:noFill/>
        </p:spPr>
        <p:txBody>
          <a:bodyPr wrap="none" rtlCol="0">
            <a:spAutoFit/>
          </a:bodyPr>
          <a:lstStyle/>
          <a:p>
            <a:r>
              <a:rPr lang="en-US" sz="3200" dirty="0"/>
              <a:t>Multicast</a:t>
            </a:r>
          </a:p>
        </p:txBody>
      </p:sp>
      <p:pic>
        <p:nvPicPr>
          <p:cNvPr id="8" name="Picture 7" descr="broadcast.JPG"/>
          <p:cNvPicPr>
            <a:picLocks noChangeAspect="1"/>
          </p:cNvPicPr>
          <p:nvPr/>
        </p:nvPicPr>
        <p:blipFill>
          <a:blip r:embed="rId4"/>
          <a:stretch>
            <a:fillRect/>
          </a:stretch>
        </p:blipFill>
        <p:spPr>
          <a:xfrm>
            <a:off x="0" y="4876800"/>
            <a:ext cx="3959578" cy="1981200"/>
          </a:xfrm>
          <a:prstGeom prst="rect">
            <a:avLst/>
          </a:prstGeom>
        </p:spPr>
      </p:pic>
      <p:sp>
        <p:nvSpPr>
          <p:cNvPr id="9" name="TextBox 8"/>
          <p:cNvSpPr txBox="1"/>
          <p:nvPr/>
        </p:nvSpPr>
        <p:spPr>
          <a:xfrm>
            <a:off x="990600" y="3733800"/>
            <a:ext cx="1418978" cy="584775"/>
          </a:xfrm>
          <a:prstGeom prst="rect">
            <a:avLst/>
          </a:prstGeom>
          <a:noFill/>
        </p:spPr>
        <p:txBody>
          <a:bodyPr wrap="none" rtlCol="0">
            <a:spAutoFit/>
          </a:bodyPr>
          <a:lstStyle/>
          <a:p>
            <a:r>
              <a:rPr lang="en-US" sz="3200" dirty="0"/>
              <a:t>Unicast</a:t>
            </a:r>
          </a:p>
        </p:txBody>
      </p:sp>
      <p:sp>
        <p:nvSpPr>
          <p:cNvPr id="10" name="Rectangle 9"/>
          <p:cNvSpPr/>
          <p:nvPr/>
        </p:nvSpPr>
        <p:spPr>
          <a:xfrm>
            <a:off x="1981200" y="609600"/>
            <a:ext cx="5165838" cy="646331"/>
          </a:xfrm>
          <a:prstGeom prst="rect">
            <a:avLst/>
          </a:prstGeom>
        </p:spPr>
        <p:txBody>
          <a:bodyPr wrap="none">
            <a:spAutoFit/>
          </a:bodyPr>
          <a:lstStyle/>
          <a:p>
            <a:pPr lvl="0">
              <a:spcBef>
                <a:spcPct val="0"/>
              </a:spcBef>
              <a:defRPr/>
            </a:pPr>
            <a:r>
              <a:rPr lang="en-US" sz="3600" b="1" dirty="0"/>
              <a:t>Message delivery options </a:t>
            </a:r>
          </a:p>
        </p:txBody>
      </p:sp>
    </p:spTree>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65201"/>
            <a:ext cx="9067799" cy="930199"/>
          </a:xfrm>
        </p:spPr>
        <p:txBody>
          <a:bodyPr/>
          <a:lstStyle/>
          <a:p>
            <a:r>
              <a:rPr lang="en-US" sz="4200" b="0" dirty="0"/>
              <a:t>Classification Of Transmission Media:</a:t>
            </a:r>
            <a:br>
              <a:rPr lang="en-US" dirty="0"/>
            </a:br>
            <a:endParaRPr lang="en-US" dirty="0"/>
          </a:p>
        </p:txBody>
      </p:sp>
      <p:pic>
        <p:nvPicPr>
          <p:cNvPr id="4" name="Picture 3" descr="Transmission media"/>
          <p:cNvPicPr/>
          <p:nvPr/>
        </p:nvPicPr>
        <p:blipFill>
          <a:blip r:embed="rId2"/>
          <a:srcRect/>
          <a:stretch>
            <a:fillRect/>
          </a:stretch>
        </p:blipFill>
        <p:spPr bwMode="auto">
          <a:xfrm>
            <a:off x="0" y="1524000"/>
            <a:ext cx="8991600" cy="4800600"/>
          </a:xfrm>
          <a:prstGeom prst="rect">
            <a:avLst/>
          </a:prstGeom>
          <a:noFill/>
          <a:ln w="9525">
            <a:noFill/>
            <a:miter lim="800000"/>
            <a:headEnd/>
            <a:tailEnd/>
          </a:ln>
        </p:spPr>
      </p:pic>
    </p:spTree>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65201"/>
            <a:ext cx="5439410" cy="697230"/>
          </a:xfrm>
          <a:prstGeom prst="rect">
            <a:avLst/>
          </a:prstGeom>
        </p:spPr>
        <p:txBody>
          <a:bodyPr vert="horz" wrap="square" lIns="0" tIns="13335" rIns="0" bIns="0" rtlCol="0">
            <a:spAutoFit/>
          </a:bodyPr>
          <a:lstStyle/>
          <a:p>
            <a:pPr marL="12700">
              <a:lnSpc>
                <a:spcPct val="100000"/>
              </a:lnSpc>
              <a:spcBef>
                <a:spcPts val="105"/>
              </a:spcBef>
            </a:pPr>
            <a:r>
              <a:rPr spc="-160" dirty="0"/>
              <a:t>TRAN</a:t>
            </a:r>
            <a:r>
              <a:rPr spc="-180" dirty="0"/>
              <a:t>M</a:t>
            </a:r>
            <a:r>
              <a:rPr spc="-345" dirty="0"/>
              <a:t>ISSION</a:t>
            </a:r>
            <a:r>
              <a:rPr spc="-175" dirty="0"/>
              <a:t> </a:t>
            </a:r>
            <a:r>
              <a:rPr spc="-114" dirty="0"/>
              <a:t>MEDIA</a:t>
            </a:r>
          </a:p>
        </p:txBody>
      </p:sp>
      <p:sp>
        <p:nvSpPr>
          <p:cNvPr id="3" name="object 3"/>
          <p:cNvSpPr txBox="1"/>
          <p:nvPr/>
        </p:nvSpPr>
        <p:spPr>
          <a:xfrm>
            <a:off x="750823" y="1575638"/>
            <a:ext cx="6986270" cy="4105910"/>
          </a:xfrm>
          <a:prstGeom prst="rect">
            <a:avLst/>
          </a:prstGeom>
        </p:spPr>
        <p:txBody>
          <a:bodyPr vert="horz" wrap="square" lIns="0" tIns="13335" rIns="0" bIns="0" rtlCol="0">
            <a:spAutoFit/>
          </a:bodyPr>
          <a:lstStyle/>
          <a:p>
            <a:pPr marL="273050" indent="-260985">
              <a:lnSpc>
                <a:spcPct val="100000"/>
              </a:lnSpc>
              <a:spcBef>
                <a:spcPts val="105"/>
              </a:spcBef>
              <a:buClr>
                <a:srgbClr val="DA1F28"/>
              </a:buClr>
              <a:buSzPct val="60344"/>
              <a:buFont typeface="Wingdings"/>
              <a:buChar char=""/>
              <a:tabLst>
                <a:tab pos="273685" algn="l"/>
              </a:tabLst>
            </a:pPr>
            <a:r>
              <a:rPr sz="2900" spc="-85" dirty="0">
                <a:latin typeface="Times New Roman"/>
                <a:cs typeface="Times New Roman"/>
              </a:rPr>
              <a:t>Two</a:t>
            </a:r>
            <a:r>
              <a:rPr sz="2900" spc="15" dirty="0">
                <a:latin typeface="Times New Roman"/>
                <a:cs typeface="Times New Roman"/>
              </a:rPr>
              <a:t> </a:t>
            </a:r>
            <a:r>
              <a:rPr sz="2900" dirty="0">
                <a:latin typeface="Times New Roman"/>
                <a:cs typeface="Times New Roman"/>
              </a:rPr>
              <a:t>main</a:t>
            </a:r>
            <a:r>
              <a:rPr sz="2900" spc="-35" dirty="0">
                <a:latin typeface="Times New Roman"/>
                <a:cs typeface="Times New Roman"/>
              </a:rPr>
              <a:t> </a:t>
            </a:r>
            <a:r>
              <a:rPr sz="2900" spc="-5" dirty="0">
                <a:latin typeface="Times New Roman"/>
                <a:cs typeface="Times New Roman"/>
              </a:rPr>
              <a:t>categories:</a:t>
            </a:r>
            <a:endParaRPr sz="2900">
              <a:latin typeface="Times New Roman"/>
              <a:cs typeface="Times New Roman"/>
            </a:endParaRPr>
          </a:p>
          <a:p>
            <a:pPr marL="486409">
              <a:lnSpc>
                <a:spcPct val="100000"/>
              </a:lnSpc>
              <a:spcBef>
                <a:spcPts val="15"/>
              </a:spcBef>
            </a:pPr>
            <a:r>
              <a:rPr sz="1750" spc="-60" dirty="0">
                <a:solidFill>
                  <a:srgbClr val="2CA1BE"/>
                </a:solidFill>
                <a:latin typeface="Microsoft Sans Serif"/>
                <a:cs typeface="Microsoft Sans Serif"/>
              </a:rPr>
              <a:t>🞑</a:t>
            </a:r>
            <a:r>
              <a:rPr sz="1750" spc="120" dirty="0">
                <a:solidFill>
                  <a:srgbClr val="2CA1BE"/>
                </a:solidFill>
                <a:latin typeface="Microsoft Sans Serif"/>
                <a:cs typeface="Microsoft Sans Serif"/>
              </a:rPr>
              <a:t> </a:t>
            </a:r>
            <a:r>
              <a:rPr sz="2500" spc="-5" dirty="0">
                <a:solidFill>
                  <a:srgbClr val="3333CC"/>
                </a:solidFill>
                <a:latin typeface="Times New Roman"/>
                <a:cs typeface="Times New Roman"/>
              </a:rPr>
              <a:t>Guided</a:t>
            </a:r>
            <a:r>
              <a:rPr sz="2500" spc="-20" dirty="0">
                <a:solidFill>
                  <a:srgbClr val="3333CC"/>
                </a:solidFill>
                <a:latin typeface="Times New Roman"/>
                <a:cs typeface="Times New Roman"/>
              </a:rPr>
              <a:t> </a:t>
            </a:r>
            <a:r>
              <a:rPr sz="2500" spc="-5" dirty="0">
                <a:latin typeface="Times New Roman"/>
                <a:cs typeface="Times New Roman"/>
              </a:rPr>
              <a:t>―</a:t>
            </a:r>
            <a:r>
              <a:rPr sz="2500" spc="5" dirty="0">
                <a:latin typeface="Times New Roman"/>
                <a:cs typeface="Times New Roman"/>
              </a:rPr>
              <a:t> </a:t>
            </a:r>
            <a:r>
              <a:rPr sz="2500" spc="-15" dirty="0">
                <a:latin typeface="Times New Roman"/>
                <a:cs typeface="Times New Roman"/>
              </a:rPr>
              <a:t>wires,</a:t>
            </a:r>
            <a:r>
              <a:rPr sz="2500" spc="5" dirty="0">
                <a:latin typeface="Times New Roman"/>
                <a:cs typeface="Times New Roman"/>
              </a:rPr>
              <a:t> </a:t>
            </a:r>
            <a:r>
              <a:rPr sz="2500" spc="-5" dirty="0">
                <a:latin typeface="Times New Roman"/>
                <a:cs typeface="Times New Roman"/>
              </a:rPr>
              <a:t>cables</a:t>
            </a:r>
            <a:endParaRPr sz="2500">
              <a:latin typeface="Times New Roman"/>
              <a:cs typeface="Times New Roman"/>
            </a:endParaRPr>
          </a:p>
          <a:p>
            <a:pPr marL="760730" marR="36195" indent="-274320">
              <a:lnSpc>
                <a:spcPts val="2700"/>
              </a:lnSpc>
              <a:spcBef>
                <a:spcPts val="340"/>
              </a:spcBef>
            </a:pPr>
            <a:r>
              <a:rPr sz="1750" spc="-60" dirty="0">
                <a:solidFill>
                  <a:srgbClr val="2CA1BE"/>
                </a:solidFill>
                <a:latin typeface="Microsoft Sans Serif"/>
                <a:cs typeface="Microsoft Sans Serif"/>
              </a:rPr>
              <a:t>🞑</a:t>
            </a:r>
            <a:r>
              <a:rPr sz="1750" spc="-55" dirty="0">
                <a:solidFill>
                  <a:srgbClr val="2CA1BE"/>
                </a:solidFill>
                <a:latin typeface="Microsoft Sans Serif"/>
                <a:cs typeface="Microsoft Sans Serif"/>
              </a:rPr>
              <a:t> </a:t>
            </a:r>
            <a:r>
              <a:rPr sz="2500" spc="-5" dirty="0">
                <a:solidFill>
                  <a:srgbClr val="3333CC"/>
                </a:solidFill>
                <a:latin typeface="Times New Roman"/>
                <a:cs typeface="Times New Roman"/>
              </a:rPr>
              <a:t>Unguided </a:t>
            </a:r>
            <a:r>
              <a:rPr sz="2500" spc="-5" dirty="0">
                <a:latin typeface="Times New Roman"/>
                <a:cs typeface="Times New Roman"/>
              </a:rPr>
              <a:t>― </a:t>
            </a:r>
            <a:r>
              <a:rPr sz="2500" spc="-10" dirty="0">
                <a:latin typeface="Times New Roman"/>
                <a:cs typeface="Times New Roman"/>
              </a:rPr>
              <a:t>wireless </a:t>
            </a:r>
            <a:r>
              <a:rPr sz="2500" spc="-5" dirty="0">
                <a:latin typeface="Times New Roman"/>
                <a:cs typeface="Times New Roman"/>
              </a:rPr>
              <a:t>transmission, e.g. radio, </a:t>
            </a:r>
            <a:r>
              <a:rPr sz="2500" dirty="0">
                <a:latin typeface="Times New Roman"/>
                <a:cs typeface="Times New Roman"/>
              </a:rPr>
              <a:t> </a:t>
            </a:r>
            <a:r>
              <a:rPr sz="2500" spc="-10" dirty="0">
                <a:latin typeface="Times New Roman"/>
                <a:cs typeface="Times New Roman"/>
              </a:rPr>
              <a:t>microwave,</a:t>
            </a:r>
            <a:r>
              <a:rPr sz="2500" spc="25" dirty="0">
                <a:latin typeface="Times New Roman"/>
                <a:cs typeface="Times New Roman"/>
              </a:rPr>
              <a:t> </a:t>
            </a:r>
            <a:r>
              <a:rPr sz="2500" spc="-10" dirty="0">
                <a:latin typeface="Times New Roman"/>
                <a:cs typeface="Times New Roman"/>
              </a:rPr>
              <a:t>infrared,</a:t>
            </a:r>
            <a:r>
              <a:rPr sz="2500" spc="30" dirty="0">
                <a:latin typeface="Times New Roman"/>
                <a:cs typeface="Times New Roman"/>
              </a:rPr>
              <a:t> </a:t>
            </a:r>
            <a:r>
              <a:rPr sz="2500" spc="-5" dirty="0">
                <a:latin typeface="Times New Roman"/>
                <a:cs typeface="Times New Roman"/>
              </a:rPr>
              <a:t>sound, sonar</a:t>
            </a:r>
            <a:endParaRPr sz="2500">
              <a:latin typeface="Times New Roman"/>
              <a:cs typeface="Times New Roman"/>
            </a:endParaRPr>
          </a:p>
          <a:p>
            <a:pPr marL="273050" indent="-260985">
              <a:lnSpc>
                <a:spcPct val="100000"/>
              </a:lnSpc>
              <a:spcBef>
                <a:spcPts val="305"/>
              </a:spcBef>
              <a:buClr>
                <a:srgbClr val="DA1F28"/>
              </a:buClr>
              <a:buSzPct val="60344"/>
              <a:buFont typeface="Wingdings"/>
              <a:buChar char=""/>
              <a:tabLst>
                <a:tab pos="273685" algn="l"/>
              </a:tabLst>
            </a:pPr>
            <a:r>
              <a:rPr sz="2900" spc="-75" dirty="0">
                <a:latin typeface="Times New Roman"/>
                <a:cs typeface="Times New Roman"/>
              </a:rPr>
              <a:t>We</a:t>
            </a:r>
            <a:r>
              <a:rPr sz="2900" spc="-35" dirty="0">
                <a:latin typeface="Times New Roman"/>
                <a:cs typeface="Times New Roman"/>
              </a:rPr>
              <a:t> </a:t>
            </a:r>
            <a:r>
              <a:rPr sz="2900" spc="-10" dirty="0">
                <a:latin typeface="Times New Roman"/>
                <a:cs typeface="Times New Roman"/>
              </a:rPr>
              <a:t>will</a:t>
            </a:r>
            <a:r>
              <a:rPr sz="2900" spc="-5" dirty="0">
                <a:latin typeface="Times New Roman"/>
                <a:cs typeface="Times New Roman"/>
              </a:rPr>
              <a:t> </a:t>
            </a:r>
            <a:r>
              <a:rPr sz="2900" dirty="0">
                <a:latin typeface="Times New Roman"/>
                <a:cs typeface="Times New Roman"/>
              </a:rPr>
              <a:t>concentrate</a:t>
            </a:r>
            <a:r>
              <a:rPr sz="2900" spc="-30" dirty="0">
                <a:latin typeface="Times New Roman"/>
                <a:cs typeface="Times New Roman"/>
              </a:rPr>
              <a:t> </a:t>
            </a:r>
            <a:r>
              <a:rPr sz="2900" dirty="0">
                <a:latin typeface="Times New Roman"/>
                <a:cs typeface="Times New Roman"/>
              </a:rPr>
              <a:t>on</a:t>
            </a:r>
            <a:r>
              <a:rPr sz="2900" spc="-10" dirty="0">
                <a:latin typeface="Times New Roman"/>
                <a:cs typeface="Times New Roman"/>
              </a:rPr>
              <a:t> </a:t>
            </a:r>
            <a:r>
              <a:rPr sz="2900" dirty="0">
                <a:latin typeface="Times New Roman"/>
                <a:cs typeface="Times New Roman"/>
              </a:rPr>
              <a:t>guided</a:t>
            </a:r>
            <a:r>
              <a:rPr sz="2900" spc="-30" dirty="0">
                <a:latin typeface="Times New Roman"/>
                <a:cs typeface="Times New Roman"/>
              </a:rPr>
              <a:t> </a:t>
            </a:r>
            <a:r>
              <a:rPr sz="2900" dirty="0">
                <a:latin typeface="Times New Roman"/>
                <a:cs typeface="Times New Roman"/>
              </a:rPr>
              <a:t>media</a:t>
            </a:r>
            <a:r>
              <a:rPr sz="2900" spc="-25" dirty="0">
                <a:latin typeface="Times New Roman"/>
                <a:cs typeface="Times New Roman"/>
              </a:rPr>
              <a:t> </a:t>
            </a:r>
            <a:r>
              <a:rPr sz="2900" spc="-10" dirty="0">
                <a:latin typeface="Times New Roman"/>
                <a:cs typeface="Times New Roman"/>
              </a:rPr>
              <a:t>here:</a:t>
            </a:r>
            <a:endParaRPr sz="2900">
              <a:latin typeface="Times New Roman"/>
              <a:cs typeface="Times New Roman"/>
            </a:endParaRPr>
          </a:p>
          <a:p>
            <a:pPr marL="486409">
              <a:lnSpc>
                <a:spcPct val="100000"/>
              </a:lnSpc>
              <a:spcBef>
                <a:spcPts val="320"/>
              </a:spcBef>
            </a:pPr>
            <a:r>
              <a:rPr sz="1750" spc="-60" dirty="0">
                <a:solidFill>
                  <a:srgbClr val="2CA1BE"/>
                </a:solidFill>
                <a:latin typeface="Microsoft Sans Serif"/>
                <a:cs typeface="Microsoft Sans Serif"/>
              </a:rPr>
              <a:t>🞑</a:t>
            </a:r>
            <a:r>
              <a:rPr sz="1750" spc="114" dirty="0">
                <a:solidFill>
                  <a:srgbClr val="2CA1BE"/>
                </a:solidFill>
                <a:latin typeface="Microsoft Sans Serif"/>
                <a:cs typeface="Microsoft Sans Serif"/>
              </a:rPr>
              <a:t> </a:t>
            </a:r>
            <a:r>
              <a:rPr sz="2500" spc="-20" dirty="0">
                <a:solidFill>
                  <a:srgbClr val="3333CC"/>
                </a:solidFill>
                <a:latin typeface="Times New Roman"/>
                <a:cs typeface="Times New Roman"/>
              </a:rPr>
              <a:t>Twisted-Pair</a:t>
            </a:r>
            <a:r>
              <a:rPr sz="2500" spc="-50" dirty="0">
                <a:solidFill>
                  <a:srgbClr val="3333CC"/>
                </a:solidFill>
                <a:latin typeface="Times New Roman"/>
                <a:cs typeface="Times New Roman"/>
              </a:rPr>
              <a:t> </a:t>
            </a:r>
            <a:r>
              <a:rPr sz="2500" spc="-5" dirty="0">
                <a:solidFill>
                  <a:srgbClr val="3333CC"/>
                </a:solidFill>
                <a:latin typeface="Times New Roman"/>
                <a:cs typeface="Times New Roman"/>
              </a:rPr>
              <a:t>cables</a:t>
            </a:r>
            <a:r>
              <a:rPr sz="2500" spc="-5" dirty="0">
                <a:solidFill>
                  <a:srgbClr val="DA1F28"/>
                </a:solidFill>
                <a:latin typeface="Times New Roman"/>
                <a:cs typeface="Times New Roman"/>
              </a:rPr>
              <a:t>:</a:t>
            </a:r>
            <a:endParaRPr sz="2500">
              <a:latin typeface="Times New Roman"/>
              <a:cs typeface="Times New Roman"/>
            </a:endParaRPr>
          </a:p>
          <a:p>
            <a:pPr marL="1169670" lvl="1" indent="-228600">
              <a:lnSpc>
                <a:spcPct val="100000"/>
              </a:lnSpc>
              <a:spcBef>
                <a:spcPts val="210"/>
              </a:spcBef>
              <a:buClr>
                <a:srgbClr val="DA1F28"/>
              </a:buClr>
              <a:buSzPct val="75000"/>
              <a:buFont typeface="Wingdings"/>
              <a:buChar char=""/>
              <a:tabLst>
                <a:tab pos="1169670" algn="l"/>
              </a:tabLst>
            </a:pPr>
            <a:r>
              <a:rPr sz="2400" spc="-5" dirty="0">
                <a:solidFill>
                  <a:srgbClr val="FF8118"/>
                </a:solidFill>
                <a:latin typeface="Times New Roman"/>
                <a:cs typeface="Times New Roman"/>
              </a:rPr>
              <a:t>Unshielded</a:t>
            </a:r>
            <a:r>
              <a:rPr sz="2400" spc="-55" dirty="0">
                <a:solidFill>
                  <a:srgbClr val="FF8118"/>
                </a:solidFill>
                <a:latin typeface="Times New Roman"/>
                <a:cs typeface="Times New Roman"/>
              </a:rPr>
              <a:t> </a:t>
            </a:r>
            <a:r>
              <a:rPr sz="2400" spc="-20" dirty="0">
                <a:solidFill>
                  <a:srgbClr val="FF8118"/>
                </a:solidFill>
                <a:latin typeface="Times New Roman"/>
                <a:cs typeface="Times New Roman"/>
              </a:rPr>
              <a:t>Twisted-Pair</a:t>
            </a:r>
            <a:r>
              <a:rPr sz="2400" spc="-45" dirty="0">
                <a:solidFill>
                  <a:srgbClr val="FF8118"/>
                </a:solidFill>
                <a:latin typeface="Times New Roman"/>
                <a:cs typeface="Times New Roman"/>
              </a:rPr>
              <a:t> </a:t>
            </a:r>
            <a:r>
              <a:rPr sz="2400" spc="-5" dirty="0">
                <a:solidFill>
                  <a:srgbClr val="FF8118"/>
                </a:solidFill>
                <a:latin typeface="Times New Roman"/>
                <a:cs typeface="Times New Roman"/>
              </a:rPr>
              <a:t>(UTP)</a:t>
            </a:r>
            <a:r>
              <a:rPr sz="2400" dirty="0">
                <a:solidFill>
                  <a:srgbClr val="FF8118"/>
                </a:solidFill>
                <a:latin typeface="Times New Roman"/>
                <a:cs typeface="Times New Roman"/>
              </a:rPr>
              <a:t> cables</a:t>
            </a:r>
            <a:endParaRPr sz="2400">
              <a:latin typeface="Times New Roman"/>
              <a:cs typeface="Times New Roman"/>
            </a:endParaRPr>
          </a:p>
          <a:p>
            <a:pPr marL="1169670" lvl="1" indent="-228600">
              <a:lnSpc>
                <a:spcPct val="100000"/>
              </a:lnSpc>
              <a:spcBef>
                <a:spcPts val="215"/>
              </a:spcBef>
              <a:buClr>
                <a:srgbClr val="DA1F28"/>
              </a:buClr>
              <a:buSzPct val="75000"/>
              <a:buFont typeface="Wingdings"/>
              <a:buChar char=""/>
              <a:tabLst>
                <a:tab pos="1169670" algn="l"/>
              </a:tabLst>
            </a:pPr>
            <a:r>
              <a:rPr sz="2400" spc="-5" dirty="0">
                <a:solidFill>
                  <a:srgbClr val="FF8118"/>
                </a:solidFill>
                <a:latin typeface="Times New Roman"/>
                <a:cs typeface="Times New Roman"/>
              </a:rPr>
              <a:t>Shielded</a:t>
            </a:r>
            <a:r>
              <a:rPr sz="2400" spc="-70" dirty="0">
                <a:solidFill>
                  <a:srgbClr val="FF8118"/>
                </a:solidFill>
                <a:latin typeface="Times New Roman"/>
                <a:cs typeface="Times New Roman"/>
              </a:rPr>
              <a:t> </a:t>
            </a:r>
            <a:r>
              <a:rPr sz="2400" spc="-20" dirty="0">
                <a:solidFill>
                  <a:srgbClr val="FF8118"/>
                </a:solidFill>
                <a:latin typeface="Times New Roman"/>
                <a:cs typeface="Times New Roman"/>
              </a:rPr>
              <a:t>Twisted-Pair</a:t>
            </a:r>
            <a:r>
              <a:rPr sz="2400" spc="-50" dirty="0">
                <a:solidFill>
                  <a:srgbClr val="FF8118"/>
                </a:solidFill>
                <a:latin typeface="Times New Roman"/>
                <a:cs typeface="Times New Roman"/>
              </a:rPr>
              <a:t> </a:t>
            </a:r>
            <a:r>
              <a:rPr sz="2400" dirty="0">
                <a:solidFill>
                  <a:srgbClr val="FF8118"/>
                </a:solidFill>
                <a:latin typeface="Times New Roman"/>
                <a:cs typeface="Times New Roman"/>
              </a:rPr>
              <a:t>(STP) cables</a:t>
            </a:r>
            <a:endParaRPr sz="2400">
              <a:latin typeface="Times New Roman"/>
              <a:cs typeface="Times New Roman"/>
            </a:endParaRPr>
          </a:p>
          <a:p>
            <a:pPr marL="486409">
              <a:lnSpc>
                <a:spcPct val="100000"/>
              </a:lnSpc>
              <a:spcBef>
                <a:spcPts val="295"/>
              </a:spcBef>
            </a:pPr>
            <a:r>
              <a:rPr sz="1750" spc="-60" dirty="0">
                <a:solidFill>
                  <a:srgbClr val="2CA1BE"/>
                </a:solidFill>
                <a:latin typeface="Microsoft Sans Serif"/>
                <a:cs typeface="Microsoft Sans Serif"/>
              </a:rPr>
              <a:t>🞑</a:t>
            </a:r>
            <a:r>
              <a:rPr sz="1750" spc="110" dirty="0">
                <a:solidFill>
                  <a:srgbClr val="2CA1BE"/>
                </a:solidFill>
                <a:latin typeface="Microsoft Sans Serif"/>
                <a:cs typeface="Microsoft Sans Serif"/>
              </a:rPr>
              <a:t> </a:t>
            </a:r>
            <a:r>
              <a:rPr sz="2500" spc="-5" dirty="0">
                <a:solidFill>
                  <a:srgbClr val="3333CC"/>
                </a:solidFill>
                <a:latin typeface="Times New Roman"/>
                <a:cs typeface="Times New Roman"/>
              </a:rPr>
              <a:t>Coaxial</a:t>
            </a:r>
            <a:r>
              <a:rPr sz="2500" spc="-25" dirty="0">
                <a:solidFill>
                  <a:srgbClr val="3333CC"/>
                </a:solidFill>
                <a:latin typeface="Times New Roman"/>
                <a:cs typeface="Times New Roman"/>
              </a:rPr>
              <a:t> </a:t>
            </a:r>
            <a:r>
              <a:rPr sz="2500" spc="-5" dirty="0">
                <a:solidFill>
                  <a:srgbClr val="3333CC"/>
                </a:solidFill>
                <a:latin typeface="Times New Roman"/>
                <a:cs typeface="Times New Roman"/>
              </a:rPr>
              <a:t>cables</a:t>
            </a:r>
            <a:endParaRPr sz="2500">
              <a:latin typeface="Times New Roman"/>
              <a:cs typeface="Times New Roman"/>
            </a:endParaRPr>
          </a:p>
          <a:p>
            <a:pPr marL="486409">
              <a:lnSpc>
                <a:spcPct val="100000"/>
              </a:lnSpc>
              <a:spcBef>
                <a:spcPts val="305"/>
              </a:spcBef>
            </a:pPr>
            <a:r>
              <a:rPr sz="1750" spc="-60" dirty="0">
                <a:solidFill>
                  <a:srgbClr val="2CA1BE"/>
                </a:solidFill>
                <a:latin typeface="Microsoft Sans Serif"/>
                <a:cs typeface="Microsoft Sans Serif"/>
              </a:rPr>
              <a:t>🞑</a:t>
            </a:r>
            <a:r>
              <a:rPr sz="1750" spc="120" dirty="0">
                <a:solidFill>
                  <a:srgbClr val="2CA1BE"/>
                </a:solidFill>
                <a:latin typeface="Microsoft Sans Serif"/>
                <a:cs typeface="Microsoft Sans Serif"/>
              </a:rPr>
              <a:t> </a:t>
            </a:r>
            <a:r>
              <a:rPr sz="2500" spc="-15" dirty="0">
                <a:solidFill>
                  <a:srgbClr val="3333CC"/>
                </a:solidFill>
                <a:latin typeface="Times New Roman"/>
                <a:cs typeface="Times New Roman"/>
              </a:rPr>
              <a:t>Fiber-optic</a:t>
            </a:r>
            <a:r>
              <a:rPr sz="2500" spc="15" dirty="0">
                <a:solidFill>
                  <a:srgbClr val="3333CC"/>
                </a:solidFill>
                <a:latin typeface="Times New Roman"/>
                <a:cs typeface="Times New Roman"/>
              </a:rPr>
              <a:t> </a:t>
            </a:r>
            <a:r>
              <a:rPr sz="2500" spc="-5" dirty="0">
                <a:solidFill>
                  <a:srgbClr val="3333CC"/>
                </a:solidFill>
                <a:latin typeface="Times New Roman"/>
                <a:cs typeface="Times New Roman"/>
              </a:rPr>
              <a:t>cables</a:t>
            </a:r>
            <a:endParaRPr sz="2500">
              <a:latin typeface="Times New Roman"/>
              <a:cs typeface="Times New Roman"/>
            </a:endParaRPr>
          </a:p>
        </p:txBody>
      </p:sp>
    </p:spTree>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65201"/>
            <a:ext cx="5439410" cy="697230"/>
          </a:xfrm>
          <a:prstGeom prst="rect">
            <a:avLst/>
          </a:prstGeom>
        </p:spPr>
        <p:txBody>
          <a:bodyPr vert="horz" wrap="square" lIns="0" tIns="13335" rIns="0" bIns="0" rtlCol="0">
            <a:spAutoFit/>
          </a:bodyPr>
          <a:lstStyle/>
          <a:p>
            <a:pPr marL="12700">
              <a:lnSpc>
                <a:spcPct val="100000"/>
              </a:lnSpc>
              <a:spcBef>
                <a:spcPts val="105"/>
              </a:spcBef>
            </a:pPr>
            <a:r>
              <a:rPr spc="-160" dirty="0"/>
              <a:t>TRAN</a:t>
            </a:r>
            <a:r>
              <a:rPr spc="-180" dirty="0"/>
              <a:t>M</a:t>
            </a:r>
            <a:r>
              <a:rPr spc="-345" dirty="0"/>
              <a:t>ISSION</a:t>
            </a:r>
            <a:r>
              <a:rPr spc="-175" dirty="0"/>
              <a:t> </a:t>
            </a:r>
            <a:r>
              <a:rPr spc="-114" dirty="0"/>
              <a:t>MEDIA</a:t>
            </a:r>
          </a:p>
        </p:txBody>
      </p:sp>
      <p:sp>
        <p:nvSpPr>
          <p:cNvPr id="3" name="object 3"/>
          <p:cNvSpPr/>
          <p:nvPr/>
        </p:nvSpPr>
        <p:spPr>
          <a:xfrm>
            <a:off x="3071367" y="2678048"/>
            <a:ext cx="1306195" cy="18415"/>
          </a:xfrm>
          <a:custGeom>
            <a:avLst/>
            <a:gdLst/>
            <a:ahLst/>
            <a:cxnLst/>
            <a:rect l="l" t="t" r="r" b="b"/>
            <a:pathLst>
              <a:path w="1306195" h="18414">
                <a:moveTo>
                  <a:pt x="1306068" y="0"/>
                </a:moveTo>
                <a:lnTo>
                  <a:pt x="0" y="0"/>
                </a:lnTo>
                <a:lnTo>
                  <a:pt x="0" y="18287"/>
                </a:lnTo>
                <a:lnTo>
                  <a:pt x="1306068" y="18287"/>
                </a:lnTo>
                <a:lnTo>
                  <a:pt x="1306068" y="0"/>
                </a:lnTo>
                <a:close/>
              </a:path>
            </a:pathLst>
          </a:custGeom>
          <a:solidFill>
            <a:srgbClr val="000000"/>
          </a:solidFill>
        </p:spPr>
        <p:txBody>
          <a:bodyPr wrap="square" lIns="0" tIns="0" rIns="0" bIns="0" rtlCol="0"/>
          <a:lstStyle/>
          <a:p>
            <a:endParaRPr/>
          </a:p>
        </p:txBody>
      </p:sp>
      <p:sp>
        <p:nvSpPr>
          <p:cNvPr id="4" name="object 4"/>
          <p:cNvSpPr txBox="1"/>
          <p:nvPr/>
        </p:nvSpPr>
        <p:spPr>
          <a:xfrm>
            <a:off x="547217" y="1301500"/>
            <a:ext cx="8004809" cy="3565720"/>
          </a:xfrm>
          <a:prstGeom prst="rect">
            <a:avLst/>
          </a:prstGeom>
        </p:spPr>
        <p:txBody>
          <a:bodyPr vert="horz" wrap="square" lIns="0" tIns="269875" rIns="0" bIns="0" rtlCol="0">
            <a:spAutoFit/>
          </a:bodyPr>
          <a:lstStyle/>
          <a:p>
            <a:pPr marL="175260">
              <a:lnSpc>
                <a:spcPct val="100000"/>
              </a:lnSpc>
              <a:spcBef>
                <a:spcPts val="2125"/>
              </a:spcBef>
            </a:pPr>
            <a:r>
              <a:rPr sz="4000" b="1" spc="-70">
                <a:solidFill>
                  <a:srgbClr val="3333CC"/>
                </a:solidFill>
                <a:latin typeface="Arial"/>
                <a:cs typeface="Arial"/>
              </a:rPr>
              <a:t>Fiber-Optic</a:t>
            </a:r>
            <a:r>
              <a:rPr sz="4000" b="1" spc="-135">
                <a:solidFill>
                  <a:srgbClr val="3333CC"/>
                </a:solidFill>
                <a:latin typeface="Arial"/>
                <a:cs typeface="Arial"/>
              </a:rPr>
              <a:t> </a:t>
            </a:r>
            <a:r>
              <a:rPr sz="4000" b="1" spc="-245">
                <a:solidFill>
                  <a:srgbClr val="3333CC"/>
                </a:solidFill>
                <a:latin typeface="Arial"/>
                <a:cs typeface="Arial"/>
              </a:rPr>
              <a:t>Cables</a:t>
            </a:r>
            <a:endParaRPr sz="4000">
              <a:latin typeface="Arial"/>
              <a:cs typeface="Arial"/>
            </a:endParaRPr>
          </a:p>
          <a:p>
            <a:pPr marL="370205" marR="43180" indent="-320040">
              <a:lnSpc>
                <a:spcPct val="100000"/>
              </a:lnSpc>
              <a:spcBef>
                <a:spcPts val="1220"/>
              </a:spcBef>
              <a:buClr>
                <a:srgbClr val="DA1F28"/>
              </a:buClr>
              <a:buSzPct val="60416"/>
              <a:buFont typeface="Wingdings"/>
              <a:buChar char=""/>
              <a:tabLst>
                <a:tab pos="370205" algn="l"/>
                <a:tab pos="370840" algn="l"/>
              </a:tabLst>
            </a:pPr>
            <a:r>
              <a:rPr lang="en-US" sz="2400" dirty="0"/>
              <a:t>Fiber Optics or Optical Fiber is a technology that transmits data as a light pulse along a glass or plastic fiber. </a:t>
            </a:r>
          </a:p>
          <a:p>
            <a:pPr marL="370205" marR="43180" indent="-320040">
              <a:lnSpc>
                <a:spcPct val="100000"/>
              </a:lnSpc>
              <a:spcBef>
                <a:spcPts val="1220"/>
              </a:spcBef>
              <a:buClr>
                <a:srgbClr val="DA1F28"/>
              </a:buClr>
              <a:buSzPct val="60416"/>
              <a:buFont typeface="Wingdings"/>
              <a:buChar char=""/>
              <a:tabLst>
                <a:tab pos="370205" algn="l"/>
                <a:tab pos="370840" algn="l"/>
              </a:tabLst>
            </a:pPr>
            <a:r>
              <a:rPr lang="en-US" sz="2400" dirty="0"/>
              <a:t>An Optical Fiber is a cylindrical fiber of glass that is hair-thin in size or any transparent dielectric medium.</a:t>
            </a:r>
          </a:p>
          <a:p>
            <a:pPr marL="370205" marR="43180" indent="-320040">
              <a:lnSpc>
                <a:spcPct val="100000"/>
              </a:lnSpc>
              <a:spcBef>
                <a:spcPts val="1220"/>
              </a:spcBef>
              <a:buClr>
                <a:srgbClr val="DA1F28"/>
              </a:buClr>
              <a:buSzPct val="60416"/>
              <a:buFont typeface="Wingdings"/>
              <a:buChar char=""/>
              <a:tabLst>
                <a:tab pos="370205" algn="l"/>
                <a:tab pos="370840" algn="l"/>
              </a:tabLst>
            </a:pPr>
            <a:r>
              <a:rPr lang="en-US" sz="2400" dirty="0"/>
              <a:t> The fiber which is used for optical communication is waveguides made of transparent dielectrics.</a:t>
            </a:r>
            <a:endParaRPr sz="2400">
              <a:latin typeface="Arial"/>
              <a:cs typeface="Arial"/>
            </a:endParaRPr>
          </a:p>
        </p:txBody>
      </p:sp>
      <p:pic>
        <p:nvPicPr>
          <p:cNvPr id="7" name="Picture 6" descr="FIBER OPTICS.jpg"/>
          <p:cNvPicPr>
            <a:picLocks noChangeAspect="1"/>
          </p:cNvPicPr>
          <p:nvPr/>
        </p:nvPicPr>
        <p:blipFill>
          <a:blip r:embed="rId2"/>
          <a:stretch>
            <a:fillRect/>
          </a:stretch>
        </p:blipFill>
        <p:spPr>
          <a:xfrm>
            <a:off x="6629400" y="4724400"/>
            <a:ext cx="2438400" cy="2133600"/>
          </a:xfrm>
          <a:prstGeom prst="rect">
            <a:avLst/>
          </a:prstGeom>
        </p:spPr>
      </p:pic>
    </p:spTree>
  </p:cSld>
  <p:clrMapOvr>
    <a:masterClrMapping/>
  </p:clrMapOvr>
  <p:transition>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65201"/>
            <a:ext cx="5439410" cy="697230"/>
          </a:xfrm>
          <a:prstGeom prst="rect">
            <a:avLst/>
          </a:prstGeom>
        </p:spPr>
        <p:txBody>
          <a:bodyPr vert="horz" wrap="square" lIns="0" tIns="13335" rIns="0" bIns="0" rtlCol="0">
            <a:spAutoFit/>
          </a:bodyPr>
          <a:lstStyle/>
          <a:p>
            <a:pPr marL="12700">
              <a:lnSpc>
                <a:spcPct val="100000"/>
              </a:lnSpc>
              <a:spcBef>
                <a:spcPts val="105"/>
              </a:spcBef>
            </a:pPr>
            <a:r>
              <a:rPr spc="-160" dirty="0"/>
              <a:t>TRAN</a:t>
            </a:r>
            <a:r>
              <a:rPr spc="-180" dirty="0"/>
              <a:t>M</a:t>
            </a:r>
            <a:r>
              <a:rPr spc="-345" dirty="0"/>
              <a:t>ISSION</a:t>
            </a:r>
            <a:r>
              <a:rPr spc="-175" dirty="0"/>
              <a:t> </a:t>
            </a:r>
            <a:r>
              <a:rPr spc="-114" dirty="0"/>
              <a:t>MEDIA</a:t>
            </a:r>
          </a:p>
        </p:txBody>
      </p:sp>
      <p:sp>
        <p:nvSpPr>
          <p:cNvPr id="3" name="object 3"/>
          <p:cNvSpPr txBox="1"/>
          <p:nvPr/>
        </p:nvSpPr>
        <p:spPr>
          <a:xfrm>
            <a:off x="714552" y="1539808"/>
            <a:ext cx="7571105" cy="1816100"/>
          </a:xfrm>
          <a:prstGeom prst="rect">
            <a:avLst/>
          </a:prstGeom>
        </p:spPr>
        <p:txBody>
          <a:bodyPr vert="horz" wrap="square" lIns="0" tIns="130175" rIns="0" bIns="0" rtlCol="0">
            <a:spAutoFit/>
          </a:bodyPr>
          <a:lstStyle/>
          <a:p>
            <a:pPr marL="60960">
              <a:lnSpc>
                <a:spcPct val="100000"/>
              </a:lnSpc>
              <a:spcBef>
                <a:spcPts val="1025"/>
              </a:spcBef>
            </a:pPr>
            <a:r>
              <a:rPr sz="3200" spc="-25" dirty="0">
                <a:solidFill>
                  <a:srgbClr val="3333CC"/>
                </a:solidFill>
                <a:latin typeface="Arial"/>
                <a:cs typeface="Arial"/>
              </a:rPr>
              <a:t>Twisted-Pair</a:t>
            </a:r>
            <a:r>
              <a:rPr sz="3200" spc="-60" dirty="0">
                <a:solidFill>
                  <a:srgbClr val="3333CC"/>
                </a:solidFill>
                <a:latin typeface="Arial"/>
                <a:cs typeface="Arial"/>
              </a:rPr>
              <a:t> </a:t>
            </a:r>
            <a:r>
              <a:rPr sz="3200" dirty="0">
                <a:solidFill>
                  <a:srgbClr val="3333CC"/>
                </a:solidFill>
                <a:latin typeface="Arial"/>
                <a:cs typeface="Arial"/>
              </a:rPr>
              <a:t>Cables</a:t>
            </a:r>
            <a:endParaRPr sz="3200">
              <a:latin typeface="Arial"/>
              <a:cs typeface="Arial"/>
            </a:endParaRPr>
          </a:p>
          <a:p>
            <a:pPr marL="274320" marR="5080" indent="-262255">
              <a:lnSpc>
                <a:spcPct val="100000"/>
              </a:lnSpc>
              <a:spcBef>
                <a:spcPts val="690"/>
              </a:spcBef>
              <a:buClr>
                <a:srgbClr val="DA1F28"/>
              </a:buClr>
              <a:buSzPct val="60416"/>
              <a:buFont typeface="Wingdings"/>
              <a:buChar char=""/>
              <a:tabLst>
                <a:tab pos="274955" algn="l"/>
              </a:tabLst>
            </a:pPr>
            <a:r>
              <a:rPr sz="2400" spc="-5" dirty="0">
                <a:latin typeface="Times New Roman"/>
                <a:cs typeface="Times New Roman"/>
              </a:rPr>
              <a:t>If</a:t>
            </a:r>
            <a:r>
              <a:rPr sz="2400" dirty="0">
                <a:latin typeface="Times New Roman"/>
                <a:cs typeface="Times New Roman"/>
              </a:rPr>
              <a:t> </a:t>
            </a:r>
            <a:r>
              <a:rPr sz="2400" spc="-5" dirty="0">
                <a:latin typeface="Times New Roman"/>
                <a:cs typeface="Times New Roman"/>
              </a:rPr>
              <a:t>the</a:t>
            </a:r>
            <a:r>
              <a:rPr sz="2400" spc="-15" dirty="0">
                <a:latin typeface="Times New Roman"/>
                <a:cs typeface="Times New Roman"/>
              </a:rPr>
              <a:t> </a:t>
            </a:r>
            <a:r>
              <a:rPr sz="2400" dirty="0">
                <a:latin typeface="Times New Roman"/>
                <a:cs typeface="Times New Roman"/>
              </a:rPr>
              <a:t>pair</a:t>
            </a:r>
            <a:r>
              <a:rPr sz="2400" spc="-45"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spc="-15" dirty="0">
                <a:latin typeface="Times New Roman"/>
                <a:cs typeface="Times New Roman"/>
              </a:rPr>
              <a:t>wires</a:t>
            </a:r>
            <a:r>
              <a:rPr sz="2400" dirty="0">
                <a:latin typeface="Times New Roman"/>
                <a:cs typeface="Times New Roman"/>
              </a:rPr>
              <a:t> </a:t>
            </a:r>
            <a:r>
              <a:rPr sz="2400" spc="-15" dirty="0">
                <a:latin typeface="Times New Roman"/>
                <a:cs typeface="Times New Roman"/>
              </a:rPr>
              <a:t>are</a:t>
            </a:r>
            <a:r>
              <a:rPr sz="2400" dirty="0">
                <a:latin typeface="Times New Roman"/>
                <a:cs typeface="Times New Roman"/>
              </a:rPr>
              <a:t> </a:t>
            </a:r>
            <a:r>
              <a:rPr sz="2400" spc="-5" dirty="0">
                <a:latin typeface="Times New Roman"/>
                <a:cs typeface="Times New Roman"/>
              </a:rPr>
              <a:t>not</a:t>
            </a:r>
            <a:r>
              <a:rPr sz="2400" dirty="0">
                <a:latin typeface="Times New Roman"/>
                <a:cs typeface="Times New Roman"/>
              </a:rPr>
              <a:t> </a:t>
            </a:r>
            <a:r>
              <a:rPr sz="2400" spc="-5" dirty="0">
                <a:latin typeface="Times New Roman"/>
                <a:cs typeface="Times New Roman"/>
              </a:rPr>
              <a:t>twisted,</a:t>
            </a:r>
            <a:r>
              <a:rPr sz="2400" spc="5" dirty="0">
                <a:latin typeface="Times New Roman"/>
                <a:cs typeface="Times New Roman"/>
              </a:rPr>
              <a:t> </a:t>
            </a:r>
            <a:r>
              <a:rPr sz="2400" spc="-5" dirty="0">
                <a:latin typeface="Times New Roman"/>
                <a:cs typeface="Times New Roman"/>
              </a:rPr>
              <a:t>electromagnetic </a:t>
            </a:r>
            <a:r>
              <a:rPr sz="2400" dirty="0">
                <a:latin typeface="Times New Roman"/>
                <a:cs typeface="Times New Roman"/>
              </a:rPr>
              <a:t> </a:t>
            </a:r>
            <a:r>
              <a:rPr sz="2400" spc="-5" dirty="0">
                <a:latin typeface="Times New Roman"/>
                <a:cs typeface="Times New Roman"/>
              </a:rPr>
              <a:t>noises </a:t>
            </a:r>
            <a:r>
              <a:rPr sz="2400" spc="-10" dirty="0">
                <a:latin typeface="Times New Roman"/>
                <a:cs typeface="Times New Roman"/>
              </a:rPr>
              <a:t>from, </a:t>
            </a:r>
            <a:r>
              <a:rPr sz="2400" dirty="0">
                <a:latin typeface="Times New Roman"/>
                <a:cs typeface="Times New Roman"/>
              </a:rPr>
              <a:t>e.g., motors, </a:t>
            </a:r>
            <a:r>
              <a:rPr sz="2400" spc="-10" dirty="0">
                <a:latin typeface="Times New Roman"/>
                <a:cs typeface="Times New Roman"/>
              </a:rPr>
              <a:t>will </a:t>
            </a:r>
            <a:r>
              <a:rPr sz="2400" dirty="0">
                <a:latin typeface="Times New Roman"/>
                <a:cs typeface="Times New Roman"/>
              </a:rPr>
              <a:t>affect </a:t>
            </a:r>
            <a:r>
              <a:rPr sz="2400" spc="-5" dirty="0">
                <a:latin typeface="Times New Roman"/>
                <a:cs typeface="Times New Roman"/>
              </a:rPr>
              <a:t>the </a:t>
            </a:r>
            <a:r>
              <a:rPr sz="2400" dirty="0">
                <a:latin typeface="Times New Roman"/>
                <a:cs typeface="Times New Roman"/>
              </a:rPr>
              <a:t>closer </a:t>
            </a:r>
            <a:r>
              <a:rPr sz="2400" spc="-20" dirty="0">
                <a:latin typeface="Times New Roman"/>
                <a:cs typeface="Times New Roman"/>
              </a:rPr>
              <a:t>wire </a:t>
            </a:r>
            <a:r>
              <a:rPr sz="2400" spc="-15" dirty="0">
                <a:latin typeface="Times New Roman"/>
                <a:cs typeface="Times New Roman"/>
              </a:rPr>
              <a:t>more </a:t>
            </a:r>
            <a:r>
              <a:rPr sz="2400" spc="-590" dirty="0">
                <a:latin typeface="Times New Roman"/>
                <a:cs typeface="Times New Roman"/>
              </a:rPr>
              <a:t> </a:t>
            </a:r>
            <a:r>
              <a:rPr sz="2400" dirty="0">
                <a:latin typeface="Times New Roman"/>
                <a:cs typeface="Times New Roman"/>
              </a:rPr>
              <a:t>than</a:t>
            </a:r>
            <a:r>
              <a:rPr sz="2400" spc="-5"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further</a:t>
            </a:r>
            <a:r>
              <a:rPr sz="2400" spc="-45" dirty="0">
                <a:latin typeface="Times New Roman"/>
                <a:cs typeface="Times New Roman"/>
              </a:rPr>
              <a:t> </a:t>
            </a:r>
            <a:r>
              <a:rPr sz="2400" dirty="0">
                <a:latin typeface="Times New Roman"/>
                <a:cs typeface="Times New Roman"/>
              </a:rPr>
              <a:t>one,</a:t>
            </a:r>
            <a:r>
              <a:rPr sz="2400" spc="-5" dirty="0">
                <a:latin typeface="Times New Roman"/>
                <a:cs typeface="Times New Roman"/>
              </a:rPr>
              <a:t> </a:t>
            </a:r>
            <a:r>
              <a:rPr sz="2400" spc="-10" dirty="0">
                <a:latin typeface="Times New Roman"/>
                <a:cs typeface="Times New Roman"/>
              </a:rPr>
              <a:t>thereby</a:t>
            </a:r>
            <a:r>
              <a:rPr sz="2400" spc="-20" dirty="0">
                <a:latin typeface="Times New Roman"/>
                <a:cs typeface="Times New Roman"/>
              </a:rPr>
              <a:t> </a:t>
            </a:r>
            <a:r>
              <a:rPr sz="2400" dirty="0">
                <a:latin typeface="Times New Roman"/>
                <a:cs typeface="Times New Roman"/>
              </a:rPr>
              <a:t>causing </a:t>
            </a:r>
            <a:r>
              <a:rPr sz="2400" spc="-10" dirty="0">
                <a:latin typeface="Times New Roman"/>
                <a:cs typeface="Times New Roman"/>
              </a:rPr>
              <a:t>errors</a:t>
            </a:r>
            <a:endParaRPr sz="2400">
              <a:latin typeface="Times New Roman"/>
              <a:cs typeface="Times New Roman"/>
            </a:endParaRPr>
          </a:p>
        </p:txBody>
      </p:sp>
      <p:pic>
        <p:nvPicPr>
          <p:cNvPr id="4" name="object 4"/>
          <p:cNvPicPr/>
          <p:nvPr/>
        </p:nvPicPr>
        <p:blipFill>
          <a:blip r:embed="rId2" cstate="print"/>
          <a:stretch>
            <a:fillRect/>
          </a:stretch>
        </p:blipFill>
        <p:spPr>
          <a:xfrm>
            <a:off x="152400" y="3489118"/>
            <a:ext cx="8839200" cy="3153086"/>
          </a:xfrm>
          <a:prstGeom prst="rect">
            <a:avLst/>
          </a:prstGeom>
        </p:spPr>
      </p:pic>
      <p:pic>
        <p:nvPicPr>
          <p:cNvPr id="5" name="Picture 4" descr="TWISTED CABLE.jpg"/>
          <p:cNvPicPr>
            <a:picLocks noChangeAspect="1"/>
          </p:cNvPicPr>
          <p:nvPr/>
        </p:nvPicPr>
        <p:blipFill>
          <a:blip r:embed="rId3"/>
          <a:stretch>
            <a:fillRect/>
          </a:stretch>
        </p:blipFill>
        <p:spPr>
          <a:xfrm>
            <a:off x="6400800" y="0"/>
            <a:ext cx="2743200" cy="1219200"/>
          </a:xfrm>
          <a:prstGeom prst="rect">
            <a:avLst/>
          </a:prstGeom>
        </p:spPr>
      </p:pic>
    </p:spTree>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365201"/>
            <a:ext cx="5439410" cy="697230"/>
          </a:xfrm>
          <a:prstGeom prst="rect">
            <a:avLst/>
          </a:prstGeom>
        </p:spPr>
        <p:txBody>
          <a:bodyPr vert="horz" wrap="square" lIns="0" tIns="13335" rIns="0" bIns="0" rtlCol="0">
            <a:spAutoFit/>
          </a:bodyPr>
          <a:lstStyle/>
          <a:p>
            <a:pPr marL="12700">
              <a:lnSpc>
                <a:spcPct val="100000"/>
              </a:lnSpc>
              <a:spcBef>
                <a:spcPts val="105"/>
              </a:spcBef>
            </a:pPr>
            <a:r>
              <a:rPr spc="-160" dirty="0"/>
              <a:t>TRAN</a:t>
            </a:r>
            <a:r>
              <a:rPr spc="-180" dirty="0"/>
              <a:t>M</a:t>
            </a:r>
            <a:r>
              <a:rPr spc="-345" dirty="0"/>
              <a:t>ISSION</a:t>
            </a:r>
            <a:r>
              <a:rPr spc="-175" dirty="0"/>
              <a:t> </a:t>
            </a:r>
            <a:r>
              <a:rPr spc="-114" dirty="0"/>
              <a:t>MEDIA</a:t>
            </a:r>
          </a:p>
        </p:txBody>
      </p:sp>
      <p:sp>
        <p:nvSpPr>
          <p:cNvPr id="3" name="object 3"/>
          <p:cNvSpPr txBox="1"/>
          <p:nvPr/>
        </p:nvSpPr>
        <p:spPr>
          <a:xfrm>
            <a:off x="474065" y="1425898"/>
            <a:ext cx="8159750" cy="1968500"/>
          </a:xfrm>
          <a:prstGeom prst="rect">
            <a:avLst/>
          </a:prstGeom>
        </p:spPr>
        <p:txBody>
          <a:bodyPr vert="horz" wrap="square" lIns="0" tIns="207010" rIns="0" bIns="0" rtlCol="0">
            <a:spAutoFit/>
          </a:bodyPr>
          <a:lstStyle/>
          <a:p>
            <a:pPr marL="12700">
              <a:lnSpc>
                <a:spcPct val="100000"/>
              </a:lnSpc>
              <a:spcBef>
                <a:spcPts val="1630"/>
              </a:spcBef>
            </a:pPr>
            <a:r>
              <a:rPr sz="3200" spc="-270" dirty="0">
                <a:solidFill>
                  <a:srgbClr val="3333CC"/>
                </a:solidFill>
                <a:latin typeface="Arial"/>
                <a:cs typeface="Arial"/>
              </a:rPr>
              <a:t>Uns</a:t>
            </a:r>
            <a:r>
              <a:rPr sz="3200" spc="-275" dirty="0">
                <a:solidFill>
                  <a:srgbClr val="3333CC"/>
                </a:solidFill>
                <a:latin typeface="Arial"/>
                <a:cs typeface="Arial"/>
              </a:rPr>
              <a:t>h</a:t>
            </a:r>
            <a:r>
              <a:rPr sz="3200" spc="-65" dirty="0">
                <a:solidFill>
                  <a:srgbClr val="3333CC"/>
                </a:solidFill>
                <a:latin typeface="Arial"/>
                <a:cs typeface="Arial"/>
              </a:rPr>
              <a:t>iel</a:t>
            </a:r>
            <a:r>
              <a:rPr sz="3200" spc="-114" dirty="0">
                <a:solidFill>
                  <a:srgbClr val="3333CC"/>
                </a:solidFill>
                <a:latin typeface="Arial"/>
                <a:cs typeface="Arial"/>
              </a:rPr>
              <a:t>d</a:t>
            </a:r>
            <a:r>
              <a:rPr sz="3200" spc="-120" dirty="0">
                <a:solidFill>
                  <a:srgbClr val="3333CC"/>
                </a:solidFill>
                <a:latin typeface="Arial"/>
                <a:cs typeface="Arial"/>
              </a:rPr>
              <a:t>ed</a:t>
            </a:r>
            <a:r>
              <a:rPr sz="3200" spc="-114" dirty="0">
                <a:solidFill>
                  <a:srgbClr val="3333CC"/>
                </a:solidFill>
                <a:latin typeface="Arial"/>
                <a:cs typeface="Arial"/>
              </a:rPr>
              <a:t> </a:t>
            </a:r>
            <a:r>
              <a:rPr sz="3200" spc="-150" dirty="0">
                <a:solidFill>
                  <a:srgbClr val="3333CC"/>
                </a:solidFill>
                <a:latin typeface="Arial"/>
                <a:cs typeface="Arial"/>
              </a:rPr>
              <a:t>Twiste</a:t>
            </a:r>
            <a:r>
              <a:rPr sz="3200" spc="-185" dirty="0">
                <a:solidFill>
                  <a:srgbClr val="3333CC"/>
                </a:solidFill>
                <a:latin typeface="Arial"/>
                <a:cs typeface="Arial"/>
              </a:rPr>
              <a:t>d</a:t>
            </a:r>
            <a:r>
              <a:rPr sz="3200" spc="285" dirty="0">
                <a:solidFill>
                  <a:srgbClr val="3333CC"/>
                </a:solidFill>
                <a:latin typeface="Arial"/>
                <a:cs typeface="Arial"/>
              </a:rPr>
              <a:t>-</a:t>
            </a:r>
            <a:r>
              <a:rPr sz="3200" spc="5" dirty="0">
                <a:solidFill>
                  <a:srgbClr val="3333CC"/>
                </a:solidFill>
                <a:latin typeface="Arial"/>
                <a:cs typeface="Arial"/>
              </a:rPr>
              <a:t>Pair</a:t>
            </a:r>
            <a:r>
              <a:rPr sz="3200" spc="-100" dirty="0">
                <a:solidFill>
                  <a:srgbClr val="3333CC"/>
                </a:solidFill>
                <a:latin typeface="Arial"/>
                <a:cs typeface="Arial"/>
              </a:rPr>
              <a:t> </a:t>
            </a:r>
            <a:r>
              <a:rPr sz="3200" spc="-10" dirty="0">
                <a:solidFill>
                  <a:srgbClr val="3333CC"/>
                </a:solidFill>
                <a:latin typeface="Arial"/>
                <a:cs typeface="Arial"/>
              </a:rPr>
              <a:t>(UTP)</a:t>
            </a:r>
            <a:endParaRPr sz="3200">
              <a:latin typeface="Arial"/>
              <a:cs typeface="Arial"/>
            </a:endParaRPr>
          </a:p>
          <a:p>
            <a:pPr marL="332740" indent="-320040">
              <a:lnSpc>
                <a:spcPts val="2735"/>
              </a:lnSpc>
              <a:spcBef>
                <a:spcPts val="1150"/>
              </a:spcBef>
              <a:buClr>
                <a:srgbClr val="DA1F28"/>
              </a:buClr>
              <a:buSzPct val="60416"/>
              <a:buFont typeface="Wingdings"/>
              <a:buChar char=""/>
              <a:tabLst>
                <a:tab pos="332105" algn="l"/>
                <a:tab pos="332740" algn="l"/>
              </a:tabLst>
            </a:pPr>
            <a:r>
              <a:rPr sz="2400" spc="-20" dirty="0">
                <a:latin typeface="Times New Roman"/>
                <a:cs typeface="Times New Roman"/>
              </a:rPr>
              <a:t>Typically</a:t>
            </a:r>
            <a:r>
              <a:rPr sz="2400" spc="-50" dirty="0">
                <a:latin typeface="Times New Roman"/>
                <a:cs typeface="Times New Roman"/>
              </a:rPr>
              <a:t> </a:t>
            </a:r>
            <a:r>
              <a:rPr sz="2400" spc="-5" dirty="0">
                <a:latin typeface="Times New Roman"/>
                <a:cs typeface="Times New Roman"/>
              </a:rPr>
              <a:t>wrapped</a:t>
            </a:r>
            <a:r>
              <a:rPr sz="2400" spc="15" dirty="0">
                <a:latin typeface="Times New Roman"/>
                <a:cs typeface="Times New Roman"/>
              </a:rPr>
              <a:t> </a:t>
            </a:r>
            <a:r>
              <a:rPr sz="2400" dirty="0">
                <a:latin typeface="Times New Roman"/>
                <a:cs typeface="Times New Roman"/>
              </a:rPr>
              <a:t>inside</a:t>
            </a:r>
            <a:r>
              <a:rPr sz="2400" spc="-20"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plastic</a:t>
            </a:r>
            <a:r>
              <a:rPr sz="2400" spc="-15" dirty="0">
                <a:latin typeface="Times New Roman"/>
                <a:cs typeface="Times New Roman"/>
              </a:rPr>
              <a:t> </a:t>
            </a:r>
            <a:r>
              <a:rPr sz="2400" dirty="0">
                <a:latin typeface="Times New Roman"/>
                <a:cs typeface="Times New Roman"/>
              </a:rPr>
              <a:t>cover</a:t>
            </a:r>
            <a:r>
              <a:rPr sz="2400" spc="-70" dirty="0">
                <a:latin typeface="Times New Roman"/>
                <a:cs typeface="Times New Roman"/>
              </a:rPr>
              <a:t> </a:t>
            </a:r>
            <a:r>
              <a:rPr sz="2400" dirty="0">
                <a:latin typeface="Times New Roman"/>
                <a:cs typeface="Times New Roman"/>
              </a:rPr>
              <a:t>(for</a:t>
            </a:r>
            <a:r>
              <a:rPr sz="2400" spc="-65" dirty="0">
                <a:latin typeface="Times New Roman"/>
                <a:cs typeface="Times New Roman"/>
              </a:rPr>
              <a:t> </a:t>
            </a:r>
            <a:r>
              <a:rPr sz="2400" dirty="0">
                <a:latin typeface="Times New Roman"/>
                <a:cs typeface="Times New Roman"/>
              </a:rPr>
              <a:t>mechanical</a:t>
            </a:r>
            <a:endParaRPr sz="2400">
              <a:latin typeface="Times New Roman"/>
              <a:cs typeface="Times New Roman"/>
            </a:endParaRPr>
          </a:p>
          <a:p>
            <a:pPr marL="332105">
              <a:lnSpc>
                <a:spcPts val="2735"/>
              </a:lnSpc>
            </a:pPr>
            <a:r>
              <a:rPr sz="2400" spc="-5" dirty="0">
                <a:latin typeface="Times New Roman"/>
                <a:cs typeface="Times New Roman"/>
              </a:rPr>
              <a:t>protection)</a:t>
            </a:r>
            <a:endParaRPr sz="2400">
              <a:latin typeface="Times New Roman"/>
              <a:cs typeface="Times New Roman"/>
            </a:endParaRPr>
          </a:p>
          <a:p>
            <a:pPr marL="332740" indent="-320040">
              <a:lnSpc>
                <a:spcPct val="100000"/>
              </a:lnSpc>
              <a:spcBef>
                <a:spcPts val="420"/>
              </a:spcBef>
              <a:buClr>
                <a:srgbClr val="DA1F28"/>
              </a:buClr>
              <a:buSzPct val="60416"/>
              <a:buFont typeface="Wingdings"/>
              <a:buChar char=""/>
              <a:tabLst>
                <a:tab pos="332105" algn="l"/>
                <a:tab pos="332740" algn="l"/>
              </a:tabLst>
            </a:pPr>
            <a:r>
              <a:rPr sz="2400" spc="-5" dirty="0">
                <a:latin typeface="Times New Roman"/>
                <a:cs typeface="Times New Roman"/>
              </a:rPr>
              <a:t>A</a:t>
            </a:r>
            <a:r>
              <a:rPr sz="2400" spc="-140" dirty="0">
                <a:latin typeface="Times New Roman"/>
                <a:cs typeface="Times New Roman"/>
              </a:rPr>
              <a:t> </a:t>
            </a:r>
            <a:r>
              <a:rPr sz="2400" spc="-5" dirty="0">
                <a:latin typeface="Times New Roman"/>
                <a:cs typeface="Times New Roman"/>
              </a:rPr>
              <a:t>sample UTP</a:t>
            </a:r>
            <a:r>
              <a:rPr sz="2400" spc="-120" dirty="0">
                <a:latin typeface="Times New Roman"/>
                <a:cs typeface="Times New Roman"/>
              </a:rPr>
              <a:t> </a:t>
            </a:r>
            <a:r>
              <a:rPr sz="2400" dirty="0">
                <a:latin typeface="Times New Roman"/>
                <a:cs typeface="Times New Roman"/>
              </a:rPr>
              <a:t>cable</a:t>
            </a:r>
            <a:r>
              <a:rPr sz="2400" spc="-15" dirty="0">
                <a:latin typeface="Times New Roman"/>
                <a:cs typeface="Times New Roman"/>
              </a:rPr>
              <a:t> </a:t>
            </a:r>
            <a:r>
              <a:rPr sz="2400" spc="-5" dirty="0">
                <a:latin typeface="Times New Roman"/>
                <a:cs typeface="Times New Roman"/>
              </a:rPr>
              <a:t>with</a:t>
            </a:r>
            <a:r>
              <a:rPr sz="2400" spc="20" dirty="0">
                <a:latin typeface="Times New Roman"/>
                <a:cs typeface="Times New Roman"/>
              </a:rPr>
              <a:t> </a:t>
            </a:r>
            <a:r>
              <a:rPr sz="2400" dirty="0">
                <a:latin typeface="Times New Roman"/>
                <a:cs typeface="Times New Roman"/>
              </a:rPr>
              <a:t>5</a:t>
            </a:r>
            <a:r>
              <a:rPr sz="2400" spc="5" dirty="0">
                <a:latin typeface="Times New Roman"/>
                <a:cs typeface="Times New Roman"/>
              </a:rPr>
              <a:t> </a:t>
            </a:r>
            <a:r>
              <a:rPr sz="2400" spc="-5" dirty="0">
                <a:latin typeface="Times New Roman"/>
                <a:cs typeface="Times New Roman"/>
              </a:rPr>
              <a:t>unshielded</a:t>
            </a:r>
            <a:r>
              <a:rPr sz="2400" spc="5" dirty="0">
                <a:latin typeface="Times New Roman"/>
                <a:cs typeface="Times New Roman"/>
              </a:rPr>
              <a:t> </a:t>
            </a:r>
            <a:r>
              <a:rPr sz="2400" spc="-5" dirty="0">
                <a:latin typeface="Times New Roman"/>
                <a:cs typeface="Times New Roman"/>
              </a:rPr>
              <a:t>twisted</a:t>
            </a:r>
            <a:r>
              <a:rPr sz="2400" spc="5" dirty="0">
                <a:latin typeface="Times New Roman"/>
                <a:cs typeface="Times New Roman"/>
              </a:rPr>
              <a:t> </a:t>
            </a:r>
            <a:r>
              <a:rPr sz="2400" spc="-5" dirty="0">
                <a:latin typeface="Times New Roman"/>
                <a:cs typeface="Times New Roman"/>
              </a:rPr>
              <a:t>pairs</a:t>
            </a:r>
            <a:r>
              <a:rPr sz="2400" spc="5"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spc="-15" dirty="0">
                <a:latin typeface="Times New Roman"/>
                <a:cs typeface="Times New Roman"/>
              </a:rPr>
              <a:t>wires</a:t>
            </a:r>
            <a:endParaRPr sz="2400">
              <a:latin typeface="Times New Roman"/>
              <a:cs typeface="Times New Roman"/>
            </a:endParaRPr>
          </a:p>
        </p:txBody>
      </p:sp>
      <p:grpSp>
        <p:nvGrpSpPr>
          <p:cNvPr id="4" name="object 4"/>
          <p:cNvGrpSpPr/>
          <p:nvPr/>
        </p:nvGrpSpPr>
        <p:grpSpPr>
          <a:xfrm>
            <a:off x="781050" y="3810037"/>
            <a:ext cx="7918450" cy="2854325"/>
            <a:chOff x="781050" y="3810037"/>
            <a:chExt cx="7918450" cy="2854325"/>
          </a:xfrm>
        </p:grpSpPr>
        <p:pic>
          <p:nvPicPr>
            <p:cNvPr id="5" name="object 5"/>
            <p:cNvPicPr/>
            <p:nvPr/>
          </p:nvPicPr>
          <p:blipFill>
            <a:blip r:embed="rId2" cstate="print"/>
            <a:stretch>
              <a:fillRect/>
            </a:stretch>
          </p:blipFill>
          <p:spPr>
            <a:xfrm>
              <a:off x="781050" y="3810037"/>
              <a:ext cx="7264019" cy="2854135"/>
            </a:xfrm>
            <a:prstGeom prst="rect">
              <a:avLst/>
            </a:prstGeom>
          </p:spPr>
        </p:pic>
        <p:sp>
          <p:nvSpPr>
            <p:cNvPr id="6" name="object 6"/>
            <p:cNvSpPr/>
            <p:nvPr/>
          </p:nvSpPr>
          <p:spPr>
            <a:xfrm>
              <a:off x="7661529" y="5434202"/>
              <a:ext cx="1025525" cy="929640"/>
            </a:xfrm>
            <a:custGeom>
              <a:avLst/>
              <a:gdLst/>
              <a:ahLst/>
              <a:cxnLst/>
              <a:rect l="l" t="t" r="r" b="b"/>
              <a:pathLst>
                <a:path w="1025525" h="929639">
                  <a:moveTo>
                    <a:pt x="0" y="532371"/>
                  </a:moveTo>
                  <a:lnTo>
                    <a:pt x="6242" y="501447"/>
                  </a:lnTo>
                  <a:lnTo>
                    <a:pt x="23272" y="476197"/>
                  </a:lnTo>
                  <a:lnTo>
                    <a:pt x="48541" y="459174"/>
                  </a:lnTo>
                  <a:lnTo>
                    <a:pt x="79501" y="452932"/>
                  </a:lnTo>
                  <a:lnTo>
                    <a:pt x="170942" y="452932"/>
                  </a:lnTo>
                  <a:lnTo>
                    <a:pt x="339851" y="0"/>
                  </a:lnTo>
                  <a:lnTo>
                    <a:pt x="427227" y="452932"/>
                  </a:lnTo>
                  <a:lnTo>
                    <a:pt x="945896" y="452932"/>
                  </a:lnTo>
                  <a:lnTo>
                    <a:pt x="976782" y="459174"/>
                  </a:lnTo>
                  <a:lnTo>
                    <a:pt x="1002014" y="476197"/>
                  </a:lnTo>
                  <a:lnTo>
                    <a:pt x="1019030" y="501447"/>
                  </a:lnTo>
                  <a:lnTo>
                    <a:pt x="1025271" y="532371"/>
                  </a:lnTo>
                  <a:lnTo>
                    <a:pt x="1025271" y="651522"/>
                  </a:lnTo>
                  <a:lnTo>
                    <a:pt x="1025271" y="850112"/>
                  </a:lnTo>
                  <a:lnTo>
                    <a:pt x="1019030" y="881028"/>
                  </a:lnTo>
                  <a:lnTo>
                    <a:pt x="1002014" y="906275"/>
                  </a:lnTo>
                  <a:lnTo>
                    <a:pt x="976782" y="923296"/>
                  </a:lnTo>
                  <a:lnTo>
                    <a:pt x="945896" y="929538"/>
                  </a:lnTo>
                  <a:lnTo>
                    <a:pt x="427227" y="929538"/>
                  </a:lnTo>
                  <a:lnTo>
                    <a:pt x="170942" y="929538"/>
                  </a:lnTo>
                  <a:lnTo>
                    <a:pt x="79501" y="929538"/>
                  </a:lnTo>
                  <a:lnTo>
                    <a:pt x="48541" y="923296"/>
                  </a:lnTo>
                  <a:lnTo>
                    <a:pt x="23272" y="906275"/>
                  </a:lnTo>
                  <a:lnTo>
                    <a:pt x="6242" y="881028"/>
                  </a:lnTo>
                  <a:lnTo>
                    <a:pt x="0" y="850112"/>
                  </a:lnTo>
                  <a:lnTo>
                    <a:pt x="0" y="651522"/>
                  </a:lnTo>
                  <a:lnTo>
                    <a:pt x="0" y="532371"/>
                  </a:lnTo>
                  <a:close/>
                </a:path>
              </a:pathLst>
            </a:custGeom>
            <a:ln w="25400">
              <a:solidFill>
                <a:srgbClr val="000000"/>
              </a:solidFill>
            </a:ln>
          </p:spPr>
          <p:txBody>
            <a:bodyPr wrap="square" lIns="0" tIns="0" rIns="0" bIns="0" rtlCol="0"/>
            <a:lstStyle/>
            <a:p>
              <a:endParaRPr/>
            </a:p>
          </p:txBody>
        </p:sp>
      </p:grpSp>
      <p:sp>
        <p:nvSpPr>
          <p:cNvPr id="7" name="object 7"/>
          <p:cNvSpPr txBox="1"/>
          <p:nvPr/>
        </p:nvSpPr>
        <p:spPr>
          <a:xfrm>
            <a:off x="7870063" y="5940348"/>
            <a:ext cx="60960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3300"/>
                </a:solidFill>
                <a:latin typeface="Arial"/>
                <a:cs typeface="Arial"/>
              </a:rPr>
              <a:t>Metal</a:t>
            </a:r>
            <a:endParaRPr sz="1800">
              <a:latin typeface="Arial"/>
              <a:cs typeface="Arial"/>
            </a:endParaRPr>
          </a:p>
        </p:txBody>
      </p:sp>
      <p:sp>
        <p:nvSpPr>
          <p:cNvPr id="8" name="object 8"/>
          <p:cNvSpPr/>
          <p:nvPr/>
        </p:nvSpPr>
        <p:spPr>
          <a:xfrm>
            <a:off x="6206109" y="5367146"/>
            <a:ext cx="1322705" cy="996950"/>
          </a:xfrm>
          <a:custGeom>
            <a:avLst/>
            <a:gdLst/>
            <a:ahLst/>
            <a:cxnLst/>
            <a:rect l="l" t="t" r="r" b="b"/>
            <a:pathLst>
              <a:path w="1322704" h="996950">
                <a:moveTo>
                  <a:pt x="0" y="599427"/>
                </a:moveTo>
                <a:lnTo>
                  <a:pt x="6242" y="568503"/>
                </a:lnTo>
                <a:lnTo>
                  <a:pt x="23272" y="543253"/>
                </a:lnTo>
                <a:lnTo>
                  <a:pt x="48541" y="526230"/>
                </a:lnTo>
                <a:lnTo>
                  <a:pt x="79501" y="519988"/>
                </a:lnTo>
                <a:lnTo>
                  <a:pt x="220471" y="519988"/>
                </a:lnTo>
                <a:lnTo>
                  <a:pt x="285876" y="0"/>
                </a:lnTo>
                <a:lnTo>
                  <a:pt x="551180" y="519988"/>
                </a:lnTo>
                <a:lnTo>
                  <a:pt x="1243330" y="519988"/>
                </a:lnTo>
                <a:lnTo>
                  <a:pt x="1274216" y="526230"/>
                </a:lnTo>
                <a:lnTo>
                  <a:pt x="1299448" y="543253"/>
                </a:lnTo>
                <a:lnTo>
                  <a:pt x="1316464" y="568503"/>
                </a:lnTo>
                <a:lnTo>
                  <a:pt x="1322705" y="599427"/>
                </a:lnTo>
                <a:lnTo>
                  <a:pt x="1322705" y="718578"/>
                </a:lnTo>
                <a:lnTo>
                  <a:pt x="1322705" y="917168"/>
                </a:lnTo>
                <a:lnTo>
                  <a:pt x="1316464" y="948084"/>
                </a:lnTo>
                <a:lnTo>
                  <a:pt x="1299448" y="973331"/>
                </a:lnTo>
                <a:lnTo>
                  <a:pt x="1274216" y="990352"/>
                </a:lnTo>
                <a:lnTo>
                  <a:pt x="1243330" y="996594"/>
                </a:lnTo>
                <a:lnTo>
                  <a:pt x="551180" y="996594"/>
                </a:lnTo>
                <a:lnTo>
                  <a:pt x="220471" y="996594"/>
                </a:lnTo>
                <a:lnTo>
                  <a:pt x="79501" y="996594"/>
                </a:lnTo>
                <a:lnTo>
                  <a:pt x="48541" y="990352"/>
                </a:lnTo>
                <a:lnTo>
                  <a:pt x="23272" y="973331"/>
                </a:lnTo>
                <a:lnTo>
                  <a:pt x="6242" y="948084"/>
                </a:lnTo>
                <a:lnTo>
                  <a:pt x="0" y="917168"/>
                </a:lnTo>
                <a:lnTo>
                  <a:pt x="0" y="718578"/>
                </a:lnTo>
                <a:lnTo>
                  <a:pt x="0" y="599427"/>
                </a:lnTo>
                <a:close/>
              </a:path>
            </a:pathLst>
          </a:custGeom>
          <a:ln w="25400">
            <a:solidFill>
              <a:srgbClr val="000000"/>
            </a:solidFill>
          </a:ln>
        </p:spPr>
        <p:txBody>
          <a:bodyPr wrap="square" lIns="0" tIns="0" rIns="0" bIns="0" rtlCol="0"/>
          <a:lstStyle/>
          <a:p>
            <a:endParaRPr/>
          </a:p>
        </p:txBody>
      </p:sp>
      <p:sp>
        <p:nvSpPr>
          <p:cNvPr id="9" name="object 9"/>
          <p:cNvSpPr txBox="1"/>
          <p:nvPr/>
        </p:nvSpPr>
        <p:spPr>
          <a:xfrm>
            <a:off x="6405753" y="5940348"/>
            <a:ext cx="925194" cy="299720"/>
          </a:xfrm>
          <a:prstGeom prst="rect">
            <a:avLst/>
          </a:prstGeom>
        </p:spPr>
        <p:txBody>
          <a:bodyPr vert="horz" wrap="square" lIns="0" tIns="12700" rIns="0" bIns="0" rtlCol="0">
            <a:spAutoFit/>
          </a:bodyPr>
          <a:lstStyle/>
          <a:p>
            <a:pPr marL="12700">
              <a:lnSpc>
                <a:spcPct val="100000"/>
              </a:lnSpc>
              <a:spcBef>
                <a:spcPts val="100"/>
              </a:spcBef>
            </a:pPr>
            <a:r>
              <a:rPr sz="1800" b="1" spc="-65" dirty="0">
                <a:solidFill>
                  <a:srgbClr val="FF3300"/>
                </a:solidFill>
                <a:latin typeface="Arial"/>
                <a:cs typeface="Arial"/>
              </a:rPr>
              <a:t>Insulator</a:t>
            </a:r>
            <a:endParaRPr sz="1800">
              <a:latin typeface="Arial"/>
              <a:cs typeface="Arial"/>
            </a:endParaRPr>
          </a:p>
        </p:txBody>
      </p:sp>
      <p:pic>
        <p:nvPicPr>
          <p:cNvPr id="10" name="Picture 9" descr="UNSHIELD TWISTED PAIRS.jpg"/>
          <p:cNvPicPr>
            <a:picLocks noChangeAspect="1"/>
          </p:cNvPicPr>
          <p:nvPr/>
        </p:nvPicPr>
        <p:blipFill>
          <a:blip r:embed="rId3"/>
          <a:stretch>
            <a:fillRect/>
          </a:stretch>
        </p:blipFill>
        <p:spPr>
          <a:xfrm>
            <a:off x="5791200" y="76200"/>
            <a:ext cx="3352800" cy="1143000"/>
          </a:xfrm>
          <a:prstGeom prst="rect">
            <a:avLst/>
          </a:prstGeom>
        </p:spPr>
      </p:pic>
    </p:spTree>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65201"/>
            <a:ext cx="5439410" cy="697230"/>
          </a:xfrm>
          <a:prstGeom prst="rect">
            <a:avLst/>
          </a:prstGeom>
        </p:spPr>
        <p:txBody>
          <a:bodyPr vert="horz" wrap="square" lIns="0" tIns="13335" rIns="0" bIns="0" rtlCol="0">
            <a:spAutoFit/>
          </a:bodyPr>
          <a:lstStyle/>
          <a:p>
            <a:pPr marL="12700">
              <a:lnSpc>
                <a:spcPct val="100000"/>
              </a:lnSpc>
              <a:spcBef>
                <a:spcPts val="105"/>
              </a:spcBef>
            </a:pPr>
            <a:r>
              <a:rPr spc="-160" dirty="0"/>
              <a:t>TRAN</a:t>
            </a:r>
            <a:r>
              <a:rPr spc="-180" dirty="0"/>
              <a:t>M</a:t>
            </a:r>
            <a:r>
              <a:rPr spc="-345" dirty="0"/>
              <a:t>ISSION</a:t>
            </a:r>
            <a:r>
              <a:rPr spc="-175" dirty="0"/>
              <a:t> </a:t>
            </a:r>
            <a:r>
              <a:rPr spc="-114" dirty="0"/>
              <a:t>MEDIA</a:t>
            </a:r>
          </a:p>
        </p:txBody>
      </p:sp>
      <p:sp>
        <p:nvSpPr>
          <p:cNvPr id="3" name="object 3"/>
          <p:cNvSpPr txBox="1"/>
          <p:nvPr/>
        </p:nvSpPr>
        <p:spPr>
          <a:xfrm>
            <a:off x="834644" y="1298031"/>
            <a:ext cx="7502525" cy="2179320"/>
          </a:xfrm>
          <a:prstGeom prst="rect">
            <a:avLst/>
          </a:prstGeom>
        </p:spPr>
        <p:txBody>
          <a:bodyPr vert="horz" wrap="square" lIns="0" tIns="316865" rIns="0" bIns="0" rtlCol="0">
            <a:spAutoFit/>
          </a:bodyPr>
          <a:lstStyle/>
          <a:p>
            <a:pPr marL="12700">
              <a:lnSpc>
                <a:spcPct val="100000"/>
              </a:lnSpc>
              <a:spcBef>
                <a:spcPts val="2495"/>
              </a:spcBef>
            </a:pPr>
            <a:r>
              <a:rPr sz="3600" b="1" spc="-450" dirty="0">
                <a:solidFill>
                  <a:srgbClr val="3333CC"/>
                </a:solidFill>
                <a:latin typeface="Arial"/>
                <a:cs typeface="Arial"/>
              </a:rPr>
              <a:t>Sh</a:t>
            </a:r>
            <a:r>
              <a:rPr sz="3600" b="1" spc="-210" dirty="0">
                <a:solidFill>
                  <a:srgbClr val="3333CC"/>
                </a:solidFill>
                <a:latin typeface="Arial"/>
                <a:cs typeface="Arial"/>
              </a:rPr>
              <a:t>i</a:t>
            </a:r>
            <a:r>
              <a:rPr sz="3600" b="1" spc="-125" dirty="0">
                <a:solidFill>
                  <a:srgbClr val="3333CC"/>
                </a:solidFill>
                <a:latin typeface="Arial"/>
                <a:cs typeface="Arial"/>
              </a:rPr>
              <a:t>eld</a:t>
            </a:r>
            <a:r>
              <a:rPr sz="3600" b="1" spc="-160" dirty="0">
                <a:solidFill>
                  <a:srgbClr val="3333CC"/>
                </a:solidFill>
                <a:latin typeface="Arial"/>
                <a:cs typeface="Arial"/>
              </a:rPr>
              <a:t>e</a:t>
            </a:r>
            <a:r>
              <a:rPr sz="3600" b="1" spc="-75" dirty="0">
                <a:solidFill>
                  <a:srgbClr val="3333CC"/>
                </a:solidFill>
                <a:latin typeface="Arial"/>
                <a:cs typeface="Arial"/>
              </a:rPr>
              <a:t>d</a:t>
            </a:r>
            <a:r>
              <a:rPr sz="3600" b="1" spc="-114" dirty="0">
                <a:solidFill>
                  <a:srgbClr val="3333CC"/>
                </a:solidFill>
                <a:latin typeface="Arial"/>
                <a:cs typeface="Arial"/>
              </a:rPr>
              <a:t> </a:t>
            </a:r>
            <a:r>
              <a:rPr sz="3600" b="1" spc="-160" dirty="0">
                <a:solidFill>
                  <a:srgbClr val="3333CC"/>
                </a:solidFill>
                <a:latin typeface="Arial"/>
                <a:cs typeface="Arial"/>
              </a:rPr>
              <a:t>Tw</a:t>
            </a:r>
            <a:r>
              <a:rPr sz="3600" b="1" spc="-80" dirty="0">
                <a:solidFill>
                  <a:srgbClr val="3333CC"/>
                </a:solidFill>
                <a:latin typeface="Arial"/>
                <a:cs typeface="Arial"/>
              </a:rPr>
              <a:t>i</a:t>
            </a:r>
            <a:r>
              <a:rPr sz="3600" b="1" spc="-195" dirty="0">
                <a:solidFill>
                  <a:srgbClr val="3333CC"/>
                </a:solidFill>
                <a:latin typeface="Arial"/>
                <a:cs typeface="Arial"/>
              </a:rPr>
              <a:t>ste</a:t>
            </a:r>
            <a:r>
              <a:rPr sz="3600" b="1" spc="-254" dirty="0">
                <a:solidFill>
                  <a:srgbClr val="3333CC"/>
                </a:solidFill>
                <a:latin typeface="Arial"/>
                <a:cs typeface="Arial"/>
              </a:rPr>
              <a:t>d</a:t>
            </a:r>
            <a:r>
              <a:rPr sz="3600" b="1" spc="325" dirty="0">
                <a:solidFill>
                  <a:srgbClr val="3333CC"/>
                </a:solidFill>
                <a:latin typeface="Arial"/>
                <a:cs typeface="Arial"/>
              </a:rPr>
              <a:t>-</a:t>
            </a:r>
            <a:r>
              <a:rPr sz="3600" b="1" spc="5" dirty="0">
                <a:solidFill>
                  <a:srgbClr val="3333CC"/>
                </a:solidFill>
                <a:latin typeface="Arial"/>
                <a:cs typeface="Arial"/>
              </a:rPr>
              <a:t>Pair</a:t>
            </a:r>
            <a:r>
              <a:rPr sz="3600" b="1" spc="-85" dirty="0">
                <a:solidFill>
                  <a:srgbClr val="3333CC"/>
                </a:solidFill>
                <a:latin typeface="Arial"/>
                <a:cs typeface="Arial"/>
              </a:rPr>
              <a:t> </a:t>
            </a:r>
            <a:r>
              <a:rPr sz="3600" b="1" spc="-305" dirty="0">
                <a:solidFill>
                  <a:srgbClr val="3333CC"/>
                </a:solidFill>
                <a:latin typeface="Arial"/>
                <a:cs typeface="Arial"/>
              </a:rPr>
              <a:t>(S</a:t>
            </a:r>
            <a:r>
              <a:rPr sz="3600" b="1" spc="-385" dirty="0">
                <a:solidFill>
                  <a:srgbClr val="3333CC"/>
                </a:solidFill>
                <a:latin typeface="Arial"/>
                <a:cs typeface="Arial"/>
              </a:rPr>
              <a:t>T</a:t>
            </a:r>
            <a:r>
              <a:rPr sz="3600" b="1" spc="90" dirty="0">
                <a:solidFill>
                  <a:srgbClr val="3333CC"/>
                </a:solidFill>
                <a:latin typeface="Arial"/>
                <a:cs typeface="Arial"/>
              </a:rPr>
              <a:t>P)</a:t>
            </a:r>
            <a:endParaRPr sz="3600">
              <a:latin typeface="Arial"/>
              <a:cs typeface="Arial"/>
            </a:endParaRPr>
          </a:p>
          <a:p>
            <a:pPr marL="332740" marR="5080" indent="-320040" algn="just">
              <a:lnSpc>
                <a:spcPct val="100000"/>
              </a:lnSpc>
              <a:spcBef>
                <a:spcPts val="1595"/>
              </a:spcBef>
              <a:buClr>
                <a:srgbClr val="DA1F28"/>
              </a:buClr>
              <a:buSzPct val="60416"/>
              <a:buFont typeface="Wingdings"/>
              <a:buChar char=""/>
              <a:tabLst>
                <a:tab pos="332740" algn="l"/>
              </a:tabLst>
            </a:pPr>
            <a:r>
              <a:rPr sz="2400" spc="-285" dirty="0">
                <a:latin typeface="Arial"/>
                <a:cs typeface="Arial"/>
              </a:rPr>
              <a:t>STP </a:t>
            </a:r>
            <a:r>
              <a:rPr sz="2400" spc="-165" dirty="0">
                <a:latin typeface="Arial"/>
                <a:cs typeface="Arial"/>
              </a:rPr>
              <a:t>cables </a:t>
            </a:r>
            <a:r>
              <a:rPr sz="2400" spc="-30" dirty="0">
                <a:latin typeface="Arial"/>
                <a:cs typeface="Arial"/>
              </a:rPr>
              <a:t>are </a:t>
            </a:r>
            <a:r>
              <a:rPr sz="2400" spc="-75" dirty="0">
                <a:latin typeface="Arial"/>
                <a:cs typeface="Arial"/>
              </a:rPr>
              <a:t>similar </a:t>
            </a:r>
            <a:r>
              <a:rPr sz="2400" spc="-45" dirty="0">
                <a:latin typeface="Arial"/>
                <a:cs typeface="Arial"/>
              </a:rPr>
              <a:t>to </a:t>
            </a:r>
            <a:r>
              <a:rPr sz="2400" spc="-114" dirty="0">
                <a:latin typeface="Arial"/>
                <a:cs typeface="Arial"/>
              </a:rPr>
              <a:t>UTP </a:t>
            </a:r>
            <a:r>
              <a:rPr sz="2400" spc="-140" dirty="0">
                <a:latin typeface="Arial"/>
                <a:cs typeface="Arial"/>
              </a:rPr>
              <a:t>cables, </a:t>
            </a:r>
            <a:r>
              <a:rPr sz="2400" spc="-120" dirty="0">
                <a:latin typeface="Arial"/>
                <a:cs typeface="Arial"/>
              </a:rPr>
              <a:t>except </a:t>
            </a:r>
            <a:r>
              <a:rPr sz="2400" spc="-60" dirty="0">
                <a:latin typeface="Arial"/>
                <a:cs typeface="Arial"/>
              </a:rPr>
              <a:t>there </a:t>
            </a:r>
            <a:r>
              <a:rPr sz="2400" spc="-245" dirty="0">
                <a:latin typeface="Arial"/>
                <a:cs typeface="Arial"/>
              </a:rPr>
              <a:t>is </a:t>
            </a:r>
            <a:r>
              <a:rPr sz="2400" spc="75" dirty="0">
                <a:latin typeface="Arial"/>
                <a:cs typeface="Arial"/>
              </a:rPr>
              <a:t>a </a:t>
            </a:r>
            <a:r>
              <a:rPr sz="2400" spc="-655" dirty="0">
                <a:latin typeface="Arial"/>
                <a:cs typeface="Arial"/>
              </a:rPr>
              <a:t> </a:t>
            </a:r>
            <a:r>
              <a:rPr sz="2400" spc="-10" dirty="0">
                <a:latin typeface="Arial"/>
                <a:cs typeface="Arial"/>
              </a:rPr>
              <a:t>metal </a:t>
            </a:r>
            <a:r>
              <a:rPr sz="2400" spc="-50" dirty="0">
                <a:latin typeface="Arial"/>
                <a:cs typeface="Arial"/>
              </a:rPr>
              <a:t>foil </a:t>
            </a:r>
            <a:r>
              <a:rPr sz="2400" spc="-110" dirty="0">
                <a:latin typeface="Arial"/>
                <a:cs typeface="Arial"/>
              </a:rPr>
              <a:t>or </a:t>
            </a:r>
            <a:r>
              <a:rPr sz="2400" spc="-35" dirty="0">
                <a:latin typeface="Arial"/>
                <a:cs typeface="Arial"/>
              </a:rPr>
              <a:t>braided-metal-mesh </a:t>
            </a:r>
            <a:r>
              <a:rPr sz="2400" spc="-150" dirty="0">
                <a:latin typeface="Arial"/>
                <a:cs typeface="Arial"/>
              </a:rPr>
              <a:t>cover </a:t>
            </a:r>
            <a:r>
              <a:rPr sz="2400" spc="45" dirty="0">
                <a:latin typeface="Arial"/>
                <a:cs typeface="Arial"/>
              </a:rPr>
              <a:t>that </a:t>
            </a:r>
            <a:r>
              <a:rPr sz="2400" spc="-229" dirty="0">
                <a:latin typeface="Arial"/>
                <a:cs typeface="Arial"/>
              </a:rPr>
              <a:t>encases </a:t>
            </a:r>
            <a:r>
              <a:rPr sz="2400" spc="-225" dirty="0">
                <a:latin typeface="Arial"/>
                <a:cs typeface="Arial"/>
              </a:rPr>
              <a:t> </a:t>
            </a:r>
            <a:r>
              <a:rPr sz="2400" spc="-125" dirty="0">
                <a:latin typeface="Arial"/>
                <a:cs typeface="Arial"/>
              </a:rPr>
              <a:t>each</a:t>
            </a:r>
            <a:r>
              <a:rPr sz="2400" spc="-70" dirty="0">
                <a:latin typeface="Arial"/>
                <a:cs typeface="Arial"/>
              </a:rPr>
              <a:t> </a:t>
            </a:r>
            <a:r>
              <a:rPr sz="2400" spc="-35" dirty="0">
                <a:latin typeface="Arial"/>
                <a:cs typeface="Arial"/>
              </a:rPr>
              <a:t>p</a:t>
            </a:r>
            <a:r>
              <a:rPr sz="2400" spc="15" dirty="0">
                <a:latin typeface="Arial"/>
                <a:cs typeface="Arial"/>
              </a:rPr>
              <a:t>air</a:t>
            </a:r>
            <a:r>
              <a:rPr sz="2400" spc="-70" dirty="0">
                <a:latin typeface="Arial"/>
                <a:cs typeface="Arial"/>
              </a:rPr>
              <a:t> </a:t>
            </a:r>
            <a:r>
              <a:rPr sz="2400" spc="-75" dirty="0">
                <a:latin typeface="Arial"/>
                <a:cs typeface="Arial"/>
              </a:rPr>
              <a:t>of</a:t>
            </a:r>
            <a:r>
              <a:rPr sz="2400" spc="-60" dirty="0">
                <a:latin typeface="Arial"/>
                <a:cs typeface="Arial"/>
              </a:rPr>
              <a:t> </a:t>
            </a:r>
            <a:r>
              <a:rPr sz="2400" spc="-80" dirty="0">
                <a:latin typeface="Arial"/>
                <a:cs typeface="Arial"/>
              </a:rPr>
              <a:t>insulated</a:t>
            </a:r>
            <a:r>
              <a:rPr sz="2400" spc="-70" dirty="0">
                <a:latin typeface="Arial"/>
                <a:cs typeface="Arial"/>
              </a:rPr>
              <a:t> </a:t>
            </a:r>
            <a:r>
              <a:rPr sz="2400" spc="-55" dirty="0">
                <a:latin typeface="Arial"/>
                <a:cs typeface="Arial"/>
              </a:rPr>
              <a:t>wir</a:t>
            </a:r>
            <a:r>
              <a:rPr sz="2400" spc="-70" dirty="0">
                <a:latin typeface="Arial"/>
                <a:cs typeface="Arial"/>
              </a:rPr>
              <a:t>e</a:t>
            </a:r>
            <a:r>
              <a:rPr sz="2400" spc="-484" dirty="0">
                <a:latin typeface="Arial"/>
                <a:cs typeface="Arial"/>
              </a:rPr>
              <a:t>s</a:t>
            </a:r>
            <a:endParaRPr sz="2400">
              <a:latin typeface="Arial"/>
              <a:cs typeface="Arial"/>
            </a:endParaRPr>
          </a:p>
        </p:txBody>
      </p:sp>
      <p:grpSp>
        <p:nvGrpSpPr>
          <p:cNvPr id="4" name="object 4"/>
          <p:cNvGrpSpPr/>
          <p:nvPr/>
        </p:nvGrpSpPr>
        <p:grpSpPr>
          <a:xfrm>
            <a:off x="609600" y="3884485"/>
            <a:ext cx="7924800" cy="2696210"/>
            <a:chOff x="609600" y="3884485"/>
            <a:chExt cx="7924800" cy="2696210"/>
          </a:xfrm>
        </p:grpSpPr>
        <p:pic>
          <p:nvPicPr>
            <p:cNvPr id="5" name="object 5"/>
            <p:cNvPicPr/>
            <p:nvPr/>
          </p:nvPicPr>
          <p:blipFill>
            <a:blip r:embed="rId2" cstate="print"/>
            <a:stretch>
              <a:fillRect/>
            </a:stretch>
          </p:blipFill>
          <p:spPr>
            <a:xfrm>
              <a:off x="609600" y="3884485"/>
              <a:ext cx="7924800" cy="2695702"/>
            </a:xfrm>
            <a:prstGeom prst="rect">
              <a:avLst/>
            </a:prstGeom>
          </p:spPr>
        </p:pic>
        <p:sp>
          <p:nvSpPr>
            <p:cNvPr id="6" name="object 6"/>
            <p:cNvSpPr/>
            <p:nvPr/>
          </p:nvSpPr>
          <p:spPr>
            <a:xfrm>
              <a:off x="3134486" y="6466319"/>
              <a:ext cx="1485900" cy="0"/>
            </a:xfrm>
            <a:custGeom>
              <a:avLst/>
              <a:gdLst/>
              <a:ahLst/>
              <a:cxnLst/>
              <a:rect l="l" t="t" r="r" b="b"/>
              <a:pathLst>
                <a:path w="1485900">
                  <a:moveTo>
                    <a:pt x="0" y="0"/>
                  </a:moveTo>
                  <a:lnTo>
                    <a:pt x="1485900" y="0"/>
                  </a:lnTo>
                </a:path>
              </a:pathLst>
            </a:custGeom>
            <a:ln w="38100">
              <a:solidFill>
                <a:srgbClr val="FF3300"/>
              </a:solidFill>
            </a:ln>
          </p:spPr>
          <p:txBody>
            <a:bodyPr wrap="square" lIns="0" tIns="0" rIns="0" bIns="0" rtlCol="0"/>
            <a:lstStyle/>
            <a:p>
              <a:endParaRPr/>
            </a:p>
          </p:txBody>
        </p:sp>
      </p:grpSp>
      <p:pic>
        <p:nvPicPr>
          <p:cNvPr id="7" name="Picture 6" descr="SHIELDED TWISTED PAIRS.jpg"/>
          <p:cNvPicPr>
            <a:picLocks noChangeAspect="1"/>
          </p:cNvPicPr>
          <p:nvPr/>
        </p:nvPicPr>
        <p:blipFill>
          <a:blip r:embed="rId3"/>
          <a:stretch>
            <a:fillRect/>
          </a:stretch>
        </p:blipFill>
        <p:spPr>
          <a:xfrm>
            <a:off x="7010400" y="0"/>
            <a:ext cx="2133600" cy="1295400"/>
          </a:xfrm>
          <a:prstGeom prst="rect">
            <a:avLst/>
          </a:prstGeom>
        </p:spPr>
      </p:pic>
    </p:spTree>
  </p:cSld>
  <p:clrMapOvr>
    <a:masterClrMapping/>
  </p:clrMapOvr>
  <p:transition>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1387" y="365201"/>
            <a:ext cx="5439410" cy="697230"/>
          </a:xfrm>
          <a:prstGeom prst="rect">
            <a:avLst/>
          </a:prstGeom>
        </p:spPr>
        <p:txBody>
          <a:bodyPr vert="horz" wrap="square" lIns="0" tIns="13335" rIns="0" bIns="0" rtlCol="0">
            <a:spAutoFit/>
          </a:bodyPr>
          <a:lstStyle/>
          <a:p>
            <a:pPr marL="12700">
              <a:lnSpc>
                <a:spcPct val="100000"/>
              </a:lnSpc>
              <a:spcBef>
                <a:spcPts val="105"/>
              </a:spcBef>
            </a:pPr>
            <a:r>
              <a:rPr spc="-160" dirty="0"/>
              <a:t>TRAN</a:t>
            </a:r>
            <a:r>
              <a:rPr spc="-180" dirty="0"/>
              <a:t>M</a:t>
            </a:r>
            <a:r>
              <a:rPr spc="-345" dirty="0"/>
              <a:t>ISSION</a:t>
            </a:r>
            <a:r>
              <a:rPr spc="-175" dirty="0"/>
              <a:t> </a:t>
            </a:r>
            <a:r>
              <a:rPr spc="-114" dirty="0"/>
              <a:t>MEDIA</a:t>
            </a:r>
          </a:p>
        </p:txBody>
      </p:sp>
      <p:sp>
        <p:nvSpPr>
          <p:cNvPr id="3" name="object 3"/>
          <p:cNvSpPr txBox="1"/>
          <p:nvPr/>
        </p:nvSpPr>
        <p:spPr>
          <a:xfrm>
            <a:off x="618540" y="1297205"/>
            <a:ext cx="8014334" cy="2609048"/>
          </a:xfrm>
          <a:prstGeom prst="rect">
            <a:avLst/>
          </a:prstGeom>
        </p:spPr>
        <p:txBody>
          <a:bodyPr vert="horz" wrap="square" lIns="0" tIns="269875" rIns="0" bIns="0" rtlCol="0">
            <a:spAutoFit/>
          </a:bodyPr>
          <a:lstStyle/>
          <a:p>
            <a:pPr marL="12700">
              <a:lnSpc>
                <a:spcPct val="100000"/>
              </a:lnSpc>
              <a:spcBef>
                <a:spcPts val="2125"/>
              </a:spcBef>
            </a:pPr>
            <a:r>
              <a:rPr sz="4000" b="1" spc="-130" dirty="0">
                <a:solidFill>
                  <a:srgbClr val="006FC0"/>
                </a:solidFill>
                <a:latin typeface="Arial"/>
                <a:cs typeface="Arial"/>
              </a:rPr>
              <a:t>Coaxia</a:t>
            </a:r>
            <a:r>
              <a:rPr sz="4000" b="1" spc="-65" dirty="0">
                <a:solidFill>
                  <a:srgbClr val="006FC0"/>
                </a:solidFill>
                <a:latin typeface="Arial"/>
                <a:cs typeface="Arial"/>
              </a:rPr>
              <a:t>l</a:t>
            </a:r>
            <a:r>
              <a:rPr sz="4000" b="1" spc="-145" dirty="0">
                <a:solidFill>
                  <a:srgbClr val="006FC0"/>
                </a:solidFill>
                <a:latin typeface="Arial"/>
                <a:cs typeface="Arial"/>
              </a:rPr>
              <a:t> </a:t>
            </a:r>
            <a:r>
              <a:rPr sz="4000" b="1" spc="-245" dirty="0">
                <a:solidFill>
                  <a:srgbClr val="006FC0"/>
                </a:solidFill>
                <a:latin typeface="Arial"/>
                <a:cs typeface="Arial"/>
              </a:rPr>
              <a:t>Cables</a:t>
            </a:r>
            <a:endParaRPr sz="4000">
              <a:latin typeface="Arial"/>
              <a:cs typeface="Arial"/>
            </a:endParaRPr>
          </a:p>
          <a:p>
            <a:pPr marL="332105" marR="5080" indent="-320040">
              <a:lnSpc>
                <a:spcPct val="100000"/>
              </a:lnSpc>
              <a:spcBef>
                <a:spcPts val="1215"/>
              </a:spcBef>
              <a:buClr>
                <a:srgbClr val="DA1F28"/>
              </a:buClr>
              <a:buSzPct val="60416"/>
              <a:buFont typeface="Wingdings"/>
              <a:buChar char=""/>
              <a:tabLst>
                <a:tab pos="332105" algn="l"/>
                <a:tab pos="332740" algn="l"/>
              </a:tabLst>
            </a:pPr>
            <a:r>
              <a:rPr sz="2400" spc="-30" dirty="0">
                <a:latin typeface="Arial"/>
                <a:cs typeface="Arial"/>
              </a:rPr>
              <a:t>In</a:t>
            </a:r>
            <a:r>
              <a:rPr sz="2400" spc="-80" dirty="0">
                <a:latin typeface="Arial"/>
                <a:cs typeface="Arial"/>
              </a:rPr>
              <a:t> </a:t>
            </a:r>
            <a:r>
              <a:rPr sz="2400" spc="-110" dirty="0">
                <a:latin typeface="Arial"/>
                <a:cs typeface="Arial"/>
              </a:rPr>
              <a:t>ge</a:t>
            </a:r>
            <a:r>
              <a:rPr sz="2400" spc="-125" dirty="0">
                <a:latin typeface="Arial"/>
                <a:cs typeface="Arial"/>
              </a:rPr>
              <a:t>n</a:t>
            </a:r>
            <a:r>
              <a:rPr sz="2400" spc="-20" dirty="0">
                <a:latin typeface="Arial"/>
                <a:cs typeface="Arial"/>
              </a:rPr>
              <a:t>eral,</a:t>
            </a:r>
            <a:r>
              <a:rPr sz="2400" spc="-65" dirty="0">
                <a:latin typeface="Arial"/>
                <a:cs typeface="Arial"/>
              </a:rPr>
              <a:t> </a:t>
            </a:r>
            <a:r>
              <a:rPr sz="2400" u="heavy" spc="-155" dirty="0">
                <a:solidFill>
                  <a:srgbClr val="FF8118"/>
                </a:solidFill>
                <a:uFill>
                  <a:solidFill>
                    <a:srgbClr val="FF8118"/>
                  </a:solidFill>
                </a:uFill>
                <a:latin typeface="Arial"/>
                <a:cs typeface="Arial"/>
              </a:rPr>
              <a:t>coax</a:t>
            </a:r>
            <a:r>
              <a:rPr sz="2400" u="heavy" spc="30" dirty="0">
                <a:solidFill>
                  <a:srgbClr val="FF8118"/>
                </a:solidFill>
                <a:uFill>
                  <a:solidFill>
                    <a:srgbClr val="FF8118"/>
                  </a:solidFill>
                </a:uFill>
                <a:latin typeface="Arial"/>
                <a:cs typeface="Arial"/>
              </a:rPr>
              <a:t>ia</a:t>
            </a:r>
            <a:r>
              <a:rPr sz="2400" u="heavy" spc="-30" dirty="0">
                <a:solidFill>
                  <a:srgbClr val="FF8118"/>
                </a:solidFill>
                <a:uFill>
                  <a:solidFill>
                    <a:srgbClr val="FF8118"/>
                  </a:solidFill>
                </a:uFill>
                <a:latin typeface="Arial"/>
                <a:cs typeface="Arial"/>
              </a:rPr>
              <a:t>l</a:t>
            </a:r>
            <a:r>
              <a:rPr sz="2400" u="heavy" spc="-70" dirty="0">
                <a:solidFill>
                  <a:srgbClr val="FF8118"/>
                </a:solidFill>
                <a:uFill>
                  <a:solidFill>
                    <a:srgbClr val="FF8118"/>
                  </a:solidFill>
                </a:uFill>
                <a:latin typeface="Arial"/>
                <a:cs typeface="Arial"/>
              </a:rPr>
              <a:t> </a:t>
            </a:r>
            <a:r>
              <a:rPr sz="2400" u="heavy" spc="-160" dirty="0">
                <a:solidFill>
                  <a:srgbClr val="FF8118"/>
                </a:solidFill>
                <a:uFill>
                  <a:solidFill>
                    <a:srgbClr val="FF8118"/>
                  </a:solidFill>
                </a:uFill>
                <a:latin typeface="Arial"/>
                <a:cs typeface="Arial"/>
              </a:rPr>
              <a:t>cables</a:t>
            </a:r>
            <a:r>
              <a:rPr sz="2400" spc="5" dirty="0">
                <a:latin typeface="Arial"/>
                <a:cs typeface="Arial"/>
              </a:rPr>
              <a:t>,</a:t>
            </a:r>
            <a:r>
              <a:rPr sz="2400" spc="-70" dirty="0">
                <a:latin typeface="Arial"/>
                <a:cs typeface="Arial"/>
              </a:rPr>
              <a:t> </a:t>
            </a:r>
            <a:r>
              <a:rPr sz="2400" spc="-110" dirty="0">
                <a:latin typeface="Arial"/>
                <a:cs typeface="Arial"/>
              </a:rPr>
              <a:t>or</a:t>
            </a:r>
            <a:r>
              <a:rPr sz="2400" spc="-60" dirty="0">
                <a:latin typeface="Arial"/>
                <a:cs typeface="Arial"/>
              </a:rPr>
              <a:t> </a:t>
            </a:r>
            <a:r>
              <a:rPr sz="2400" u="heavy" spc="-160" dirty="0">
                <a:solidFill>
                  <a:srgbClr val="FF8118"/>
                </a:solidFill>
                <a:uFill>
                  <a:solidFill>
                    <a:srgbClr val="FF8118"/>
                  </a:solidFill>
                </a:uFill>
                <a:latin typeface="Arial"/>
                <a:cs typeface="Arial"/>
              </a:rPr>
              <a:t>coa</a:t>
            </a:r>
            <a:r>
              <a:rPr sz="2400" u="heavy" spc="-145" dirty="0">
                <a:solidFill>
                  <a:srgbClr val="FF8118"/>
                </a:solidFill>
                <a:uFill>
                  <a:solidFill>
                    <a:srgbClr val="FF8118"/>
                  </a:solidFill>
                </a:uFill>
                <a:latin typeface="Arial"/>
                <a:cs typeface="Arial"/>
              </a:rPr>
              <a:t>x</a:t>
            </a:r>
            <a:r>
              <a:rPr sz="2400" spc="5" dirty="0">
                <a:latin typeface="Arial"/>
                <a:cs typeface="Arial"/>
              </a:rPr>
              <a:t>,</a:t>
            </a:r>
            <a:r>
              <a:rPr sz="2400" spc="-70" dirty="0">
                <a:latin typeface="Arial"/>
                <a:cs typeface="Arial"/>
              </a:rPr>
              <a:t> </a:t>
            </a:r>
            <a:r>
              <a:rPr sz="2400" spc="-75" dirty="0">
                <a:latin typeface="Arial"/>
                <a:cs typeface="Arial"/>
              </a:rPr>
              <a:t>carr</a:t>
            </a:r>
            <a:r>
              <a:rPr sz="2400" spc="-80" dirty="0">
                <a:latin typeface="Arial"/>
                <a:cs typeface="Arial"/>
              </a:rPr>
              <a:t>y</a:t>
            </a:r>
            <a:r>
              <a:rPr sz="2400" spc="-70" dirty="0">
                <a:latin typeface="Arial"/>
                <a:cs typeface="Arial"/>
              </a:rPr>
              <a:t> </a:t>
            </a:r>
            <a:r>
              <a:rPr sz="2400" spc="-165" dirty="0">
                <a:latin typeface="Arial"/>
                <a:cs typeface="Arial"/>
              </a:rPr>
              <a:t>sig</a:t>
            </a:r>
            <a:r>
              <a:rPr sz="2400" spc="-215" dirty="0">
                <a:latin typeface="Arial"/>
                <a:cs typeface="Arial"/>
              </a:rPr>
              <a:t>n</a:t>
            </a:r>
            <a:r>
              <a:rPr sz="2400" spc="-145" dirty="0">
                <a:latin typeface="Arial"/>
                <a:cs typeface="Arial"/>
              </a:rPr>
              <a:t>als</a:t>
            </a:r>
            <a:r>
              <a:rPr sz="2400" spc="-70" dirty="0">
                <a:latin typeface="Arial"/>
                <a:cs typeface="Arial"/>
              </a:rPr>
              <a:t> </a:t>
            </a:r>
            <a:r>
              <a:rPr sz="2400" spc="-75" dirty="0">
                <a:latin typeface="Arial"/>
                <a:cs typeface="Arial"/>
              </a:rPr>
              <a:t>of</a:t>
            </a:r>
            <a:r>
              <a:rPr sz="2400" spc="-70" dirty="0">
                <a:latin typeface="Arial"/>
                <a:cs typeface="Arial"/>
              </a:rPr>
              <a:t> </a:t>
            </a:r>
            <a:r>
              <a:rPr sz="2400" spc="-90" dirty="0">
                <a:latin typeface="Arial"/>
                <a:cs typeface="Arial"/>
              </a:rPr>
              <a:t>high</a:t>
            </a:r>
            <a:r>
              <a:rPr sz="2400" spc="-105" dirty="0">
                <a:latin typeface="Arial"/>
                <a:cs typeface="Arial"/>
              </a:rPr>
              <a:t>e</a:t>
            </a:r>
            <a:r>
              <a:rPr sz="2400" spc="-20" dirty="0">
                <a:latin typeface="Arial"/>
                <a:cs typeface="Arial"/>
              </a:rPr>
              <a:t>r  </a:t>
            </a:r>
            <a:r>
              <a:rPr sz="2400" spc="-40" dirty="0">
                <a:latin typeface="Arial"/>
                <a:cs typeface="Arial"/>
              </a:rPr>
              <a:t>fre</a:t>
            </a:r>
            <a:r>
              <a:rPr sz="2400" spc="-50" dirty="0">
                <a:latin typeface="Arial"/>
                <a:cs typeface="Arial"/>
              </a:rPr>
              <a:t>q</a:t>
            </a:r>
            <a:r>
              <a:rPr sz="2400" spc="-70" dirty="0">
                <a:latin typeface="Arial"/>
                <a:cs typeface="Arial"/>
              </a:rPr>
              <a:t> </a:t>
            </a:r>
            <a:r>
              <a:rPr sz="2400" spc="-40" dirty="0">
                <a:latin typeface="Arial"/>
                <a:cs typeface="Arial"/>
              </a:rPr>
              <a:t>(100</a:t>
            </a:r>
            <a:r>
              <a:rPr sz="2400" spc="-70" dirty="0">
                <a:latin typeface="Arial"/>
                <a:cs typeface="Arial"/>
              </a:rPr>
              <a:t>K</a:t>
            </a:r>
            <a:r>
              <a:rPr sz="2400" spc="-20" dirty="0">
                <a:latin typeface="Arial"/>
                <a:cs typeface="Arial"/>
              </a:rPr>
              <a:t>H</a:t>
            </a:r>
            <a:r>
              <a:rPr sz="2400" spc="-5" dirty="0">
                <a:latin typeface="Arial"/>
                <a:cs typeface="Arial"/>
              </a:rPr>
              <a:t>z</a:t>
            </a:r>
            <a:r>
              <a:rPr sz="2400" spc="590" dirty="0">
                <a:latin typeface="Trebuchet MS"/>
                <a:cs typeface="Trebuchet MS"/>
              </a:rPr>
              <a:t>–</a:t>
            </a:r>
            <a:r>
              <a:rPr sz="2400" spc="30" dirty="0">
                <a:latin typeface="Arial"/>
                <a:cs typeface="Arial"/>
              </a:rPr>
              <a:t>500MH</a:t>
            </a:r>
            <a:r>
              <a:rPr sz="2400" spc="25" dirty="0">
                <a:latin typeface="Arial"/>
                <a:cs typeface="Arial"/>
              </a:rPr>
              <a:t>z</a:t>
            </a:r>
            <a:r>
              <a:rPr sz="2400" spc="155" dirty="0">
                <a:latin typeface="Arial"/>
                <a:cs typeface="Arial"/>
              </a:rPr>
              <a:t>)</a:t>
            </a:r>
            <a:r>
              <a:rPr sz="2400" spc="-75" dirty="0">
                <a:latin typeface="Arial"/>
                <a:cs typeface="Arial"/>
              </a:rPr>
              <a:t> </a:t>
            </a:r>
            <a:r>
              <a:rPr sz="2400" spc="-10" dirty="0">
                <a:latin typeface="Arial"/>
                <a:cs typeface="Arial"/>
              </a:rPr>
              <a:t>than</a:t>
            </a:r>
            <a:r>
              <a:rPr sz="2400" spc="-60" dirty="0">
                <a:latin typeface="Arial"/>
                <a:cs typeface="Arial"/>
              </a:rPr>
              <a:t> </a:t>
            </a:r>
            <a:r>
              <a:rPr sz="2400" spc="-170" dirty="0">
                <a:latin typeface="Arial"/>
                <a:cs typeface="Arial"/>
              </a:rPr>
              <a:t>U</a:t>
            </a:r>
            <a:r>
              <a:rPr sz="2400" spc="-140" dirty="0">
                <a:latin typeface="Arial"/>
                <a:cs typeface="Arial"/>
              </a:rPr>
              <a:t>T</a:t>
            </a:r>
            <a:r>
              <a:rPr sz="2400" spc="-40" dirty="0">
                <a:latin typeface="Arial"/>
                <a:cs typeface="Arial"/>
              </a:rPr>
              <a:t>P</a:t>
            </a:r>
            <a:r>
              <a:rPr sz="2400" spc="-85" dirty="0">
                <a:latin typeface="Arial"/>
                <a:cs typeface="Arial"/>
              </a:rPr>
              <a:t> </a:t>
            </a:r>
            <a:r>
              <a:rPr sz="2400" spc="-160" dirty="0">
                <a:latin typeface="Arial"/>
                <a:cs typeface="Arial"/>
              </a:rPr>
              <a:t>cables</a:t>
            </a:r>
            <a:endParaRPr sz="2400">
              <a:latin typeface="Arial"/>
              <a:cs typeface="Arial"/>
            </a:endParaRPr>
          </a:p>
          <a:p>
            <a:pPr marL="332105" marR="174625" indent="-320040">
              <a:lnSpc>
                <a:spcPct val="100000"/>
              </a:lnSpc>
              <a:spcBef>
                <a:spcPts val="700"/>
              </a:spcBef>
              <a:buClr>
                <a:srgbClr val="DA1F28"/>
              </a:buClr>
              <a:buSzPct val="60416"/>
              <a:buFont typeface="Wingdings"/>
              <a:buChar char=""/>
              <a:tabLst>
                <a:tab pos="332105" algn="l"/>
                <a:tab pos="332740" algn="l"/>
              </a:tabLst>
            </a:pPr>
            <a:r>
              <a:rPr sz="2400" spc="-35" dirty="0">
                <a:latin typeface="Arial"/>
                <a:cs typeface="Arial"/>
              </a:rPr>
              <a:t>Outer</a:t>
            </a:r>
            <a:r>
              <a:rPr sz="2400" spc="-80" dirty="0">
                <a:latin typeface="Arial"/>
                <a:cs typeface="Arial"/>
              </a:rPr>
              <a:t> </a:t>
            </a:r>
            <a:r>
              <a:rPr sz="2400" spc="-55" dirty="0">
                <a:latin typeface="Arial"/>
                <a:cs typeface="Arial"/>
              </a:rPr>
              <a:t>metallic</a:t>
            </a:r>
            <a:r>
              <a:rPr sz="2400" spc="-75" dirty="0">
                <a:latin typeface="Arial"/>
                <a:cs typeface="Arial"/>
              </a:rPr>
              <a:t> </a:t>
            </a:r>
            <a:r>
              <a:rPr sz="2400" spc="-35" dirty="0">
                <a:latin typeface="Arial"/>
                <a:cs typeface="Arial"/>
              </a:rPr>
              <a:t>wrapping</a:t>
            </a:r>
            <a:r>
              <a:rPr sz="2400" spc="-40" dirty="0">
                <a:latin typeface="Arial"/>
                <a:cs typeface="Arial"/>
              </a:rPr>
              <a:t> </a:t>
            </a:r>
            <a:r>
              <a:rPr sz="2400" spc="-220" dirty="0">
                <a:latin typeface="Arial"/>
                <a:cs typeface="Arial"/>
              </a:rPr>
              <a:t>serves</a:t>
            </a:r>
            <a:r>
              <a:rPr sz="2400" spc="-65" dirty="0">
                <a:latin typeface="Arial"/>
                <a:cs typeface="Arial"/>
              </a:rPr>
              <a:t> both</a:t>
            </a:r>
            <a:r>
              <a:rPr sz="2400" spc="-60" dirty="0">
                <a:latin typeface="Arial"/>
                <a:cs typeface="Arial"/>
              </a:rPr>
              <a:t> </a:t>
            </a:r>
            <a:r>
              <a:rPr sz="2400" spc="-204" dirty="0">
                <a:latin typeface="Arial"/>
                <a:cs typeface="Arial"/>
              </a:rPr>
              <a:t>as</a:t>
            </a:r>
            <a:r>
              <a:rPr sz="2400" spc="-75" dirty="0">
                <a:latin typeface="Arial"/>
                <a:cs typeface="Arial"/>
              </a:rPr>
              <a:t> </a:t>
            </a:r>
            <a:r>
              <a:rPr sz="2400" spc="75" dirty="0">
                <a:latin typeface="Arial"/>
                <a:cs typeface="Arial"/>
              </a:rPr>
              <a:t>a</a:t>
            </a:r>
            <a:r>
              <a:rPr sz="2400" spc="-65" dirty="0">
                <a:latin typeface="Arial"/>
                <a:cs typeface="Arial"/>
              </a:rPr>
              <a:t> </a:t>
            </a:r>
            <a:r>
              <a:rPr sz="2400" spc="-140" dirty="0">
                <a:latin typeface="Arial"/>
                <a:cs typeface="Arial"/>
              </a:rPr>
              <a:t>shield</a:t>
            </a:r>
            <a:r>
              <a:rPr sz="2400" spc="-65" dirty="0">
                <a:latin typeface="Arial"/>
                <a:cs typeface="Arial"/>
              </a:rPr>
              <a:t> against </a:t>
            </a:r>
            <a:r>
              <a:rPr sz="2400" spc="-655" dirty="0">
                <a:latin typeface="Arial"/>
                <a:cs typeface="Arial"/>
              </a:rPr>
              <a:t> </a:t>
            </a:r>
            <a:r>
              <a:rPr sz="2400" spc="-185" dirty="0">
                <a:latin typeface="Arial"/>
                <a:cs typeface="Arial"/>
              </a:rPr>
              <a:t>noise</a:t>
            </a:r>
            <a:r>
              <a:rPr sz="2400" spc="-75" dirty="0">
                <a:latin typeface="Arial"/>
                <a:cs typeface="Arial"/>
              </a:rPr>
              <a:t> </a:t>
            </a:r>
            <a:r>
              <a:rPr sz="2400" spc="-30" dirty="0">
                <a:latin typeface="Arial"/>
                <a:cs typeface="Arial"/>
              </a:rPr>
              <a:t>and</a:t>
            </a:r>
            <a:r>
              <a:rPr sz="2400" spc="-70" dirty="0">
                <a:latin typeface="Arial"/>
                <a:cs typeface="Arial"/>
              </a:rPr>
              <a:t> </a:t>
            </a:r>
            <a:r>
              <a:rPr sz="2400" spc="-204" dirty="0">
                <a:latin typeface="Arial"/>
                <a:cs typeface="Arial"/>
              </a:rPr>
              <a:t>as</a:t>
            </a:r>
            <a:r>
              <a:rPr sz="2400" spc="-80" dirty="0">
                <a:latin typeface="Arial"/>
                <a:cs typeface="Arial"/>
              </a:rPr>
              <a:t> </a:t>
            </a:r>
            <a:r>
              <a:rPr sz="2400" spc="-45" dirty="0">
                <a:latin typeface="Arial"/>
                <a:cs typeface="Arial"/>
              </a:rPr>
              <a:t>the</a:t>
            </a:r>
            <a:r>
              <a:rPr sz="2400" spc="-60" dirty="0">
                <a:latin typeface="Arial"/>
                <a:cs typeface="Arial"/>
              </a:rPr>
              <a:t> </a:t>
            </a:r>
            <a:r>
              <a:rPr sz="2400" spc="-320" dirty="0">
                <a:latin typeface="Arial"/>
                <a:cs typeface="Arial"/>
              </a:rPr>
              <a:t>se</a:t>
            </a:r>
            <a:r>
              <a:rPr sz="2400" spc="-330" dirty="0">
                <a:latin typeface="Arial"/>
                <a:cs typeface="Arial"/>
              </a:rPr>
              <a:t>c</a:t>
            </a:r>
            <a:r>
              <a:rPr sz="2400" spc="-120" dirty="0">
                <a:latin typeface="Arial"/>
                <a:cs typeface="Arial"/>
              </a:rPr>
              <a:t>ond</a:t>
            </a:r>
            <a:r>
              <a:rPr sz="2400" spc="-60" dirty="0">
                <a:latin typeface="Arial"/>
                <a:cs typeface="Arial"/>
              </a:rPr>
              <a:t> </a:t>
            </a:r>
            <a:r>
              <a:rPr sz="2400" spc="-145" dirty="0">
                <a:latin typeface="Arial"/>
                <a:cs typeface="Arial"/>
              </a:rPr>
              <a:t>conducto</a:t>
            </a:r>
            <a:r>
              <a:rPr sz="2400" spc="-100" dirty="0">
                <a:latin typeface="Arial"/>
                <a:cs typeface="Arial"/>
              </a:rPr>
              <a:t>r</a:t>
            </a:r>
            <a:r>
              <a:rPr sz="2400" spc="-55" dirty="0">
                <a:latin typeface="Arial"/>
                <a:cs typeface="Arial"/>
              </a:rPr>
              <a:t> </a:t>
            </a:r>
            <a:r>
              <a:rPr sz="2400" spc="45" dirty="0">
                <a:latin typeface="Arial"/>
                <a:cs typeface="Arial"/>
              </a:rPr>
              <a:t>that</a:t>
            </a:r>
            <a:r>
              <a:rPr sz="2400" spc="-60" dirty="0">
                <a:latin typeface="Arial"/>
                <a:cs typeface="Arial"/>
              </a:rPr>
              <a:t> </a:t>
            </a:r>
            <a:r>
              <a:rPr sz="2400" spc="-145" dirty="0">
                <a:latin typeface="Arial"/>
                <a:cs typeface="Arial"/>
              </a:rPr>
              <a:t>completes</a:t>
            </a:r>
            <a:r>
              <a:rPr sz="2400" spc="-55" dirty="0">
                <a:latin typeface="Arial"/>
                <a:cs typeface="Arial"/>
              </a:rPr>
              <a:t> </a:t>
            </a:r>
            <a:r>
              <a:rPr sz="2400" spc="-40" dirty="0">
                <a:latin typeface="Arial"/>
                <a:cs typeface="Arial"/>
              </a:rPr>
              <a:t>the  </a:t>
            </a:r>
            <a:r>
              <a:rPr sz="2400" spc="-100" dirty="0">
                <a:latin typeface="Arial"/>
                <a:cs typeface="Arial"/>
              </a:rPr>
              <a:t>circuit</a:t>
            </a:r>
            <a:endParaRPr sz="2400">
              <a:latin typeface="Arial"/>
              <a:cs typeface="Arial"/>
            </a:endParaRPr>
          </a:p>
        </p:txBody>
      </p:sp>
      <p:pic>
        <p:nvPicPr>
          <p:cNvPr id="4" name="object 4"/>
          <p:cNvPicPr/>
          <p:nvPr/>
        </p:nvPicPr>
        <p:blipFill>
          <a:blip r:embed="rId2" cstate="print"/>
          <a:stretch>
            <a:fillRect/>
          </a:stretch>
        </p:blipFill>
        <p:spPr>
          <a:xfrm>
            <a:off x="990600" y="4083874"/>
            <a:ext cx="7239000" cy="2658237"/>
          </a:xfrm>
          <a:prstGeom prst="rect">
            <a:avLst/>
          </a:prstGeom>
        </p:spPr>
      </p:pic>
      <p:pic>
        <p:nvPicPr>
          <p:cNvPr id="5" name="Picture 4" descr="COAXIAL CABLES.jpg"/>
          <p:cNvPicPr>
            <a:picLocks noChangeAspect="1"/>
          </p:cNvPicPr>
          <p:nvPr/>
        </p:nvPicPr>
        <p:blipFill>
          <a:blip r:embed="rId3"/>
          <a:stretch>
            <a:fillRect/>
          </a:stretch>
        </p:blipFill>
        <p:spPr>
          <a:xfrm>
            <a:off x="6705600" y="0"/>
            <a:ext cx="2438400" cy="1219200"/>
          </a:xfrm>
          <a:prstGeom prst="rect">
            <a:avLst/>
          </a:prstGeom>
        </p:spPr>
      </p:pic>
    </p:spTree>
  </p:cSld>
  <p:clrMapOvr>
    <a:masterClrMapping/>
  </p:clrMapOvr>
  <p:transition>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65201"/>
            <a:ext cx="7787385" cy="697230"/>
          </a:xfrm>
        </p:spPr>
        <p:txBody>
          <a:bodyPr/>
          <a:lstStyle/>
          <a:p>
            <a:r>
              <a:rPr lang="en-US" dirty="0"/>
              <a:t>HARDWARE DEVICES</a:t>
            </a:r>
          </a:p>
        </p:txBody>
      </p:sp>
      <p:pic>
        <p:nvPicPr>
          <p:cNvPr id="5" name="Picture 4" descr="AdobeStock_70523227_Preview.jpeg"/>
          <p:cNvPicPr>
            <a:picLocks noChangeAspect="1"/>
          </p:cNvPicPr>
          <p:nvPr/>
        </p:nvPicPr>
        <p:blipFill>
          <a:blip r:embed="rId2"/>
          <a:stretch>
            <a:fillRect/>
          </a:stretch>
        </p:blipFill>
        <p:spPr>
          <a:xfrm>
            <a:off x="0" y="1524000"/>
            <a:ext cx="7315200" cy="4114800"/>
          </a:xfrm>
          <a:prstGeom prst="rect">
            <a:avLst/>
          </a:prstGeom>
        </p:spPr>
      </p:pic>
      <p:sp>
        <p:nvSpPr>
          <p:cNvPr id="6" name="TextBox 5"/>
          <p:cNvSpPr txBox="1"/>
          <p:nvPr/>
        </p:nvSpPr>
        <p:spPr>
          <a:xfrm>
            <a:off x="7648515" y="3429000"/>
            <a:ext cx="1295739" cy="461665"/>
          </a:xfrm>
          <a:prstGeom prst="rect">
            <a:avLst/>
          </a:prstGeom>
          <a:noFill/>
        </p:spPr>
        <p:txBody>
          <a:bodyPr wrap="none" rtlCol="0">
            <a:spAutoFit/>
          </a:bodyPr>
          <a:lstStyle/>
          <a:p>
            <a:r>
              <a:rPr lang="en-US" sz="2400" b="1" dirty="0">
                <a:solidFill>
                  <a:srgbClr val="FF0000"/>
                </a:solidFill>
              </a:rPr>
              <a:t>BRIDGES</a:t>
            </a:r>
          </a:p>
        </p:txBody>
      </p:sp>
      <p:sp>
        <p:nvSpPr>
          <p:cNvPr id="7" name="TextBox 6"/>
          <p:cNvSpPr txBox="1"/>
          <p:nvPr/>
        </p:nvSpPr>
        <p:spPr>
          <a:xfrm>
            <a:off x="533400" y="6019800"/>
            <a:ext cx="8144537" cy="461665"/>
          </a:xfrm>
          <a:prstGeom prst="rect">
            <a:avLst/>
          </a:prstGeom>
          <a:noFill/>
        </p:spPr>
        <p:txBody>
          <a:bodyPr wrap="none" rtlCol="0">
            <a:spAutoFit/>
          </a:bodyPr>
          <a:lstStyle/>
          <a:p>
            <a:r>
              <a:rPr lang="en-US" sz="2400" dirty="0"/>
              <a:t>INTERCONNECTING TWO LAN’S WORKING ON SAME PROTOCOL</a:t>
            </a:r>
          </a:p>
        </p:txBody>
      </p:sp>
    </p:spTree>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65201"/>
            <a:ext cx="7787385" cy="697230"/>
          </a:xfrm>
        </p:spPr>
        <p:txBody>
          <a:bodyPr/>
          <a:lstStyle/>
          <a:p>
            <a:r>
              <a:rPr lang="en-US" dirty="0"/>
              <a:t>HARDWARE DEVICES</a:t>
            </a:r>
          </a:p>
        </p:txBody>
      </p:sp>
      <p:sp>
        <p:nvSpPr>
          <p:cNvPr id="6" name="TextBox 5"/>
          <p:cNvSpPr txBox="1"/>
          <p:nvPr/>
        </p:nvSpPr>
        <p:spPr>
          <a:xfrm>
            <a:off x="7315200" y="3429000"/>
            <a:ext cx="1382494" cy="461665"/>
          </a:xfrm>
          <a:prstGeom prst="rect">
            <a:avLst/>
          </a:prstGeom>
          <a:noFill/>
        </p:spPr>
        <p:txBody>
          <a:bodyPr wrap="none" rtlCol="0">
            <a:spAutoFit/>
          </a:bodyPr>
          <a:lstStyle/>
          <a:p>
            <a:r>
              <a:rPr lang="en-US" sz="2400" b="1" dirty="0">
                <a:solidFill>
                  <a:srgbClr val="FF0000"/>
                </a:solidFill>
              </a:rPr>
              <a:t>ROUTERS</a:t>
            </a:r>
          </a:p>
        </p:txBody>
      </p:sp>
      <p:sp>
        <p:nvSpPr>
          <p:cNvPr id="7" name="TextBox 6"/>
          <p:cNvSpPr txBox="1"/>
          <p:nvPr/>
        </p:nvSpPr>
        <p:spPr>
          <a:xfrm>
            <a:off x="304800" y="6019800"/>
            <a:ext cx="8593635" cy="461665"/>
          </a:xfrm>
          <a:prstGeom prst="rect">
            <a:avLst/>
          </a:prstGeom>
          <a:noFill/>
        </p:spPr>
        <p:txBody>
          <a:bodyPr wrap="none" rtlCol="0">
            <a:spAutoFit/>
          </a:bodyPr>
          <a:lstStyle/>
          <a:p>
            <a:r>
              <a:rPr lang="en-US" sz="2400" dirty="0"/>
              <a:t>PACKETS WILL BE ROUTED TO DESTINATION IN BEST ROUTING PATH</a:t>
            </a:r>
          </a:p>
        </p:txBody>
      </p:sp>
      <p:pic>
        <p:nvPicPr>
          <p:cNvPr id="8" name="Picture 7" descr="ROUTER.jpg"/>
          <p:cNvPicPr>
            <a:picLocks noChangeAspect="1"/>
          </p:cNvPicPr>
          <p:nvPr/>
        </p:nvPicPr>
        <p:blipFill>
          <a:blip r:embed="rId2"/>
          <a:stretch>
            <a:fillRect/>
          </a:stretch>
        </p:blipFill>
        <p:spPr>
          <a:xfrm>
            <a:off x="0" y="1524000"/>
            <a:ext cx="6629400" cy="4038600"/>
          </a:xfrm>
          <a:prstGeom prst="rect">
            <a:avLst/>
          </a:prstGeom>
        </p:spPr>
      </p:pic>
    </p:spTree>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65201"/>
            <a:ext cx="7787385" cy="697230"/>
          </a:xfrm>
        </p:spPr>
        <p:txBody>
          <a:bodyPr/>
          <a:lstStyle/>
          <a:p>
            <a:r>
              <a:rPr lang="en-US" dirty="0"/>
              <a:t>HARDWARE DEVICES</a:t>
            </a:r>
          </a:p>
        </p:txBody>
      </p:sp>
      <p:sp>
        <p:nvSpPr>
          <p:cNvPr id="6" name="TextBox 5"/>
          <p:cNvSpPr txBox="1"/>
          <p:nvPr/>
        </p:nvSpPr>
        <p:spPr>
          <a:xfrm>
            <a:off x="1828800" y="5177135"/>
            <a:ext cx="1430776" cy="461665"/>
          </a:xfrm>
          <a:prstGeom prst="rect">
            <a:avLst/>
          </a:prstGeom>
          <a:noFill/>
        </p:spPr>
        <p:txBody>
          <a:bodyPr wrap="none" rtlCol="0">
            <a:spAutoFit/>
          </a:bodyPr>
          <a:lstStyle/>
          <a:p>
            <a:r>
              <a:rPr lang="en-US" sz="2400" b="1" dirty="0">
                <a:solidFill>
                  <a:srgbClr val="FF0000"/>
                </a:solidFill>
              </a:rPr>
              <a:t>GATEWAY</a:t>
            </a:r>
          </a:p>
        </p:txBody>
      </p:sp>
      <p:sp>
        <p:nvSpPr>
          <p:cNvPr id="7" name="TextBox 6"/>
          <p:cNvSpPr txBox="1"/>
          <p:nvPr/>
        </p:nvSpPr>
        <p:spPr>
          <a:xfrm>
            <a:off x="16245" y="5867400"/>
            <a:ext cx="9220729" cy="461665"/>
          </a:xfrm>
          <a:prstGeom prst="rect">
            <a:avLst/>
          </a:prstGeom>
          <a:noFill/>
        </p:spPr>
        <p:txBody>
          <a:bodyPr wrap="none" rtlCol="0">
            <a:spAutoFit/>
          </a:bodyPr>
          <a:lstStyle/>
          <a:p>
            <a:r>
              <a:rPr lang="en-US" sz="2400" dirty="0"/>
              <a:t>PASSING DATA NETWORK OF DIFFERENT NETWORK MODELS(OSI/TCP-IP)</a:t>
            </a:r>
          </a:p>
        </p:txBody>
      </p:sp>
      <p:pic>
        <p:nvPicPr>
          <p:cNvPr id="9" name="Picture 8" descr="GATEWAY_ROUTER.png"/>
          <p:cNvPicPr>
            <a:picLocks noChangeAspect="1"/>
          </p:cNvPicPr>
          <p:nvPr/>
        </p:nvPicPr>
        <p:blipFill>
          <a:blip r:embed="rId2"/>
          <a:stretch>
            <a:fillRect/>
          </a:stretch>
        </p:blipFill>
        <p:spPr>
          <a:xfrm>
            <a:off x="5105400" y="1524000"/>
            <a:ext cx="3825240" cy="3581400"/>
          </a:xfrm>
          <a:prstGeom prst="rect">
            <a:avLst/>
          </a:prstGeom>
        </p:spPr>
      </p:pic>
      <p:pic>
        <p:nvPicPr>
          <p:cNvPr id="10" name="Picture 9" descr="GATEWAY.jpg"/>
          <p:cNvPicPr>
            <a:picLocks noChangeAspect="1"/>
          </p:cNvPicPr>
          <p:nvPr/>
        </p:nvPicPr>
        <p:blipFill>
          <a:blip r:embed="rId3"/>
          <a:stretch>
            <a:fillRect/>
          </a:stretch>
        </p:blipFill>
        <p:spPr>
          <a:xfrm>
            <a:off x="0" y="1524000"/>
            <a:ext cx="5059680" cy="3200400"/>
          </a:xfrm>
          <a:prstGeom prst="rect">
            <a:avLst/>
          </a:prstGeom>
        </p:spPr>
      </p:pic>
    </p:spTree>
  </p:cSld>
  <p:clrMapOvr>
    <a:masterClrMapping/>
  </p:clrMapOvr>
  <p:transition>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65201"/>
            <a:ext cx="7787385" cy="697230"/>
          </a:xfrm>
        </p:spPr>
        <p:txBody>
          <a:bodyPr/>
          <a:lstStyle/>
          <a:p>
            <a:r>
              <a:rPr lang="en-US" dirty="0"/>
              <a:t>HARDWARE DEVICES</a:t>
            </a:r>
          </a:p>
        </p:txBody>
      </p:sp>
      <p:sp>
        <p:nvSpPr>
          <p:cNvPr id="6" name="TextBox 5"/>
          <p:cNvSpPr txBox="1"/>
          <p:nvPr/>
        </p:nvSpPr>
        <p:spPr>
          <a:xfrm>
            <a:off x="6961407" y="3429000"/>
            <a:ext cx="1191993" cy="461665"/>
          </a:xfrm>
          <a:prstGeom prst="rect">
            <a:avLst/>
          </a:prstGeom>
          <a:noFill/>
        </p:spPr>
        <p:txBody>
          <a:bodyPr wrap="none" rtlCol="0">
            <a:spAutoFit/>
          </a:bodyPr>
          <a:lstStyle/>
          <a:p>
            <a:r>
              <a:rPr lang="en-US" sz="2400" b="1" dirty="0">
                <a:solidFill>
                  <a:srgbClr val="FF0000"/>
                </a:solidFill>
              </a:rPr>
              <a:t>SWITCH</a:t>
            </a:r>
          </a:p>
        </p:txBody>
      </p:sp>
      <p:sp>
        <p:nvSpPr>
          <p:cNvPr id="7" name="TextBox 6"/>
          <p:cNvSpPr txBox="1"/>
          <p:nvPr/>
        </p:nvSpPr>
        <p:spPr>
          <a:xfrm>
            <a:off x="533400" y="6019800"/>
            <a:ext cx="7010445" cy="461665"/>
          </a:xfrm>
          <a:prstGeom prst="rect">
            <a:avLst/>
          </a:prstGeom>
          <a:noFill/>
        </p:spPr>
        <p:txBody>
          <a:bodyPr wrap="none" rtlCol="0">
            <a:spAutoFit/>
          </a:bodyPr>
          <a:lstStyle/>
          <a:p>
            <a:r>
              <a:rPr lang="en-US" sz="2400" dirty="0"/>
              <a:t>GOOD DATA PACKETS WILL SEND TO CONNECTED PATH</a:t>
            </a:r>
          </a:p>
        </p:txBody>
      </p:sp>
      <p:pic>
        <p:nvPicPr>
          <p:cNvPr id="8" name="Picture 7" descr="SWITCH.jpg"/>
          <p:cNvPicPr>
            <a:picLocks noChangeAspect="1"/>
          </p:cNvPicPr>
          <p:nvPr/>
        </p:nvPicPr>
        <p:blipFill>
          <a:blip r:embed="rId2"/>
          <a:stretch>
            <a:fillRect/>
          </a:stretch>
        </p:blipFill>
        <p:spPr>
          <a:xfrm>
            <a:off x="0" y="1524000"/>
            <a:ext cx="6477000" cy="3657600"/>
          </a:xfrm>
          <a:prstGeom prst="rect">
            <a:avLst/>
          </a:prstGeom>
        </p:spPr>
      </p:pic>
    </p:spTree>
  </p:cSld>
  <p:clrMapOvr>
    <a:masterClrMapping/>
  </p:clrMapOvr>
  <p:transition>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65201"/>
            <a:ext cx="7787385" cy="697230"/>
          </a:xfrm>
        </p:spPr>
        <p:txBody>
          <a:bodyPr/>
          <a:lstStyle/>
          <a:p>
            <a:r>
              <a:rPr lang="en-US" dirty="0"/>
              <a:t>HARDWARE DEVICES</a:t>
            </a:r>
          </a:p>
        </p:txBody>
      </p:sp>
      <p:sp>
        <p:nvSpPr>
          <p:cNvPr id="7" name="TextBox 6"/>
          <p:cNvSpPr txBox="1"/>
          <p:nvPr/>
        </p:nvSpPr>
        <p:spPr>
          <a:xfrm>
            <a:off x="533400" y="6019800"/>
            <a:ext cx="8196411" cy="461665"/>
          </a:xfrm>
          <a:prstGeom prst="rect">
            <a:avLst/>
          </a:prstGeom>
          <a:noFill/>
        </p:spPr>
        <p:txBody>
          <a:bodyPr wrap="none" rtlCol="0">
            <a:spAutoFit/>
          </a:bodyPr>
          <a:lstStyle/>
          <a:p>
            <a:r>
              <a:rPr lang="en-US" sz="2400" dirty="0"/>
              <a:t>USED TO TRANSMIT DATA PACKETS TO ALL CONNECTED DEVICES</a:t>
            </a:r>
          </a:p>
        </p:txBody>
      </p:sp>
      <p:pic>
        <p:nvPicPr>
          <p:cNvPr id="16" name="WhatsApp Video 2024-08-08 at 10.56.10 PM.mp4">
            <a:hlinkClick r:id="" action="ppaction://media"/>
          </p:cNvPr>
          <p:cNvPicPr>
            <a:picLocks noRot="1" noChangeAspect="1"/>
          </p:cNvPicPr>
          <p:nvPr>
            <a:videoFile r:link="rId1"/>
          </p:nvPr>
        </p:nvPicPr>
        <p:blipFill>
          <a:blip r:embed="rId3"/>
          <a:stretch>
            <a:fillRect/>
          </a:stretch>
        </p:blipFill>
        <p:spPr>
          <a:xfrm>
            <a:off x="1600200" y="1828800"/>
            <a:ext cx="5562600" cy="3657600"/>
          </a:xfrm>
          <a:prstGeom prst="rect">
            <a:avLst/>
          </a:prstGeom>
        </p:spPr>
      </p:pic>
    </p:spTree>
  </p:cSld>
  <p:clrMapOvr>
    <a:masterClrMapping/>
  </p:clrMapOvr>
  <p:transition>
    <p:wipe dir="r"/>
  </p:transition>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16"/>
                                        </p:tgtEl>
                                      </p:cBhvr>
                                    </p:cmd>
                                  </p:childTnLst>
                                </p:cTn>
                              </p:par>
                            </p:childTnLst>
                          </p:cTn>
                        </p:par>
                      </p:childTnLst>
                    </p:cTn>
                  </p:par>
                </p:childTnLst>
              </p:cTn>
              <p:nextCondLst>
                <p:cond evt="onClick" delay="0">
                  <p:tgtEl>
                    <p:spTgt spid="16"/>
                  </p:tgtEl>
                </p:cond>
              </p:nextCondLst>
            </p:seq>
            <p:video>
              <p:cMediaNode>
                <p:cTn id="7" fill="hold" display="0">
                  <p:stCondLst>
                    <p:cond delay="indefinite"/>
                  </p:stCondLst>
                  <p:endCondLst>
                    <p:cond evt="onNext" delay="0">
                      <p:tgtEl>
                        <p:sldTgt/>
                      </p:tgtEl>
                    </p:cond>
                    <p:cond evt="onPrev" delay="0">
                      <p:tgtEl>
                        <p:sldTgt/>
                      </p:tgtEl>
                    </p:cond>
                  </p:endCondLst>
                </p:cTn>
                <p:tgtEl>
                  <p:spTgt spid="16"/>
                </p:tgtEl>
              </p:cMediaNode>
            </p:video>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REFERNCE MODELS</a:t>
            </a:r>
          </a:p>
        </p:txBody>
      </p:sp>
      <p:sp>
        <p:nvSpPr>
          <p:cNvPr id="3" name="Text Placeholder 2"/>
          <p:cNvSpPr>
            <a:spLocks noGrp="1"/>
          </p:cNvSpPr>
          <p:nvPr>
            <p:ph type="body" idx="1"/>
          </p:nvPr>
        </p:nvSpPr>
        <p:spPr>
          <a:xfrm>
            <a:off x="0" y="1524000"/>
            <a:ext cx="9144000" cy="2908489"/>
          </a:xfrm>
        </p:spPr>
        <p:txBody>
          <a:bodyPr/>
          <a:lstStyle/>
          <a:p>
            <a:endParaRPr lang="en-US" sz="2700" b="0" dirty="0"/>
          </a:p>
          <a:p>
            <a:r>
              <a:rPr lang="en-US" sz="2700" b="0" dirty="0"/>
              <a:t>Reference models such as OSI and TCP/IP play a vital role in networking by offering a </a:t>
            </a:r>
          </a:p>
          <a:p>
            <a:endParaRPr lang="en-US" sz="2700" b="0" dirty="0"/>
          </a:p>
          <a:p>
            <a:pPr>
              <a:buFont typeface="Arial" pitchFamily="34" charset="0"/>
              <a:buChar char="•"/>
            </a:pPr>
            <a:r>
              <a:rPr lang="en-US" sz="2700" b="0" dirty="0"/>
              <a:t>structured framework</a:t>
            </a:r>
          </a:p>
          <a:p>
            <a:pPr>
              <a:buFont typeface="Arial" pitchFamily="34" charset="0"/>
              <a:buChar char="•"/>
            </a:pPr>
            <a:r>
              <a:rPr lang="en-US" sz="2700" b="0" dirty="0"/>
              <a:t>communication between different systems and devices. </a:t>
            </a:r>
          </a:p>
          <a:p>
            <a:pPr>
              <a:buFont typeface="Arial" pitchFamily="34" charset="0"/>
              <a:buChar char="•"/>
            </a:pPr>
            <a:endParaRPr lang="en-US" sz="2700" b="0" dirty="0"/>
          </a:p>
        </p:txBody>
      </p:sp>
    </p:spTree>
  </p:cSld>
  <p:clrMapOvr>
    <a:masterClrMapping/>
  </p:clrMapOvr>
  <p:transition>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anchorCtr="0" compatLnSpc="1">
            <a:prstTxWarp prst="textNoShape">
              <a:avLst/>
            </a:prstTxWarp>
          </a:bodyPr>
          <a:lstStyle/>
          <a:p>
            <a:pPr eaLnBrk="1" hangingPunct="1">
              <a:defRPr/>
            </a:pPr>
            <a:r>
              <a:rPr lang="en-US" altLang="zh-TW">
                <a:effectLst>
                  <a:outerShdw blurRad="38100" dist="38100" dir="2700000" algn="tl">
                    <a:srgbClr val="C0C0C0"/>
                  </a:outerShdw>
                </a:effectLst>
              </a:rPr>
              <a:t>Out Line</a:t>
            </a:r>
            <a:endParaRPr lang="zh-TW" altLang="en-US">
              <a:effectLst>
                <a:outerShdw blurRad="38100" dist="38100" dir="2700000" algn="tl">
                  <a:srgbClr val="C0C0C0"/>
                </a:outerShdw>
              </a:effectLst>
            </a:endParaRPr>
          </a:p>
        </p:txBody>
      </p:sp>
      <p:sp>
        <p:nvSpPr>
          <p:cNvPr id="9219" name="Content Placeholder 2"/>
          <p:cNvSpPr>
            <a:spLocks noGrp="1"/>
          </p:cNvSpPr>
          <p:nvPr>
            <p:ph idx="1"/>
          </p:nvPr>
        </p:nvSpPr>
        <p:spPr>
          <a:xfrm>
            <a:off x="528981" y="1886838"/>
            <a:ext cx="4119220" cy="1770762"/>
          </a:xfrm>
        </p:spPr>
        <p:txBody>
          <a:bodyPr/>
          <a:lstStyle/>
          <a:p>
            <a:pPr eaLnBrk="1" hangingPunct="1"/>
            <a:r>
              <a:rPr lang="en-US" altLang="zh-TW" dirty="0"/>
              <a:t>Introduction OSI</a:t>
            </a:r>
          </a:p>
          <a:p>
            <a:pPr eaLnBrk="1" hangingPunct="1"/>
            <a:r>
              <a:rPr lang="en-US" altLang="zh-TW" dirty="0"/>
              <a:t>OSI Layers</a:t>
            </a:r>
          </a:p>
          <a:p>
            <a:pPr eaLnBrk="1" hangingPunct="1"/>
            <a:r>
              <a:rPr lang="en-US" altLang="zh-TW" dirty="0"/>
              <a:t>Introduction TCP/IP</a:t>
            </a:r>
          </a:p>
          <a:p>
            <a:pPr eaLnBrk="1" hangingPunct="1"/>
            <a:r>
              <a:rPr lang="en-US" altLang="zh-TW" dirty="0"/>
              <a:t>TCP/IP Layers</a:t>
            </a:r>
          </a:p>
          <a:p>
            <a:pPr eaLnBrk="1" hangingPunct="1"/>
            <a:endParaRPr lang="zh-TW" altLang="en-US" dirty="0"/>
          </a:p>
        </p:txBody>
      </p:sp>
    </p:spTree>
  </p:cSld>
  <p:clrMapOvr>
    <a:masterClrMapping/>
  </p:clrMapOvr>
  <p:transition>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anchorCtr="0" compatLnSpc="1">
            <a:prstTxWarp prst="textNoShape">
              <a:avLst/>
            </a:prstTxWarp>
            <a:normAutofit fontScale="90000"/>
          </a:bodyPr>
          <a:lstStyle/>
          <a:p>
            <a:pPr eaLnBrk="1" hangingPunct="1">
              <a:defRPr/>
            </a:pPr>
            <a:r>
              <a:rPr lang="en-US" altLang="zh-TW" sz="3900">
                <a:effectLst>
                  <a:outerShdw blurRad="38100" dist="38100" dir="2700000" algn="tl">
                    <a:srgbClr val="C0C0C0"/>
                  </a:outerShdw>
                </a:effectLst>
              </a:rPr>
              <a:t>Introduction OSI</a:t>
            </a:r>
            <a:br>
              <a:rPr lang="en-US" altLang="zh-TW" sz="3900">
                <a:effectLst>
                  <a:outerShdw blurRad="38100" dist="38100" dir="2700000" algn="tl">
                    <a:srgbClr val="C0C0C0"/>
                  </a:outerShdw>
                </a:effectLst>
              </a:rPr>
            </a:br>
            <a:endParaRPr lang="zh-TW" altLang="en-US" sz="3900">
              <a:effectLst>
                <a:outerShdw blurRad="38100" dist="38100" dir="2700000" algn="tl">
                  <a:srgbClr val="C0C0C0"/>
                </a:outerShdw>
              </a:effectLst>
            </a:endParaRPr>
          </a:p>
        </p:txBody>
      </p:sp>
      <p:sp>
        <p:nvSpPr>
          <p:cNvPr id="10243" name="Content Placeholder 2"/>
          <p:cNvSpPr>
            <a:spLocks noGrp="1"/>
          </p:cNvSpPr>
          <p:nvPr>
            <p:ph idx="1"/>
          </p:nvPr>
        </p:nvSpPr>
        <p:spPr>
          <a:xfrm>
            <a:off x="528980" y="1886838"/>
            <a:ext cx="8086039" cy="1477328"/>
          </a:xfrm>
        </p:spPr>
        <p:txBody>
          <a:bodyPr/>
          <a:lstStyle/>
          <a:p>
            <a:pPr eaLnBrk="1" hangingPunct="1"/>
            <a:r>
              <a:rPr lang="en-US" altLang="zh-TW" sz="2400" b="0" dirty="0"/>
              <a:t>The </a:t>
            </a:r>
            <a:r>
              <a:rPr lang="en-US" altLang="zh-TW" sz="2400" dirty="0"/>
              <a:t>Open System Interconnection Reference Model</a:t>
            </a:r>
            <a:r>
              <a:rPr lang="en-US" altLang="zh-TW" sz="2400" b="0" dirty="0"/>
              <a:t> (OSI Reference Model or OSI Model) is an abstract description for layered communications and computer network protocol design.</a:t>
            </a:r>
          </a:p>
        </p:txBody>
      </p:sp>
      <p:sp>
        <p:nvSpPr>
          <p:cNvPr id="10244" name="Slide Number Placeholder 3"/>
          <p:cNvSpPr>
            <a:spLocks noGrp="1"/>
          </p:cNvSpPr>
          <p:nvPr>
            <p:ph type="sldNum" sz="quarter" idx="4294967295"/>
          </p:nvPr>
        </p:nvSpPr>
        <p:spPr bwMode="auto">
          <a:xfrm>
            <a:off x="8613775" y="6305550"/>
            <a:ext cx="457200" cy="476250"/>
          </a:xfrm>
          <a:prstGeom prst="rect">
            <a:avLst/>
          </a:prstGeom>
          <a:noFill/>
          <a:ln>
            <a:miter lim="800000"/>
            <a:headEnd/>
            <a:tailEnd/>
          </a:ln>
        </p:spPr>
        <p:txBody>
          <a:bodyPr/>
          <a:lstStyle/>
          <a:p>
            <a:fld id="{6F78F4AD-EB6D-4521-88E0-06AD5F29864F}" type="slidenum">
              <a:rPr lang="zh-TW" altLang="en-US" smtClean="0"/>
              <a:pPr/>
              <a:t>59</a:t>
            </a:fld>
            <a:endParaRPr lang="zh-TW" altLang="en-US"/>
          </a:p>
        </p:txBody>
      </p:sp>
    </p:spTree>
  </p:cSld>
  <p:clrMapOvr>
    <a:masterClrMapping/>
  </p:clrMapOvr>
  <p:transition>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787385" cy="697230"/>
          </a:xfrm>
        </p:spPr>
        <p:txBody>
          <a:bodyPr vert="horz" wrap="square" lIns="91440" tIns="45720" rIns="91440" bIns="45720" numCol="1" anchorCtr="0" compatLnSpc="1">
            <a:prstTxWarp prst="textNoShape">
              <a:avLst/>
            </a:prstTxWarp>
          </a:bodyPr>
          <a:lstStyle/>
          <a:p>
            <a:pPr eaLnBrk="1" hangingPunct="1">
              <a:defRPr/>
            </a:pPr>
            <a:r>
              <a:rPr lang="en-US" altLang="zh-TW" dirty="0">
                <a:effectLst>
                  <a:outerShdw blurRad="38100" dist="38100" dir="2700000" algn="tl">
                    <a:srgbClr val="C0C0C0"/>
                  </a:outerShdw>
                </a:effectLst>
              </a:rPr>
              <a:t>OSI Layers</a:t>
            </a:r>
            <a:endParaRPr lang="zh-TW" altLang="en-US" dirty="0">
              <a:effectLst>
                <a:outerShdw blurRad="38100" dist="38100" dir="2700000" algn="tl">
                  <a:srgbClr val="C0C0C0"/>
                </a:outerShdw>
              </a:effectLst>
            </a:endParaRPr>
          </a:p>
        </p:txBody>
      </p:sp>
      <p:graphicFrame>
        <p:nvGraphicFramePr>
          <p:cNvPr id="5" name="Content Placeholder 4"/>
          <p:cNvGraphicFramePr>
            <a:graphicFrameLocks noGrp="1"/>
          </p:cNvGraphicFramePr>
          <p:nvPr>
            <p:ph idx="1"/>
          </p:nvPr>
        </p:nvGraphicFramePr>
        <p:xfrm>
          <a:off x="0" y="990599"/>
          <a:ext cx="9067799" cy="5867398"/>
        </p:xfrm>
        <a:graphic>
          <a:graphicData uri="http://schemas.openxmlformats.org/drawingml/2006/table">
            <a:tbl>
              <a:tblPr/>
              <a:tblGrid>
                <a:gridCol w="1287403">
                  <a:extLst>
                    <a:ext uri="{9D8B030D-6E8A-4147-A177-3AD203B41FA5}">
                      <a16:colId xmlns:a16="http://schemas.microsoft.com/office/drawing/2014/main" val="20000"/>
                    </a:ext>
                  </a:extLst>
                </a:gridCol>
                <a:gridCol w="1296733">
                  <a:extLst>
                    <a:ext uri="{9D8B030D-6E8A-4147-A177-3AD203B41FA5}">
                      <a16:colId xmlns:a16="http://schemas.microsoft.com/office/drawing/2014/main" val="20001"/>
                    </a:ext>
                  </a:extLst>
                </a:gridCol>
                <a:gridCol w="2591599">
                  <a:extLst>
                    <a:ext uri="{9D8B030D-6E8A-4147-A177-3AD203B41FA5}">
                      <a16:colId xmlns:a16="http://schemas.microsoft.com/office/drawing/2014/main" val="20002"/>
                    </a:ext>
                  </a:extLst>
                </a:gridCol>
                <a:gridCol w="3892064">
                  <a:extLst>
                    <a:ext uri="{9D8B030D-6E8A-4147-A177-3AD203B41FA5}">
                      <a16:colId xmlns:a16="http://schemas.microsoft.com/office/drawing/2014/main" val="20003"/>
                    </a:ext>
                  </a:extLst>
                </a:gridCol>
              </a:tblGrid>
              <a:tr h="488950">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dirty="0">
                          <a:ln>
                            <a:noFill/>
                          </a:ln>
                          <a:solidFill>
                            <a:srgbClr val="FFFFFF"/>
                          </a:solidFill>
                          <a:effectLst/>
                          <a:latin typeface="Gill Sans MT" pitchFamily="34" charset="0"/>
                          <a:ea typeface="微軟正黑體" pitchFamily="34" charset="-120"/>
                        </a:rPr>
                        <a:t>OSI Model</a:t>
                      </a:r>
                      <a:endParaRPr kumimoji="0" lang="zh-TW" altLang="en-US" sz="1800" b="1" i="0" u="none" strike="noStrike" cap="none" normalizeH="0" baseline="0" dirty="0">
                        <a:ln>
                          <a:noFill/>
                        </a:ln>
                        <a:solidFill>
                          <a:srgbClr val="FFFFFF"/>
                        </a:solidFill>
                        <a:effectLst/>
                        <a:latin typeface="Gill Sans MT" pitchFamily="34" charset="0"/>
                        <a:ea typeface="微軟正黑體" pitchFamily="34" charset="-12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8895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新細明體" charset="-120"/>
                        </a:rPr>
                        <a:t>Data unit</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新細明體" charset="-120"/>
                        </a:rPr>
                        <a:t>Layer</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新細明體" charset="-120"/>
                        </a:rPr>
                        <a:t>Function</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10001"/>
                  </a:ext>
                </a:extLst>
              </a:tr>
              <a:tr h="488950">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dirty="0">
                          <a:ln>
                            <a:noFill/>
                          </a:ln>
                          <a:solidFill>
                            <a:srgbClr val="000000"/>
                          </a:solidFill>
                          <a:effectLst/>
                          <a:latin typeface="Gill Sans MT" pitchFamily="34" charset="0"/>
                          <a:ea typeface="微軟正黑體" pitchFamily="34" charset="-120"/>
                        </a:rPr>
                        <a:t>Host</a:t>
                      </a:r>
                      <a:br>
                        <a:rPr kumimoji="0" lang="en-US" altLang="zh-TW" sz="1800" b="1" i="0" u="none" strike="noStrike" cap="none" normalizeH="0" baseline="0" dirty="0">
                          <a:ln>
                            <a:noFill/>
                          </a:ln>
                          <a:solidFill>
                            <a:srgbClr val="000000"/>
                          </a:solidFill>
                          <a:effectLst/>
                          <a:latin typeface="Gill Sans MT" pitchFamily="34" charset="0"/>
                          <a:ea typeface="微軟正黑體" pitchFamily="34" charset="-120"/>
                        </a:rPr>
                      </a:br>
                      <a:r>
                        <a:rPr kumimoji="0" lang="en-US" altLang="zh-TW" sz="1800" b="1" i="0" u="none" strike="noStrike" cap="none" normalizeH="0" baseline="0" dirty="0">
                          <a:ln>
                            <a:noFill/>
                          </a:ln>
                          <a:solidFill>
                            <a:srgbClr val="000000"/>
                          </a:solidFill>
                          <a:effectLst/>
                          <a:latin typeface="Gill Sans MT" pitchFamily="34" charset="0"/>
                          <a:ea typeface="微軟正黑體" pitchFamily="34" charset="-120"/>
                        </a:rPr>
                        <a:t>layers</a:t>
                      </a:r>
                      <a:endParaRPr kumimoji="0" lang="zh-TW" altLang="en-US" sz="1800" b="0" i="0" u="none" strike="noStrike" cap="none" normalizeH="0" baseline="0" dirty="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row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微軟正黑體" pitchFamily="34" charset="-120"/>
                        </a:rPr>
                        <a:t>Data</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微軟正黑體" pitchFamily="34" charset="-120"/>
                        </a:rPr>
                        <a:t>7. </a:t>
                      </a:r>
                      <a:r>
                        <a:rPr kumimoji="0" lang="en-US" altLang="zh-TW" sz="1800" b="0" i="0" u="none" strike="noStrike" cap="none" normalizeH="0" baseline="0">
                          <a:ln>
                            <a:noFill/>
                          </a:ln>
                          <a:solidFill>
                            <a:srgbClr val="000000"/>
                          </a:solidFill>
                          <a:effectLst/>
                          <a:latin typeface="Gill Sans MT" pitchFamily="34" charset="0"/>
                          <a:ea typeface="微軟正黑體" pitchFamily="34" charset="-120"/>
                          <a:hlinkClick r:id="" action="ppaction://hlinkfile"/>
                        </a:rPr>
                        <a:t>Application</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微軟正黑體" pitchFamily="34" charset="-120"/>
                        </a:rPr>
                        <a:t>Network process to application</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10002"/>
                  </a:ext>
                </a:extLst>
              </a:tr>
              <a:tr h="855662">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Gill Sans MT" pitchFamily="34" charset="0"/>
                          <a:ea typeface="微軟正黑體" pitchFamily="34" charset="-120"/>
                        </a:rPr>
                        <a:t>6. </a:t>
                      </a:r>
                      <a:r>
                        <a:rPr kumimoji="0" lang="en-US" altLang="zh-TW" sz="1800" b="0" i="0" u="none" strike="noStrike" cap="none" normalizeH="0" baseline="0" dirty="0">
                          <a:ln>
                            <a:noFill/>
                          </a:ln>
                          <a:solidFill>
                            <a:srgbClr val="000000"/>
                          </a:solidFill>
                          <a:effectLst/>
                          <a:latin typeface="Gill Sans MT" pitchFamily="34" charset="0"/>
                          <a:ea typeface="微軟正黑體" pitchFamily="34" charset="-120"/>
                          <a:hlinkClick r:id="" action="ppaction://hlinkfile"/>
                        </a:rPr>
                        <a:t>Presentation</a:t>
                      </a:r>
                      <a:endParaRPr kumimoji="0" lang="zh-TW" altLang="en-US" sz="1800" b="0" i="0" u="none" strike="noStrike" cap="none" normalizeH="0" baseline="0" dirty="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微軟正黑體" pitchFamily="34" charset="-120"/>
                        </a:rPr>
                        <a:t>Data representation, encryption and decryption</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10003"/>
                  </a:ext>
                </a:extLst>
              </a:tr>
              <a:tr h="488950">
                <a:tc vMerge="1">
                  <a:txBody>
                    <a:bodyPr/>
                    <a:lstStyle/>
                    <a:p>
                      <a:endParaRPr lang="en-US"/>
                    </a:p>
                  </a:txBody>
                  <a:tcPr/>
                </a:tc>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微軟正黑體" pitchFamily="34" charset="-120"/>
                        </a:rPr>
                        <a:t>5. </a:t>
                      </a:r>
                      <a:r>
                        <a:rPr kumimoji="0" lang="en-US" altLang="zh-TW" sz="1800" b="0" i="0" u="none" strike="noStrike" cap="none" normalizeH="0" baseline="0">
                          <a:ln>
                            <a:noFill/>
                          </a:ln>
                          <a:solidFill>
                            <a:srgbClr val="000000"/>
                          </a:solidFill>
                          <a:effectLst/>
                          <a:latin typeface="Gill Sans MT" pitchFamily="34" charset="0"/>
                          <a:ea typeface="微軟正黑體" pitchFamily="34" charset="-120"/>
                          <a:hlinkClick r:id="" action="ppaction://hlinkfile"/>
                        </a:rPr>
                        <a:t>Session</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微軟正黑體" pitchFamily="34" charset="-120"/>
                        </a:rPr>
                        <a:t>Interhost communication</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10004"/>
                  </a:ext>
                </a:extLst>
              </a:tr>
              <a:tr h="855662">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Gill Sans MT" pitchFamily="34" charset="0"/>
                          <a:ea typeface="微軟正黑體" pitchFamily="34" charset="-120"/>
                        </a:rPr>
                        <a:t>Segments</a:t>
                      </a:r>
                      <a:endParaRPr kumimoji="0" lang="zh-TW" altLang="en-US" sz="1800" b="0" i="0" u="none" strike="noStrike" cap="none" normalizeH="0" baseline="0" dirty="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微軟正黑體" pitchFamily="34" charset="-120"/>
                        </a:rPr>
                        <a:t>4. </a:t>
                      </a:r>
                      <a:r>
                        <a:rPr kumimoji="0" lang="en-US" altLang="zh-TW" sz="1800" b="0" i="0" u="none" strike="noStrike" cap="none" normalizeH="0" baseline="0">
                          <a:ln>
                            <a:noFill/>
                          </a:ln>
                          <a:solidFill>
                            <a:srgbClr val="000000"/>
                          </a:solidFill>
                          <a:effectLst/>
                          <a:latin typeface="Gill Sans MT" pitchFamily="34" charset="0"/>
                          <a:ea typeface="微軟正黑體" pitchFamily="34" charset="-120"/>
                          <a:hlinkClick r:id="" action="ppaction://hlinkfile"/>
                        </a:rPr>
                        <a:t>Transport</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微軟正黑體" pitchFamily="34" charset="-120"/>
                        </a:rPr>
                        <a:t>End-to-end connections and reliability, Flow control</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10005"/>
                  </a:ext>
                </a:extLst>
              </a:tr>
              <a:tr h="855662">
                <a:tc row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000000"/>
                          </a:solidFill>
                          <a:effectLst/>
                          <a:latin typeface="Gill Sans MT" pitchFamily="34" charset="0"/>
                          <a:ea typeface="微軟正黑體" pitchFamily="34" charset="-120"/>
                        </a:rPr>
                        <a:t>Media</a:t>
                      </a:r>
                      <a:br>
                        <a:rPr kumimoji="0" lang="en-US" altLang="zh-TW" sz="1800" b="1" i="0" u="none" strike="noStrike" cap="none" normalizeH="0" baseline="0">
                          <a:ln>
                            <a:noFill/>
                          </a:ln>
                          <a:solidFill>
                            <a:srgbClr val="000000"/>
                          </a:solidFill>
                          <a:effectLst/>
                          <a:latin typeface="Gill Sans MT" pitchFamily="34" charset="0"/>
                          <a:ea typeface="微軟正黑體" pitchFamily="34" charset="-120"/>
                        </a:rPr>
                      </a:br>
                      <a:r>
                        <a:rPr kumimoji="0" lang="en-US" altLang="zh-TW" sz="1800" b="1" i="0" u="none" strike="noStrike" cap="none" normalizeH="0" baseline="0">
                          <a:ln>
                            <a:noFill/>
                          </a:ln>
                          <a:solidFill>
                            <a:srgbClr val="000000"/>
                          </a:solidFill>
                          <a:effectLst/>
                          <a:latin typeface="Gill Sans MT" pitchFamily="34" charset="0"/>
                          <a:ea typeface="微軟正黑體" pitchFamily="34" charset="-120"/>
                        </a:rPr>
                        <a:t>layers</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微軟正黑體" pitchFamily="34" charset="-120"/>
                        </a:rPr>
                        <a:t>Packet</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Gill Sans MT" pitchFamily="34" charset="0"/>
                          <a:ea typeface="微軟正黑體" pitchFamily="34" charset="-120"/>
                        </a:rPr>
                        <a:t>3. </a:t>
                      </a:r>
                      <a:r>
                        <a:rPr kumimoji="0" lang="en-US" altLang="zh-TW" sz="1800" b="0" i="0" u="none" strike="noStrike" cap="none" normalizeH="0" baseline="0" dirty="0">
                          <a:ln>
                            <a:noFill/>
                          </a:ln>
                          <a:solidFill>
                            <a:srgbClr val="000000"/>
                          </a:solidFill>
                          <a:effectLst/>
                          <a:latin typeface="Gill Sans MT" pitchFamily="34" charset="0"/>
                          <a:ea typeface="微軟正黑體" pitchFamily="34" charset="-120"/>
                          <a:hlinkClick r:id="" action="ppaction://hlinkfile"/>
                        </a:rPr>
                        <a:t>Network</a:t>
                      </a:r>
                      <a:endParaRPr kumimoji="0" lang="zh-TW" altLang="en-US" sz="1800" b="0" i="0" u="none" strike="noStrike" cap="none" normalizeH="0" baseline="0" dirty="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微軟正黑體" pitchFamily="34" charset="-120"/>
                        </a:rPr>
                        <a:t>Path determination and </a:t>
                      </a:r>
                      <a:r>
                        <a:rPr kumimoji="0" lang="en-US" altLang="zh-TW" sz="1800" b="0" i="0" u="none" strike="noStrike" cap="none" normalizeH="0" baseline="0">
                          <a:ln>
                            <a:noFill/>
                          </a:ln>
                          <a:solidFill>
                            <a:srgbClr val="000000"/>
                          </a:solidFill>
                          <a:effectLst/>
                          <a:latin typeface="Gill Sans MT" pitchFamily="34" charset="0"/>
                          <a:ea typeface="微軟正黑體" pitchFamily="34" charset="-120"/>
                          <a:hlinkClick r:id="" action="ppaction://hlinkfile"/>
                        </a:rPr>
                        <a:t>logical addressing</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10006"/>
                  </a:ext>
                </a:extLst>
              </a:tr>
              <a:tr h="488950">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微軟正黑體" pitchFamily="34" charset="-120"/>
                        </a:rPr>
                        <a:t>Frame</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微軟正黑體" pitchFamily="34" charset="-120"/>
                        </a:rPr>
                        <a:t>2. </a:t>
                      </a:r>
                      <a:r>
                        <a:rPr kumimoji="0" lang="en-US" altLang="zh-TW" sz="1800" b="0" i="0" u="none" strike="noStrike" cap="none" normalizeH="0" baseline="0">
                          <a:ln>
                            <a:noFill/>
                          </a:ln>
                          <a:solidFill>
                            <a:srgbClr val="000000"/>
                          </a:solidFill>
                          <a:effectLst/>
                          <a:latin typeface="Gill Sans MT" pitchFamily="34" charset="0"/>
                          <a:ea typeface="微軟正黑體" pitchFamily="34" charset="-120"/>
                          <a:hlinkClick r:id="" action="ppaction://hlinkfile"/>
                        </a:rPr>
                        <a:t>Data Link</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微軟正黑體" pitchFamily="34" charset="-120"/>
                        </a:rPr>
                        <a:t>Physical addressing</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10007"/>
                  </a:ext>
                </a:extLst>
              </a:tr>
              <a:tr h="855662">
                <a:tc v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微軟正黑體" pitchFamily="34" charset="-120"/>
                        </a:rPr>
                        <a:t>Bit</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微軟正黑體" pitchFamily="34" charset="-120"/>
                        </a:rPr>
                        <a:t>1. </a:t>
                      </a:r>
                      <a:r>
                        <a:rPr kumimoji="0" lang="en-US" altLang="zh-TW" sz="1800" b="0" i="0" u="none" strike="noStrike" cap="none" normalizeH="0" baseline="0">
                          <a:ln>
                            <a:noFill/>
                          </a:ln>
                          <a:solidFill>
                            <a:srgbClr val="000000"/>
                          </a:solidFill>
                          <a:effectLst/>
                          <a:latin typeface="Gill Sans MT" pitchFamily="34" charset="0"/>
                          <a:ea typeface="微軟正黑體" pitchFamily="34" charset="-120"/>
                          <a:hlinkClick r:id="" action="ppaction://hlinkfile"/>
                        </a:rPr>
                        <a:t>Physical</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Gill Sans MT" pitchFamily="34" charset="0"/>
                          <a:ea typeface="微軟正黑體" pitchFamily="34" charset="-120"/>
                        </a:rPr>
                        <a:t>Media, signal and binary transmission</a:t>
                      </a:r>
                      <a:endParaRPr kumimoji="0" lang="zh-TW" altLang="en-US" sz="1800" b="0" i="0" u="none" strike="noStrike" cap="none" normalizeH="0" baseline="0" dirty="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10008"/>
                  </a:ext>
                </a:extLst>
              </a:tr>
            </a:tbl>
          </a:graphicData>
        </a:graphic>
      </p:graphicFrame>
    </p:spTree>
  </p:cSld>
  <p:clrMapOvr>
    <a:masterClrMapping/>
  </p:clrMapOvr>
  <p:transition>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OSI Model"/>
          <p:cNvPicPr/>
          <p:nvPr/>
        </p:nvPicPr>
        <p:blipFill>
          <a:blip r:embed="rId2"/>
          <a:srcRect/>
          <a:stretch>
            <a:fillRect/>
          </a:stretch>
        </p:blipFill>
        <p:spPr bwMode="auto">
          <a:xfrm>
            <a:off x="152400" y="1524000"/>
            <a:ext cx="8686800" cy="5181599"/>
          </a:xfrm>
          <a:prstGeom prst="rect">
            <a:avLst/>
          </a:prstGeom>
          <a:noFill/>
          <a:ln w="9525">
            <a:noFill/>
            <a:miter lim="800000"/>
            <a:headEnd/>
            <a:tailEnd/>
          </a:ln>
        </p:spPr>
      </p:pic>
    </p:spTree>
  </p:cSld>
  <p:clrMapOvr>
    <a:masterClrMapping/>
  </p:clrMapOvr>
  <p:transition>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anchorCtr="0" compatLnSpc="1">
            <a:prstTxWarp prst="textNoShape">
              <a:avLst/>
            </a:prstTxWarp>
          </a:bodyPr>
          <a:lstStyle/>
          <a:p>
            <a:pPr eaLnBrk="1" hangingPunct="1">
              <a:defRPr/>
            </a:pPr>
            <a:r>
              <a:rPr lang="en-US" altLang="zh-TW">
                <a:effectLst>
                  <a:outerShdw blurRad="38100" dist="38100" dir="2700000" algn="tl">
                    <a:srgbClr val="C0C0C0"/>
                  </a:outerShdw>
                </a:effectLst>
              </a:rPr>
              <a:t>Layer1: Physical Layer</a:t>
            </a:r>
            <a:endParaRPr lang="zh-TW" altLang="en-US">
              <a:effectLst>
                <a:outerShdw blurRad="38100" dist="38100" dir="2700000" algn="tl">
                  <a:srgbClr val="C0C0C0"/>
                </a:outerShdw>
              </a:effectLst>
            </a:endParaRPr>
          </a:p>
        </p:txBody>
      </p:sp>
      <p:sp>
        <p:nvSpPr>
          <p:cNvPr id="13315" name="Content Placeholder 2"/>
          <p:cNvSpPr>
            <a:spLocks noGrp="1"/>
          </p:cNvSpPr>
          <p:nvPr>
            <p:ph idx="1"/>
          </p:nvPr>
        </p:nvSpPr>
        <p:spPr>
          <a:xfrm>
            <a:off x="0" y="1524001"/>
            <a:ext cx="9144000" cy="689420"/>
          </a:xfrm>
        </p:spPr>
        <p:txBody>
          <a:bodyPr/>
          <a:lstStyle/>
          <a:p>
            <a:pPr eaLnBrk="1" hangingPunct="1">
              <a:lnSpc>
                <a:spcPct val="80000"/>
              </a:lnSpc>
            </a:pPr>
            <a:r>
              <a:rPr lang="en-US" altLang="zh-TW" sz="2600" dirty="0"/>
              <a:t> </a:t>
            </a:r>
          </a:p>
          <a:p>
            <a:pPr eaLnBrk="1" hangingPunct="1">
              <a:lnSpc>
                <a:spcPct val="80000"/>
              </a:lnSpc>
              <a:buFont typeface="Wingdings 2" pitchFamily="18" charset="2"/>
              <a:buNone/>
            </a:pPr>
            <a:endParaRPr lang="zh-TW" altLang="en-US" sz="3000" dirty="0"/>
          </a:p>
        </p:txBody>
      </p:sp>
      <p:sp>
        <p:nvSpPr>
          <p:cNvPr id="13316" name="Slide Number Placeholder 3"/>
          <p:cNvSpPr>
            <a:spLocks noGrp="1"/>
          </p:cNvSpPr>
          <p:nvPr>
            <p:ph type="sldNum" sz="quarter" idx="4294967295"/>
          </p:nvPr>
        </p:nvSpPr>
        <p:spPr bwMode="auto">
          <a:xfrm>
            <a:off x="8613775" y="6305550"/>
            <a:ext cx="457200" cy="476250"/>
          </a:xfrm>
          <a:prstGeom prst="rect">
            <a:avLst/>
          </a:prstGeom>
          <a:noFill/>
          <a:ln>
            <a:miter lim="800000"/>
            <a:headEnd/>
            <a:tailEnd/>
          </a:ln>
        </p:spPr>
        <p:txBody>
          <a:bodyPr/>
          <a:lstStyle/>
          <a:p>
            <a:fld id="{801D8665-A825-4507-8626-FCC8B3DCAAE4}" type="slidenum">
              <a:rPr lang="zh-TW" altLang="en-US" smtClean="0"/>
              <a:pPr/>
              <a:t>62</a:t>
            </a:fld>
            <a:endParaRPr lang="zh-TW" altLang="en-US"/>
          </a:p>
        </p:txBody>
      </p:sp>
      <p:pic>
        <p:nvPicPr>
          <p:cNvPr id="5" name="Picture 4" descr="OSI Model"/>
          <p:cNvPicPr/>
          <p:nvPr/>
        </p:nvPicPr>
        <p:blipFill>
          <a:blip r:embed="rId3"/>
          <a:srcRect/>
          <a:stretch>
            <a:fillRect/>
          </a:stretch>
        </p:blipFill>
        <p:spPr bwMode="auto">
          <a:xfrm>
            <a:off x="990600" y="1524000"/>
            <a:ext cx="5943600" cy="3048000"/>
          </a:xfrm>
          <a:prstGeom prst="rect">
            <a:avLst/>
          </a:prstGeom>
          <a:noFill/>
          <a:ln w="9525">
            <a:noFill/>
            <a:miter lim="800000"/>
            <a:headEnd/>
            <a:tailEnd/>
          </a:ln>
        </p:spPr>
      </p:pic>
      <p:sp>
        <p:nvSpPr>
          <p:cNvPr id="26626" name="Rectangle 2"/>
          <p:cNvSpPr>
            <a:spLocks noChangeArrowheads="1"/>
          </p:cNvSpPr>
          <p:nvPr/>
        </p:nvSpPr>
        <p:spPr bwMode="auto">
          <a:xfrm>
            <a:off x="0" y="0"/>
            <a:ext cx="184731" cy="553998"/>
          </a:xfrm>
          <a:prstGeom prst="rect">
            <a:avLst/>
          </a:prstGeom>
          <a:noFill/>
          <a:ln w="9525">
            <a:noFill/>
            <a:miter lim="800000"/>
            <a:headEnd/>
            <a:tailEnd/>
          </a:ln>
          <a:effectLst/>
        </p:spPr>
        <p:txBody>
          <a:bodyPr vert="horz" wrap="none" lIns="91440" tIns="0" rIns="9144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8" name="TextBox 7"/>
          <p:cNvSpPr txBox="1"/>
          <p:nvPr/>
        </p:nvSpPr>
        <p:spPr>
          <a:xfrm>
            <a:off x="0" y="4648200"/>
            <a:ext cx="9144000" cy="1754326"/>
          </a:xfrm>
          <a:prstGeom prst="rect">
            <a:avLst/>
          </a:prstGeom>
          <a:noFill/>
        </p:spPr>
        <p:txBody>
          <a:bodyPr wrap="square" rtlCol="0">
            <a:spAutoFit/>
          </a:bodyPr>
          <a:lstStyle/>
          <a:p>
            <a:pPr lvl="0" eaLnBrk="0" fontAlgn="base" hangingPunct="0">
              <a:spcBef>
                <a:spcPct val="0"/>
              </a:spcBef>
              <a:spcAft>
                <a:spcPct val="0"/>
              </a:spcAft>
            </a:pPr>
            <a:r>
              <a:rPr lang="en-US" b="1" dirty="0">
                <a:solidFill>
                  <a:srgbClr val="000000"/>
                </a:solidFill>
                <a:latin typeface="Segoe UI" pitchFamily="34" charset="0"/>
                <a:ea typeface="Times New Roman" pitchFamily="18" charset="0"/>
                <a:cs typeface="Segoe UI" pitchFamily="34" charset="0"/>
              </a:rPr>
              <a:t>FUNCTIONALITIES</a:t>
            </a:r>
          </a:p>
          <a:p>
            <a:pPr lvl="0" eaLnBrk="0" fontAlgn="base" hangingPunct="0">
              <a:spcBef>
                <a:spcPct val="0"/>
              </a:spcBef>
              <a:spcAft>
                <a:spcPct val="0"/>
              </a:spcAft>
              <a:buFontTx/>
              <a:buChar char="•"/>
            </a:pPr>
            <a:r>
              <a:rPr lang="en-US" dirty="0">
                <a:solidFill>
                  <a:srgbClr val="000000"/>
                </a:solidFill>
                <a:latin typeface="Segoe UI" pitchFamily="34" charset="0"/>
                <a:ea typeface="Times New Roman" pitchFamily="18" charset="0"/>
                <a:cs typeface="Segoe UI" pitchFamily="34" charset="0"/>
              </a:rPr>
              <a:t>the physical layer is to transmit the individual bits from one node to another node.</a:t>
            </a:r>
            <a:endParaRPr lang="en-US" sz="3200" dirty="0">
              <a:solidFill>
                <a:srgbClr val="000000"/>
              </a:solidFill>
              <a:latin typeface="Arial" pitchFamily="34" charset="0"/>
              <a:ea typeface="Trebuchet MS" pitchFamily="34" charset="0"/>
              <a:cs typeface="Trebuchet MS" pitchFamily="34" charset="0"/>
            </a:endParaRPr>
          </a:p>
          <a:p>
            <a:pPr lvl="0" eaLnBrk="0" fontAlgn="base" hangingPunct="0">
              <a:spcBef>
                <a:spcPct val="0"/>
              </a:spcBef>
              <a:spcAft>
                <a:spcPct val="0"/>
              </a:spcAft>
              <a:buFontTx/>
              <a:buChar char="•"/>
            </a:pPr>
            <a:r>
              <a:rPr lang="en-US" dirty="0">
                <a:solidFill>
                  <a:srgbClr val="000000"/>
                </a:solidFill>
                <a:latin typeface="Segoe UI" pitchFamily="34" charset="0"/>
                <a:ea typeface="Times New Roman" pitchFamily="18" charset="0"/>
                <a:cs typeface="Segoe UI" pitchFamily="34" charset="0"/>
              </a:rPr>
              <a:t>It is the lowest layer of the OSI model.</a:t>
            </a:r>
            <a:endParaRPr lang="en-US" sz="3200" dirty="0">
              <a:solidFill>
                <a:srgbClr val="000000"/>
              </a:solidFill>
              <a:latin typeface="Arial" pitchFamily="34" charset="0"/>
              <a:ea typeface="Trebuchet MS" pitchFamily="34" charset="0"/>
              <a:cs typeface="Trebuchet MS" pitchFamily="34" charset="0"/>
            </a:endParaRPr>
          </a:p>
          <a:p>
            <a:pPr lvl="0" eaLnBrk="0" fontAlgn="base" hangingPunct="0">
              <a:spcBef>
                <a:spcPct val="0"/>
              </a:spcBef>
              <a:spcAft>
                <a:spcPct val="0"/>
              </a:spcAft>
              <a:buFontTx/>
              <a:buChar char="•"/>
            </a:pPr>
            <a:r>
              <a:rPr lang="en-US" dirty="0">
                <a:solidFill>
                  <a:srgbClr val="000000"/>
                </a:solidFill>
                <a:latin typeface="Segoe UI" pitchFamily="34" charset="0"/>
                <a:ea typeface="Times New Roman" pitchFamily="18" charset="0"/>
                <a:cs typeface="Segoe UI" pitchFamily="34" charset="0"/>
              </a:rPr>
              <a:t>It establishes, maintains and deactivates the physical connection.</a:t>
            </a:r>
            <a:endParaRPr lang="en-US" sz="3200" dirty="0">
              <a:solidFill>
                <a:srgbClr val="000000"/>
              </a:solidFill>
              <a:latin typeface="Arial" pitchFamily="34" charset="0"/>
              <a:ea typeface="Trebuchet MS" pitchFamily="34" charset="0"/>
              <a:cs typeface="Trebuchet MS" pitchFamily="34" charset="0"/>
            </a:endParaRPr>
          </a:p>
          <a:p>
            <a:pPr lvl="0" eaLnBrk="0" fontAlgn="base" hangingPunct="0">
              <a:spcBef>
                <a:spcPct val="0"/>
              </a:spcBef>
              <a:spcAft>
                <a:spcPct val="0"/>
              </a:spcAft>
              <a:buFontTx/>
              <a:buChar char="•"/>
            </a:pPr>
            <a:r>
              <a:rPr lang="en-US" dirty="0">
                <a:solidFill>
                  <a:srgbClr val="000000"/>
                </a:solidFill>
                <a:latin typeface="Segoe UI" pitchFamily="34" charset="0"/>
                <a:ea typeface="Times New Roman" pitchFamily="18" charset="0"/>
                <a:cs typeface="Segoe UI" pitchFamily="34" charset="0"/>
              </a:rPr>
              <a:t>It specifies the mechanical, electrical and procedural network interface specifications.</a:t>
            </a:r>
            <a:endParaRPr lang="en-US" sz="800" dirty="0">
              <a:latin typeface="Arial" pitchFamily="34" charset="0"/>
              <a:cs typeface="Arial" pitchFamily="34" charset="0"/>
            </a:endParaRPr>
          </a:p>
          <a:p>
            <a:endParaRPr lang="en-US" dirty="0"/>
          </a:p>
        </p:txBody>
      </p:sp>
    </p:spTree>
  </p:cSld>
  <p:clrMapOvr>
    <a:masterClrMapping/>
  </p:clrMapOvr>
  <p:transition>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1231106"/>
          </a:xfrm>
        </p:spPr>
        <p:txBody>
          <a:bodyPr/>
          <a:lstStyle/>
          <a:p>
            <a:r>
              <a:rPr lang="en-US" sz="3600" dirty="0"/>
              <a:t>Real-World Example for Physical Layer </a:t>
            </a:r>
            <a:br>
              <a:rPr lang="en-US" dirty="0"/>
            </a:br>
            <a:endParaRPr lang="en-US" dirty="0"/>
          </a:p>
        </p:txBody>
      </p:sp>
      <p:sp>
        <p:nvSpPr>
          <p:cNvPr id="3" name="Text Placeholder 2"/>
          <p:cNvSpPr>
            <a:spLocks noGrp="1"/>
          </p:cNvSpPr>
          <p:nvPr>
            <p:ph type="body" idx="1"/>
          </p:nvPr>
        </p:nvSpPr>
        <p:spPr>
          <a:xfrm>
            <a:off x="0" y="1524000"/>
            <a:ext cx="9144000" cy="5232202"/>
          </a:xfrm>
        </p:spPr>
        <p:txBody>
          <a:bodyPr/>
          <a:lstStyle/>
          <a:p>
            <a:r>
              <a:rPr lang="en-US" sz="2400" dirty="0">
                <a:latin typeface="Times New Roman" pitchFamily="18" charset="0"/>
                <a:cs typeface="Times New Roman" pitchFamily="18" charset="0"/>
              </a:rPr>
              <a:t>Ex: </a:t>
            </a:r>
            <a:r>
              <a:rPr lang="en-US" sz="2400" b="0" dirty="0">
                <a:latin typeface="Times New Roman" pitchFamily="18" charset="0"/>
                <a:cs typeface="Times New Roman" pitchFamily="18" charset="0"/>
              </a:rPr>
              <a:t>A video call using a fiber-optic internet connection.</a:t>
            </a:r>
          </a:p>
          <a:p>
            <a:endParaRPr lang="en-US" sz="2400" b="0" dirty="0">
              <a:latin typeface="Times New Roman" pitchFamily="18" charset="0"/>
              <a:cs typeface="Times New Roman" pitchFamily="18" charset="0"/>
            </a:endParaRPr>
          </a:p>
          <a:p>
            <a:r>
              <a:rPr lang="en-US" sz="2400" dirty="0">
                <a:latin typeface="Times New Roman" pitchFamily="18" charset="0"/>
                <a:cs typeface="Times New Roman" pitchFamily="18" charset="0"/>
              </a:rPr>
              <a:t>Explanation:</a:t>
            </a:r>
          </a:p>
          <a:p>
            <a:pPr>
              <a:buFont typeface="Wingdings" pitchFamily="2" charset="2"/>
              <a:buChar char="Ø"/>
            </a:pPr>
            <a:r>
              <a:rPr lang="en-US" sz="2400" b="0" dirty="0">
                <a:latin typeface="Times New Roman" pitchFamily="18" charset="0"/>
                <a:cs typeface="Times New Roman" pitchFamily="18" charset="0"/>
              </a:rPr>
              <a:t>When you're on a video call (e.g., using Zoom or Google Meet), your voice and video are converted into digital signals. </a:t>
            </a:r>
          </a:p>
          <a:p>
            <a:pPr>
              <a:buFont typeface="Wingdings" pitchFamily="2" charset="2"/>
              <a:buChar char="Ø"/>
            </a:pPr>
            <a:r>
              <a:rPr lang="en-US" sz="2400" b="0" dirty="0">
                <a:latin typeface="Times New Roman" pitchFamily="18" charset="0"/>
                <a:cs typeface="Times New Roman" pitchFamily="18" charset="0"/>
              </a:rPr>
              <a:t>These signals are transmitted as light pulses through fiber-optic cables.</a:t>
            </a:r>
          </a:p>
          <a:p>
            <a:endParaRPr lang="en-US" sz="2400" b="0" dirty="0">
              <a:latin typeface="Times New Roman" pitchFamily="18" charset="0"/>
              <a:cs typeface="Times New Roman" pitchFamily="18" charset="0"/>
            </a:endParaRPr>
          </a:p>
          <a:p>
            <a:r>
              <a:rPr lang="en-US" sz="2400" b="0" dirty="0">
                <a:latin typeface="Times New Roman" pitchFamily="18" charset="0"/>
                <a:cs typeface="Times New Roman" pitchFamily="18" charset="0"/>
              </a:rPr>
              <a:t>Physical layer is </a:t>
            </a:r>
            <a:r>
              <a:rPr lang="en-US" sz="2400" dirty="0">
                <a:latin typeface="Times New Roman" pitchFamily="18" charset="0"/>
                <a:cs typeface="Times New Roman" pitchFamily="18" charset="0"/>
              </a:rPr>
              <a:t>responsible</a:t>
            </a:r>
            <a:r>
              <a:rPr lang="en-US" sz="2400" b="0" dirty="0">
                <a:latin typeface="Times New Roman" pitchFamily="18" charset="0"/>
                <a:cs typeface="Times New Roman" pitchFamily="18" charset="0"/>
              </a:rPr>
              <a:t> for:</a:t>
            </a:r>
          </a:p>
          <a:p>
            <a:pPr>
              <a:buFont typeface="Arial" pitchFamily="34" charset="0"/>
              <a:buChar char="•"/>
            </a:pPr>
            <a:r>
              <a:rPr lang="en-US" sz="2400" b="0" dirty="0">
                <a:latin typeface="Times New Roman" pitchFamily="18" charset="0"/>
                <a:cs typeface="Times New Roman" pitchFamily="18" charset="0"/>
              </a:rPr>
              <a:t> Transmitting raw bits (0s and 1s) over the medium.</a:t>
            </a:r>
          </a:p>
          <a:p>
            <a:pPr>
              <a:buFont typeface="Arial" pitchFamily="34" charset="0"/>
              <a:buChar char="•"/>
            </a:pPr>
            <a:r>
              <a:rPr lang="en-US" sz="2400" b="0" dirty="0">
                <a:latin typeface="Times New Roman" pitchFamily="18" charset="0"/>
                <a:cs typeface="Times New Roman" pitchFamily="18" charset="0"/>
              </a:rPr>
              <a:t> Defining the physical characteristics of the connection (e.g., voltage levels, timing, connectors, cable types).</a:t>
            </a:r>
          </a:p>
          <a:p>
            <a:pPr>
              <a:buFont typeface="Arial" pitchFamily="34" charset="0"/>
              <a:buChar char="•"/>
            </a:pPr>
            <a:r>
              <a:rPr lang="en-US" sz="2400" b="0" dirty="0">
                <a:latin typeface="Times New Roman" pitchFamily="18" charset="0"/>
                <a:cs typeface="Times New Roman" pitchFamily="18" charset="0"/>
              </a:rPr>
              <a:t>Ensuring the signal integrity during transmission from your device to the network infrastructure and ultimately to the recipient's device.</a:t>
            </a:r>
          </a:p>
          <a:p>
            <a:endParaRPr lang="en-US" dirty="0"/>
          </a:p>
        </p:txBody>
      </p:sp>
    </p:spTree>
  </p:cSld>
  <p:clrMapOvr>
    <a:masterClrMapping/>
  </p:clrMapOvr>
  <p:transition>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anchorCtr="0" compatLnSpc="1">
            <a:prstTxWarp prst="textNoShape">
              <a:avLst/>
            </a:prstTxWarp>
          </a:bodyPr>
          <a:lstStyle/>
          <a:p>
            <a:pPr eaLnBrk="1" hangingPunct="1">
              <a:defRPr/>
            </a:pPr>
            <a:r>
              <a:rPr lang="en-US" altLang="zh-TW">
                <a:effectLst>
                  <a:outerShdw blurRad="38100" dist="38100" dir="2700000" algn="tl">
                    <a:srgbClr val="C0C0C0"/>
                  </a:outerShdw>
                </a:effectLst>
              </a:rPr>
              <a:t>Layer 2: Data Link Layer</a:t>
            </a:r>
            <a:endParaRPr lang="zh-TW" altLang="en-US">
              <a:effectLst>
                <a:outerShdw blurRad="38100" dist="38100" dir="2700000" algn="tl">
                  <a:srgbClr val="C0C0C0"/>
                </a:outerShdw>
              </a:effectLst>
            </a:endParaRPr>
          </a:p>
        </p:txBody>
      </p:sp>
      <p:sp>
        <p:nvSpPr>
          <p:cNvPr id="14340" name="Slide Number Placeholder 3"/>
          <p:cNvSpPr>
            <a:spLocks noGrp="1"/>
          </p:cNvSpPr>
          <p:nvPr>
            <p:ph type="sldNum" sz="quarter" idx="4294967295"/>
          </p:nvPr>
        </p:nvSpPr>
        <p:spPr bwMode="auto">
          <a:xfrm>
            <a:off x="8613775" y="6305550"/>
            <a:ext cx="457200" cy="476250"/>
          </a:xfrm>
          <a:prstGeom prst="rect">
            <a:avLst/>
          </a:prstGeom>
          <a:noFill/>
          <a:ln>
            <a:miter lim="800000"/>
            <a:headEnd/>
            <a:tailEnd/>
          </a:ln>
        </p:spPr>
        <p:txBody>
          <a:bodyPr/>
          <a:lstStyle/>
          <a:p>
            <a:fld id="{A4B96323-5B52-4020-9461-0F2248B3B2C1}" type="slidenum">
              <a:rPr lang="zh-TW" altLang="en-US" smtClean="0"/>
              <a:pPr/>
              <a:t>64</a:t>
            </a:fld>
            <a:endParaRPr lang="zh-TW" altLang="en-US"/>
          </a:p>
        </p:txBody>
      </p:sp>
      <p:pic>
        <p:nvPicPr>
          <p:cNvPr id="6" name="Picture 5" descr="OSI Model"/>
          <p:cNvPicPr/>
          <p:nvPr/>
        </p:nvPicPr>
        <p:blipFill>
          <a:blip r:embed="rId3"/>
          <a:srcRect/>
          <a:stretch>
            <a:fillRect/>
          </a:stretch>
        </p:blipFill>
        <p:spPr bwMode="auto">
          <a:xfrm>
            <a:off x="0" y="1524000"/>
            <a:ext cx="9144000" cy="3270250"/>
          </a:xfrm>
          <a:prstGeom prst="rect">
            <a:avLst/>
          </a:prstGeom>
          <a:noFill/>
          <a:ln w="9525">
            <a:noFill/>
            <a:miter lim="800000"/>
            <a:headEnd/>
            <a:tailEnd/>
          </a:ln>
        </p:spPr>
      </p:pic>
      <p:sp>
        <p:nvSpPr>
          <p:cNvPr id="8" name="TextBox 7"/>
          <p:cNvSpPr txBox="1"/>
          <p:nvPr/>
        </p:nvSpPr>
        <p:spPr>
          <a:xfrm>
            <a:off x="3352800" y="4953000"/>
            <a:ext cx="2125775" cy="1754326"/>
          </a:xfrm>
          <a:prstGeom prst="rect">
            <a:avLst/>
          </a:prstGeom>
          <a:noFill/>
        </p:spPr>
        <p:txBody>
          <a:bodyPr wrap="square" rtlCol="0">
            <a:spAutoFit/>
          </a:bodyPr>
          <a:lstStyle/>
          <a:p>
            <a:r>
              <a:rPr lang="en-US" b="1" dirty="0"/>
              <a:t>Functionalities:</a:t>
            </a:r>
          </a:p>
          <a:p>
            <a:r>
              <a:rPr lang="en-US" dirty="0"/>
              <a:t>Framing:</a:t>
            </a:r>
          </a:p>
          <a:p>
            <a:r>
              <a:rPr lang="en-US" dirty="0"/>
              <a:t>Physical Addressing: </a:t>
            </a:r>
          </a:p>
          <a:p>
            <a:pPr lvl="0"/>
            <a:r>
              <a:rPr lang="en-US" dirty="0"/>
              <a:t>Flow Control: </a:t>
            </a:r>
          </a:p>
          <a:p>
            <a:pPr lvl="0"/>
            <a:r>
              <a:rPr lang="en-US" dirty="0"/>
              <a:t>Error Control:</a:t>
            </a:r>
          </a:p>
          <a:p>
            <a:pPr lvl="0"/>
            <a:r>
              <a:rPr lang="en-US" dirty="0"/>
              <a:t>Access Control:</a:t>
            </a:r>
          </a:p>
        </p:txBody>
      </p:sp>
    </p:spTree>
  </p:cSld>
  <p:clrMapOvr>
    <a:masterClrMapping/>
  </p:clrMapOvr>
  <p:transition>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1231106"/>
          </a:xfrm>
        </p:spPr>
        <p:txBody>
          <a:bodyPr/>
          <a:lstStyle/>
          <a:p>
            <a:r>
              <a:rPr lang="en-US" sz="3600" dirty="0"/>
              <a:t>Real-World Example for Data Link Layer </a:t>
            </a:r>
            <a:br>
              <a:rPr lang="en-US" dirty="0"/>
            </a:br>
            <a:endParaRPr lang="en-US" dirty="0"/>
          </a:p>
        </p:txBody>
      </p:sp>
      <p:sp>
        <p:nvSpPr>
          <p:cNvPr id="3" name="Text Placeholder 2"/>
          <p:cNvSpPr>
            <a:spLocks noGrp="1"/>
          </p:cNvSpPr>
          <p:nvPr>
            <p:ph type="body" idx="1"/>
          </p:nvPr>
        </p:nvSpPr>
        <p:spPr>
          <a:xfrm>
            <a:off x="0" y="1447800"/>
            <a:ext cx="9144000" cy="4862870"/>
          </a:xfrm>
        </p:spPr>
        <p:txBody>
          <a:bodyPr/>
          <a:lstStyle/>
          <a:p>
            <a:r>
              <a:rPr lang="en-US" sz="2400" dirty="0" err="1">
                <a:latin typeface="Times New Roman" pitchFamily="18" charset="0"/>
                <a:cs typeface="Times New Roman" pitchFamily="18" charset="0"/>
              </a:rPr>
              <a:t>Ex:</a:t>
            </a:r>
            <a:r>
              <a:rPr lang="en-US" sz="2400" b="0" dirty="0" err="1">
                <a:latin typeface="Times New Roman" pitchFamily="18" charset="0"/>
                <a:cs typeface="Times New Roman" pitchFamily="18" charset="0"/>
              </a:rPr>
              <a:t>A</a:t>
            </a:r>
            <a:r>
              <a:rPr lang="en-US" sz="2400" b="0" dirty="0">
                <a:latin typeface="Times New Roman" pitchFamily="18" charset="0"/>
                <a:cs typeface="Times New Roman" pitchFamily="18" charset="0"/>
              </a:rPr>
              <a:t> Wi-Fi connection in a home or office network</a:t>
            </a:r>
          </a:p>
          <a:p>
            <a:endParaRPr lang="en-US" sz="2400" b="0" dirty="0">
              <a:latin typeface="Times New Roman" pitchFamily="18" charset="0"/>
              <a:cs typeface="Times New Roman" pitchFamily="18" charset="0"/>
            </a:endParaRPr>
          </a:p>
          <a:p>
            <a:r>
              <a:rPr lang="en-US" sz="2400" dirty="0">
                <a:latin typeface="Times New Roman" pitchFamily="18" charset="0"/>
                <a:cs typeface="Times New Roman" pitchFamily="18" charset="0"/>
              </a:rPr>
              <a:t>Explanation:</a:t>
            </a:r>
          </a:p>
          <a:p>
            <a:r>
              <a:rPr lang="en-US" sz="2400" b="0" dirty="0">
                <a:latin typeface="Times New Roman" pitchFamily="18" charset="0"/>
                <a:cs typeface="Times New Roman" pitchFamily="18" charset="0"/>
              </a:rPr>
              <a:t>When your laptop connects to a Wi-Fi router to access the internet, the Data Link layer is </a:t>
            </a:r>
            <a:r>
              <a:rPr lang="en-US" sz="2400" dirty="0">
                <a:latin typeface="Times New Roman" pitchFamily="18" charset="0"/>
                <a:cs typeface="Times New Roman" pitchFamily="18" charset="0"/>
              </a:rPr>
              <a:t>responsible</a:t>
            </a:r>
            <a:r>
              <a:rPr lang="en-US" sz="2400" b="0" dirty="0">
                <a:latin typeface="Times New Roman" pitchFamily="18" charset="0"/>
                <a:cs typeface="Times New Roman" pitchFamily="18" charset="0"/>
              </a:rPr>
              <a:t> for:</a:t>
            </a:r>
          </a:p>
          <a:p>
            <a:endParaRPr lang="en-US" sz="2400" b="0" dirty="0">
              <a:latin typeface="Times New Roman" pitchFamily="18" charset="0"/>
              <a:cs typeface="Times New Roman" pitchFamily="18" charset="0"/>
            </a:endParaRPr>
          </a:p>
          <a:p>
            <a:pPr>
              <a:buFont typeface="Wingdings" pitchFamily="2" charset="2"/>
              <a:buChar char="§"/>
            </a:pPr>
            <a:r>
              <a:rPr lang="en-US" sz="2400" dirty="0">
                <a:latin typeface="Times New Roman" pitchFamily="18" charset="0"/>
                <a:cs typeface="Times New Roman" pitchFamily="18" charset="0"/>
              </a:rPr>
              <a:t>Framing: </a:t>
            </a:r>
            <a:r>
              <a:rPr lang="en-US" sz="2400" b="0" dirty="0">
                <a:latin typeface="Times New Roman" pitchFamily="18" charset="0"/>
                <a:cs typeface="Times New Roman" pitchFamily="18" charset="0"/>
              </a:rPr>
              <a:t>Breaking data into frames for transmission.</a:t>
            </a:r>
          </a:p>
          <a:p>
            <a:pPr>
              <a:buFont typeface="Wingdings" pitchFamily="2" charset="2"/>
              <a:buChar char="§"/>
            </a:pPr>
            <a:r>
              <a:rPr lang="en-US" sz="2400" dirty="0">
                <a:latin typeface="Times New Roman" pitchFamily="18" charset="0"/>
                <a:cs typeface="Times New Roman" pitchFamily="18" charset="0"/>
              </a:rPr>
              <a:t>MAC (Media Access Control): </a:t>
            </a:r>
            <a:r>
              <a:rPr lang="en-US" sz="2400" b="0" dirty="0">
                <a:latin typeface="Times New Roman" pitchFamily="18" charset="0"/>
                <a:cs typeface="Times New Roman" pitchFamily="18" charset="0"/>
              </a:rPr>
              <a:t>Assigning and using the MAC address to identify devices on the same local network.</a:t>
            </a:r>
          </a:p>
          <a:p>
            <a:pPr>
              <a:buFont typeface="Wingdings" pitchFamily="2" charset="2"/>
              <a:buChar char="§"/>
            </a:pPr>
            <a:r>
              <a:rPr lang="en-US" sz="2400" dirty="0">
                <a:latin typeface="Times New Roman" pitchFamily="18" charset="0"/>
                <a:cs typeface="Times New Roman" pitchFamily="18" charset="0"/>
              </a:rPr>
              <a:t>Error detection and handling: </a:t>
            </a:r>
            <a:r>
              <a:rPr lang="en-US" sz="2400" b="0" dirty="0">
                <a:latin typeface="Times New Roman" pitchFamily="18" charset="0"/>
                <a:cs typeface="Times New Roman" pitchFamily="18" charset="0"/>
              </a:rPr>
              <a:t>Identifying errors that may occur during transmission and requesting retransmission if needed.</a:t>
            </a:r>
          </a:p>
          <a:p>
            <a:pPr>
              <a:buFont typeface="Wingdings" pitchFamily="2" charset="2"/>
              <a:buChar char="§"/>
            </a:pPr>
            <a:r>
              <a:rPr lang="en-US" sz="2400" b="0" dirty="0">
                <a:latin typeface="Times New Roman" pitchFamily="18" charset="0"/>
                <a:cs typeface="Times New Roman" pitchFamily="18" charset="0"/>
              </a:rPr>
              <a:t>Flow control at the local network level.</a:t>
            </a:r>
          </a:p>
          <a:p>
            <a:endParaRPr lang="en-US" dirty="0"/>
          </a:p>
        </p:txBody>
      </p:sp>
    </p:spTree>
  </p:cSld>
  <p:clrMapOvr>
    <a:masterClrMapping/>
  </p:clrMapOvr>
  <p:transition>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anchorCtr="0" compatLnSpc="1">
            <a:prstTxWarp prst="textNoShape">
              <a:avLst/>
            </a:prstTxWarp>
          </a:bodyPr>
          <a:lstStyle/>
          <a:p>
            <a:pPr eaLnBrk="1" hangingPunct="1">
              <a:defRPr/>
            </a:pPr>
            <a:r>
              <a:rPr lang="en-US" altLang="zh-TW">
                <a:effectLst>
                  <a:outerShdw blurRad="38100" dist="38100" dir="2700000" algn="tl">
                    <a:srgbClr val="C0C0C0"/>
                  </a:outerShdw>
                </a:effectLst>
              </a:rPr>
              <a:t>Layer 3: Network Layer</a:t>
            </a:r>
            <a:endParaRPr lang="zh-TW" altLang="en-US">
              <a:effectLst>
                <a:outerShdw blurRad="38100" dist="38100" dir="2700000" algn="tl">
                  <a:srgbClr val="C0C0C0"/>
                </a:outerShdw>
              </a:effectLst>
            </a:endParaRPr>
          </a:p>
        </p:txBody>
      </p:sp>
      <p:sp>
        <p:nvSpPr>
          <p:cNvPr id="16388" name="Slide Number Placeholder 3"/>
          <p:cNvSpPr>
            <a:spLocks noGrp="1"/>
          </p:cNvSpPr>
          <p:nvPr>
            <p:ph type="sldNum" sz="quarter" idx="4294967295"/>
          </p:nvPr>
        </p:nvSpPr>
        <p:spPr bwMode="auto">
          <a:xfrm>
            <a:off x="8613775" y="6305550"/>
            <a:ext cx="457200" cy="476250"/>
          </a:xfrm>
          <a:prstGeom prst="rect">
            <a:avLst/>
          </a:prstGeom>
          <a:noFill/>
          <a:ln>
            <a:miter lim="800000"/>
            <a:headEnd/>
            <a:tailEnd/>
          </a:ln>
        </p:spPr>
        <p:txBody>
          <a:bodyPr/>
          <a:lstStyle/>
          <a:p>
            <a:fld id="{8A786AB0-922E-4858-84A4-9AF589DD8463}" type="slidenum">
              <a:rPr lang="zh-TW" altLang="en-US" smtClean="0"/>
              <a:pPr/>
              <a:t>66</a:t>
            </a:fld>
            <a:endParaRPr lang="zh-TW" altLang="en-US"/>
          </a:p>
        </p:txBody>
      </p:sp>
      <p:pic>
        <p:nvPicPr>
          <p:cNvPr id="6" name="Picture 5" descr="OSI Model"/>
          <p:cNvPicPr/>
          <p:nvPr/>
        </p:nvPicPr>
        <p:blipFill>
          <a:blip r:embed="rId3"/>
          <a:srcRect/>
          <a:stretch>
            <a:fillRect/>
          </a:stretch>
        </p:blipFill>
        <p:spPr bwMode="auto">
          <a:xfrm>
            <a:off x="76200" y="1828800"/>
            <a:ext cx="6096000" cy="4572000"/>
          </a:xfrm>
          <a:prstGeom prst="rect">
            <a:avLst/>
          </a:prstGeom>
          <a:noFill/>
          <a:ln w="9525">
            <a:noFill/>
            <a:miter lim="800000"/>
            <a:headEnd/>
            <a:tailEnd/>
          </a:ln>
        </p:spPr>
      </p:pic>
      <p:sp>
        <p:nvSpPr>
          <p:cNvPr id="7" name="TextBox 6"/>
          <p:cNvSpPr txBox="1"/>
          <p:nvPr/>
        </p:nvSpPr>
        <p:spPr>
          <a:xfrm>
            <a:off x="6477000" y="2438400"/>
            <a:ext cx="1697965" cy="1754326"/>
          </a:xfrm>
          <a:prstGeom prst="rect">
            <a:avLst/>
          </a:prstGeom>
          <a:noFill/>
        </p:spPr>
        <p:txBody>
          <a:bodyPr wrap="none" rtlCol="0">
            <a:spAutoFit/>
          </a:bodyPr>
          <a:lstStyle/>
          <a:p>
            <a:r>
              <a:rPr lang="en-US" b="1" dirty="0"/>
              <a:t>Functionalities:</a:t>
            </a:r>
          </a:p>
          <a:p>
            <a:r>
              <a:rPr lang="en-US" dirty="0"/>
              <a:t>Internetworking</a:t>
            </a:r>
          </a:p>
          <a:p>
            <a:r>
              <a:rPr lang="en-US" dirty="0"/>
              <a:t>Addressing</a:t>
            </a:r>
          </a:p>
          <a:p>
            <a:r>
              <a:rPr lang="en-US" dirty="0"/>
              <a:t>Routing</a:t>
            </a:r>
          </a:p>
          <a:p>
            <a:r>
              <a:rPr lang="en-US" dirty="0"/>
              <a:t>Packetizing</a:t>
            </a:r>
          </a:p>
          <a:p>
            <a:endParaRPr lang="en-US" dirty="0"/>
          </a:p>
        </p:txBody>
      </p:sp>
    </p:spTree>
  </p:cSld>
  <p:clrMapOvr>
    <a:masterClrMapping/>
  </p:clrMapOvr>
  <p:transition>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465692" cy="553998"/>
          </a:xfrm>
        </p:spPr>
        <p:txBody>
          <a:bodyPr/>
          <a:lstStyle/>
          <a:p>
            <a:r>
              <a:rPr lang="en-US" sz="3600" dirty="0">
                <a:latin typeface="Times New Roman" pitchFamily="18" charset="0"/>
                <a:cs typeface="Times New Roman" pitchFamily="18" charset="0"/>
              </a:rPr>
              <a:t>Real-World Example for Network Layer</a:t>
            </a:r>
          </a:p>
        </p:txBody>
      </p:sp>
      <p:sp>
        <p:nvSpPr>
          <p:cNvPr id="3" name="Text Placeholder 2"/>
          <p:cNvSpPr>
            <a:spLocks noGrp="1"/>
          </p:cNvSpPr>
          <p:nvPr>
            <p:ph type="body" idx="1"/>
          </p:nvPr>
        </p:nvSpPr>
        <p:spPr>
          <a:xfrm>
            <a:off x="0" y="1524000"/>
            <a:ext cx="9144000" cy="4185761"/>
          </a:xfrm>
        </p:spPr>
        <p:txBody>
          <a:bodyPr/>
          <a:lstStyle/>
          <a:p>
            <a:r>
              <a:rPr lang="en-US" sz="2400" dirty="0">
                <a:latin typeface="Times New Roman" pitchFamily="18" charset="0"/>
                <a:cs typeface="Times New Roman" pitchFamily="18" charset="0"/>
              </a:rPr>
              <a:t>Ex: </a:t>
            </a:r>
            <a:r>
              <a:rPr lang="en-US" sz="2400" b="0" dirty="0">
                <a:latin typeface="Times New Roman" pitchFamily="18" charset="0"/>
                <a:cs typeface="Times New Roman" pitchFamily="18" charset="0"/>
              </a:rPr>
              <a:t>Sending an email from India to the USA</a:t>
            </a:r>
          </a:p>
          <a:p>
            <a:endParaRPr lang="en-US" sz="2400" b="0" dirty="0">
              <a:latin typeface="Times New Roman" pitchFamily="18" charset="0"/>
              <a:cs typeface="Times New Roman" pitchFamily="18" charset="0"/>
            </a:endParaRPr>
          </a:p>
          <a:p>
            <a:r>
              <a:rPr lang="en-US" sz="2400" dirty="0">
                <a:latin typeface="Times New Roman" pitchFamily="18" charset="0"/>
                <a:cs typeface="Times New Roman" pitchFamily="18" charset="0"/>
              </a:rPr>
              <a:t>Key functions:</a:t>
            </a:r>
          </a:p>
          <a:p>
            <a:r>
              <a:rPr lang="en-US" sz="2400" b="0" dirty="0">
                <a:latin typeface="Times New Roman" pitchFamily="18" charset="0"/>
                <a:cs typeface="Times New Roman" pitchFamily="18" charset="0"/>
              </a:rPr>
              <a:t>✅ Logical Addressing: Assigns IP addresses to both sender and receiver so that data knows where to go.</a:t>
            </a:r>
          </a:p>
          <a:p>
            <a:r>
              <a:rPr lang="en-US" sz="2400" b="0" dirty="0">
                <a:latin typeface="Times New Roman" pitchFamily="18" charset="0"/>
                <a:cs typeface="Times New Roman" pitchFamily="18" charset="0"/>
              </a:rPr>
              <a:t>✅ Routing: Determines the best path the data packets should take through routers across global networks (internet).</a:t>
            </a:r>
          </a:p>
          <a:p>
            <a:r>
              <a:rPr lang="en-US" sz="2400" b="0" dirty="0">
                <a:latin typeface="Times New Roman" pitchFamily="18" charset="0"/>
                <a:cs typeface="Times New Roman" pitchFamily="18" charset="0"/>
              </a:rPr>
              <a:t>✅ Packet Forwarding: Moves data packets from one network node to another until they reach the destination.</a:t>
            </a:r>
          </a:p>
          <a:p>
            <a:endParaRPr lang="en-US" dirty="0"/>
          </a:p>
          <a:p>
            <a:endParaRPr lang="en-US" dirty="0"/>
          </a:p>
        </p:txBody>
      </p:sp>
    </p:spTree>
  </p:cSld>
  <p:clrMapOvr>
    <a:masterClrMapping/>
  </p:clrMapOvr>
  <p:transition>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anchorCtr="0" compatLnSpc="1">
            <a:prstTxWarp prst="textNoShape">
              <a:avLst/>
            </a:prstTxWarp>
          </a:bodyPr>
          <a:lstStyle/>
          <a:p>
            <a:pPr eaLnBrk="1" hangingPunct="1">
              <a:defRPr/>
            </a:pPr>
            <a:r>
              <a:rPr lang="en-US" altLang="zh-TW">
                <a:effectLst>
                  <a:outerShdw blurRad="38100" dist="38100" dir="2700000" algn="tl">
                    <a:srgbClr val="C0C0C0"/>
                  </a:outerShdw>
                </a:effectLst>
              </a:rPr>
              <a:t>Layer 4: Transport Layer</a:t>
            </a:r>
            <a:endParaRPr lang="zh-TW" altLang="en-US">
              <a:effectLst>
                <a:outerShdw blurRad="38100" dist="38100" dir="2700000" algn="tl">
                  <a:srgbClr val="C0C0C0"/>
                </a:outerShdw>
              </a:effectLst>
            </a:endParaRPr>
          </a:p>
        </p:txBody>
      </p:sp>
      <p:sp>
        <p:nvSpPr>
          <p:cNvPr id="18436" name="Slide Number Placeholder 3"/>
          <p:cNvSpPr>
            <a:spLocks noGrp="1"/>
          </p:cNvSpPr>
          <p:nvPr>
            <p:ph type="sldNum" sz="quarter" idx="4294967295"/>
          </p:nvPr>
        </p:nvSpPr>
        <p:spPr bwMode="auto">
          <a:xfrm>
            <a:off x="8613775" y="6305550"/>
            <a:ext cx="457200" cy="476250"/>
          </a:xfrm>
          <a:prstGeom prst="rect">
            <a:avLst/>
          </a:prstGeom>
          <a:noFill/>
          <a:ln>
            <a:miter lim="800000"/>
            <a:headEnd/>
            <a:tailEnd/>
          </a:ln>
        </p:spPr>
        <p:txBody>
          <a:bodyPr/>
          <a:lstStyle/>
          <a:p>
            <a:fld id="{5650C021-254E-40EA-BD0A-A7CD8A6AF5B9}" type="slidenum">
              <a:rPr lang="zh-TW" altLang="en-US" smtClean="0"/>
              <a:pPr/>
              <a:t>68</a:t>
            </a:fld>
            <a:endParaRPr lang="zh-TW" altLang="en-US"/>
          </a:p>
        </p:txBody>
      </p:sp>
      <p:pic>
        <p:nvPicPr>
          <p:cNvPr id="6" name="Picture 5" descr="OSI Model"/>
          <p:cNvPicPr/>
          <p:nvPr/>
        </p:nvPicPr>
        <p:blipFill>
          <a:blip r:embed="rId3"/>
          <a:srcRect/>
          <a:stretch>
            <a:fillRect/>
          </a:stretch>
        </p:blipFill>
        <p:spPr bwMode="auto">
          <a:xfrm>
            <a:off x="76200" y="1524000"/>
            <a:ext cx="8915400" cy="2438400"/>
          </a:xfrm>
          <a:prstGeom prst="rect">
            <a:avLst/>
          </a:prstGeom>
          <a:noFill/>
          <a:ln w="9525">
            <a:noFill/>
            <a:miter lim="800000"/>
            <a:headEnd/>
            <a:tailEnd/>
          </a:ln>
        </p:spPr>
      </p:pic>
      <p:sp>
        <p:nvSpPr>
          <p:cNvPr id="8" name="Text Placeholder 2"/>
          <p:cNvSpPr>
            <a:spLocks noGrp="1"/>
          </p:cNvSpPr>
          <p:nvPr>
            <p:ph type="body" idx="1"/>
          </p:nvPr>
        </p:nvSpPr>
        <p:spPr>
          <a:xfrm>
            <a:off x="381000" y="3962400"/>
            <a:ext cx="8086039" cy="3016210"/>
          </a:xfrm>
        </p:spPr>
        <p:txBody>
          <a:bodyPr/>
          <a:lstStyle/>
          <a:p>
            <a:pPr lvl="0"/>
            <a:r>
              <a:rPr lang="en-US" dirty="0"/>
              <a:t> Functions:</a:t>
            </a:r>
          </a:p>
          <a:p>
            <a:pPr lvl="0"/>
            <a:r>
              <a:rPr lang="en-US" b="0" dirty="0"/>
              <a:t> Service-point addressing</a:t>
            </a:r>
          </a:p>
          <a:p>
            <a:pPr lvl="0"/>
            <a:r>
              <a:rPr lang="en-US" b="0" dirty="0"/>
              <a:t> Segmentation and reassembly </a:t>
            </a:r>
          </a:p>
          <a:p>
            <a:pPr lvl="0"/>
            <a:r>
              <a:rPr lang="en-US" b="0" dirty="0"/>
              <a:t> Connection control</a:t>
            </a:r>
          </a:p>
          <a:p>
            <a:pPr lvl="0"/>
            <a:r>
              <a:rPr lang="en-US" b="0" dirty="0"/>
              <a:t> Flow control </a:t>
            </a:r>
          </a:p>
          <a:p>
            <a:pPr lvl="0"/>
            <a:r>
              <a:rPr lang="en-US" b="0" dirty="0"/>
              <a:t> Error control </a:t>
            </a:r>
          </a:p>
          <a:p>
            <a:endParaRPr lang="en-US" dirty="0"/>
          </a:p>
        </p:txBody>
      </p:sp>
    </p:spTree>
  </p:cSld>
  <p:clrMapOvr>
    <a:masterClrMapping/>
  </p:clrMapOvr>
  <p:transition>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3999" cy="553998"/>
          </a:xfrm>
        </p:spPr>
        <p:txBody>
          <a:bodyPr/>
          <a:lstStyle/>
          <a:p>
            <a:r>
              <a:rPr lang="en-US" sz="3600" dirty="0">
                <a:latin typeface="Times New Roman" pitchFamily="18" charset="0"/>
                <a:cs typeface="Times New Roman" pitchFamily="18" charset="0"/>
              </a:rPr>
              <a:t>Real-World Example for Transport Layer</a:t>
            </a:r>
          </a:p>
        </p:txBody>
      </p:sp>
      <p:sp>
        <p:nvSpPr>
          <p:cNvPr id="3" name="Text Placeholder 2"/>
          <p:cNvSpPr>
            <a:spLocks noGrp="1"/>
          </p:cNvSpPr>
          <p:nvPr>
            <p:ph type="body" idx="1"/>
          </p:nvPr>
        </p:nvSpPr>
        <p:spPr>
          <a:xfrm>
            <a:off x="0" y="1524000"/>
            <a:ext cx="9144000" cy="4862870"/>
          </a:xfrm>
        </p:spPr>
        <p:txBody>
          <a:bodyPr/>
          <a:lstStyle/>
          <a:p>
            <a:r>
              <a:rPr lang="en-US" sz="2400" b="0" dirty="0"/>
              <a:t>Ex</a:t>
            </a:r>
            <a:r>
              <a:rPr lang="en-US" sz="2400" dirty="0"/>
              <a:t>: </a:t>
            </a:r>
            <a:r>
              <a:rPr lang="en-US" sz="2400" b="0" dirty="0">
                <a:latin typeface="Times New Roman" pitchFamily="18" charset="0"/>
                <a:cs typeface="Times New Roman" pitchFamily="18" charset="0"/>
              </a:rPr>
              <a:t>Streaming a movie on Netflix or YouTube</a:t>
            </a:r>
          </a:p>
          <a:p>
            <a:endParaRPr lang="en-US" sz="2400" b="0" dirty="0">
              <a:latin typeface="Times New Roman" pitchFamily="18" charset="0"/>
              <a:cs typeface="Times New Roman" pitchFamily="18" charset="0"/>
            </a:endParaRPr>
          </a:p>
          <a:p>
            <a:r>
              <a:rPr lang="en-US" sz="2400" dirty="0">
                <a:latin typeface="Times New Roman" pitchFamily="18" charset="0"/>
                <a:cs typeface="Times New Roman" pitchFamily="18" charset="0"/>
              </a:rPr>
              <a:t>Key functions:</a:t>
            </a:r>
          </a:p>
          <a:p>
            <a:endParaRPr lang="en-US" sz="2400" dirty="0">
              <a:latin typeface="Times New Roman" pitchFamily="18" charset="0"/>
              <a:cs typeface="Times New Roman" pitchFamily="18" charset="0"/>
            </a:endParaRPr>
          </a:p>
          <a:p>
            <a:r>
              <a:rPr lang="en-US" sz="2400" b="0" dirty="0">
                <a:latin typeface="Times New Roman" pitchFamily="18" charset="0"/>
                <a:cs typeface="Times New Roman" pitchFamily="18" charset="0"/>
              </a:rPr>
              <a:t>✅ </a:t>
            </a:r>
            <a:r>
              <a:rPr lang="en-US" sz="2400" dirty="0">
                <a:latin typeface="Times New Roman" pitchFamily="18" charset="0"/>
                <a:cs typeface="Times New Roman" pitchFamily="18" charset="0"/>
              </a:rPr>
              <a:t>Segmentation and Reassembly: </a:t>
            </a:r>
            <a:r>
              <a:rPr lang="en-US" sz="2400" b="0" dirty="0">
                <a:latin typeface="Times New Roman" pitchFamily="18" charset="0"/>
                <a:cs typeface="Times New Roman" pitchFamily="18" charset="0"/>
              </a:rPr>
              <a:t>Breaks the video file into smaller segments and reassembles them correctly on your device.</a:t>
            </a:r>
          </a:p>
          <a:p>
            <a:r>
              <a:rPr lang="en-US" sz="2400" b="0" dirty="0">
                <a:latin typeface="Times New Roman" pitchFamily="18" charset="0"/>
                <a:cs typeface="Times New Roman" pitchFamily="18" charset="0"/>
              </a:rPr>
              <a:t>✅ </a:t>
            </a:r>
            <a:r>
              <a:rPr lang="en-US" sz="2400" dirty="0">
                <a:latin typeface="Times New Roman" pitchFamily="18" charset="0"/>
                <a:cs typeface="Times New Roman" pitchFamily="18" charset="0"/>
              </a:rPr>
              <a:t>Error Detection &amp; Correction: </a:t>
            </a:r>
            <a:r>
              <a:rPr lang="en-US" sz="2400" b="0" dirty="0">
                <a:latin typeface="Times New Roman" pitchFamily="18" charset="0"/>
                <a:cs typeface="Times New Roman" pitchFamily="18" charset="0"/>
              </a:rPr>
              <a:t>Ensures that no corrupted or missing data affects the video playback.</a:t>
            </a:r>
          </a:p>
          <a:p>
            <a:r>
              <a:rPr lang="en-US" sz="2400" b="0" dirty="0">
                <a:latin typeface="Times New Roman" pitchFamily="18" charset="0"/>
                <a:cs typeface="Times New Roman" pitchFamily="18" charset="0"/>
              </a:rPr>
              <a:t>✅ </a:t>
            </a:r>
            <a:r>
              <a:rPr lang="en-US" sz="2400" dirty="0">
                <a:latin typeface="Times New Roman" pitchFamily="18" charset="0"/>
                <a:cs typeface="Times New Roman" pitchFamily="18" charset="0"/>
              </a:rPr>
              <a:t>Flow Control: </a:t>
            </a:r>
            <a:r>
              <a:rPr lang="en-US" sz="2400" b="0" dirty="0">
                <a:latin typeface="Times New Roman" pitchFamily="18" charset="0"/>
                <a:cs typeface="Times New Roman" pitchFamily="18" charset="0"/>
              </a:rPr>
              <a:t>Adjusts the rate of data flow to prevent overwhelming your device if the internet is slow.</a:t>
            </a:r>
          </a:p>
          <a:p>
            <a:r>
              <a:rPr lang="en-US" sz="2400" b="0" dirty="0">
                <a:latin typeface="Times New Roman" pitchFamily="18" charset="0"/>
                <a:cs typeface="Times New Roman" pitchFamily="18" charset="0"/>
              </a:rPr>
              <a:t>✅ </a:t>
            </a:r>
            <a:r>
              <a:rPr lang="en-US" sz="2400" dirty="0">
                <a:latin typeface="Times New Roman" pitchFamily="18" charset="0"/>
                <a:cs typeface="Times New Roman" pitchFamily="18" charset="0"/>
              </a:rPr>
              <a:t>Reliable Transmission (TCP): </a:t>
            </a:r>
            <a:r>
              <a:rPr lang="en-US" sz="2400" b="0" dirty="0">
                <a:latin typeface="Times New Roman" pitchFamily="18" charset="0"/>
                <a:cs typeface="Times New Roman" pitchFamily="18" charset="0"/>
              </a:rPr>
              <a:t>If a part of the video data is lost, it is retransmitted automatically.</a:t>
            </a:r>
          </a:p>
          <a:p>
            <a:endParaRPr lang="en-US" dirty="0"/>
          </a:p>
        </p:txBody>
      </p:sp>
    </p:spTree>
  </p:cSld>
  <p:clrMapOvr>
    <a:masterClrMapping/>
  </p:clrMapOvr>
  <p:transition>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anchorCtr="0" compatLnSpc="1">
            <a:prstTxWarp prst="textNoShape">
              <a:avLst/>
            </a:prstTxWarp>
          </a:bodyPr>
          <a:lstStyle/>
          <a:p>
            <a:pPr eaLnBrk="1" hangingPunct="1">
              <a:defRPr/>
            </a:pPr>
            <a:r>
              <a:rPr lang="en-US" altLang="zh-TW">
                <a:effectLst>
                  <a:outerShdw blurRad="38100" dist="38100" dir="2700000" algn="tl">
                    <a:srgbClr val="C0C0C0"/>
                  </a:outerShdw>
                </a:effectLst>
              </a:rPr>
              <a:t>Layer 5: Session Layer</a:t>
            </a:r>
            <a:endParaRPr lang="zh-TW" altLang="en-US">
              <a:effectLst>
                <a:outerShdw blurRad="38100" dist="38100" dir="2700000" algn="tl">
                  <a:srgbClr val="C0C0C0"/>
                </a:outerShdw>
              </a:effectLst>
            </a:endParaRPr>
          </a:p>
        </p:txBody>
      </p:sp>
      <p:sp>
        <p:nvSpPr>
          <p:cNvPr id="19460" name="Slide Number Placeholder 3"/>
          <p:cNvSpPr>
            <a:spLocks noGrp="1"/>
          </p:cNvSpPr>
          <p:nvPr>
            <p:ph type="sldNum" sz="quarter" idx="4294967295"/>
          </p:nvPr>
        </p:nvSpPr>
        <p:spPr bwMode="auto">
          <a:xfrm>
            <a:off x="8613775" y="6305550"/>
            <a:ext cx="457200" cy="476250"/>
          </a:xfrm>
          <a:prstGeom prst="rect">
            <a:avLst/>
          </a:prstGeom>
          <a:noFill/>
          <a:ln>
            <a:miter lim="800000"/>
            <a:headEnd/>
            <a:tailEnd/>
          </a:ln>
        </p:spPr>
        <p:txBody>
          <a:bodyPr/>
          <a:lstStyle/>
          <a:p>
            <a:fld id="{A271AB34-D49D-4AD8-A9BC-2721F80292C1}" type="slidenum">
              <a:rPr lang="zh-TW" altLang="en-US" smtClean="0"/>
              <a:pPr/>
              <a:t>70</a:t>
            </a:fld>
            <a:endParaRPr lang="zh-TW" altLang="en-US"/>
          </a:p>
        </p:txBody>
      </p:sp>
      <p:pic>
        <p:nvPicPr>
          <p:cNvPr id="5" name="Picture 4" descr="OSI Model"/>
          <p:cNvPicPr/>
          <p:nvPr/>
        </p:nvPicPr>
        <p:blipFill>
          <a:blip r:embed="rId3"/>
          <a:srcRect/>
          <a:stretch>
            <a:fillRect/>
          </a:stretch>
        </p:blipFill>
        <p:spPr bwMode="auto">
          <a:xfrm>
            <a:off x="0" y="1676400"/>
            <a:ext cx="9144000" cy="2286000"/>
          </a:xfrm>
          <a:prstGeom prst="rect">
            <a:avLst/>
          </a:prstGeom>
          <a:noFill/>
          <a:ln w="9525">
            <a:noFill/>
            <a:miter lim="800000"/>
            <a:headEnd/>
            <a:tailEnd/>
          </a:ln>
        </p:spPr>
      </p:pic>
      <p:sp>
        <p:nvSpPr>
          <p:cNvPr id="7" name="TextBox 6"/>
          <p:cNvSpPr txBox="1"/>
          <p:nvPr/>
        </p:nvSpPr>
        <p:spPr>
          <a:xfrm>
            <a:off x="304800" y="4419600"/>
            <a:ext cx="2662204" cy="1200329"/>
          </a:xfrm>
          <a:prstGeom prst="rect">
            <a:avLst/>
          </a:prstGeom>
          <a:noFill/>
        </p:spPr>
        <p:txBody>
          <a:bodyPr wrap="none" rtlCol="0">
            <a:spAutoFit/>
          </a:bodyPr>
          <a:lstStyle/>
          <a:p>
            <a:r>
              <a:rPr lang="en-US" dirty="0"/>
              <a:t>Functions of Session layer:</a:t>
            </a:r>
          </a:p>
          <a:p>
            <a:pPr lvl="0"/>
            <a:r>
              <a:rPr lang="en-US" b="1" dirty="0"/>
              <a:t>Dialog control:</a:t>
            </a:r>
            <a:r>
              <a:rPr lang="en-US" dirty="0"/>
              <a:t> </a:t>
            </a:r>
          </a:p>
          <a:p>
            <a:pPr lvl="0"/>
            <a:r>
              <a:rPr lang="en-US" b="1" dirty="0"/>
              <a:t>Synchronization:</a:t>
            </a:r>
            <a:r>
              <a:rPr lang="en-US" dirty="0"/>
              <a:t> </a:t>
            </a:r>
          </a:p>
          <a:p>
            <a:endParaRPr lang="en-US" dirty="0"/>
          </a:p>
        </p:txBody>
      </p:sp>
    </p:spTree>
  </p:cSld>
  <p:clrMapOvr>
    <a:masterClrMapping/>
  </p:clrMapOvr>
  <p:transition>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3999" cy="553998"/>
          </a:xfrm>
        </p:spPr>
        <p:txBody>
          <a:bodyPr/>
          <a:lstStyle/>
          <a:p>
            <a:r>
              <a:rPr lang="en-US" sz="3600" dirty="0">
                <a:latin typeface="Times New Roman" pitchFamily="18" charset="0"/>
                <a:cs typeface="Times New Roman" pitchFamily="18" charset="0"/>
              </a:rPr>
              <a:t>Real-World Example for Session Layer</a:t>
            </a:r>
          </a:p>
        </p:txBody>
      </p:sp>
      <p:sp>
        <p:nvSpPr>
          <p:cNvPr id="3" name="Text Placeholder 2"/>
          <p:cNvSpPr>
            <a:spLocks noGrp="1"/>
          </p:cNvSpPr>
          <p:nvPr>
            <p:ph type="body" idx="1"/>
          </p:nvPr>
        </p:nvSpPr>
        <p:spPr>
          <a:xfrm>
            <a:off x="0" y="1524000"/>
            <a:ext cx="9144000" cy="4801314"/>
          </a:xfrm>
        </p:spPr>
        <p:txBody>
          <a:bodyPr/>
          <a:lstStyle/>
          <a:p>
            <a:r>
              <a:rPr lang="en-US" sz="2400" dirty="0">
                <a:latin typeface="Times New Roman" pitchFamily="18" charset="0"/>
                <a:cs typeface="Times New Roman" pitchFamily="18" charset="0"/>
              </a:rPr>
              <a:t>Ex: </a:t>
            </a:r>
            <a:r>
              <a:rPr lang="en-US" sz="2400" b="0" dirty="0">
                <a:latin typeface="Times New Roman" pitchFamily="18" charset="0"/>
                <a:cs typeface="Times New Roman" pitchFamily="18" charset="0"/>
              </a:rPr>
              <a:t>Online Banking Session (Net Banking)</a:t>
            </a:r>
          </a:p>
          <a:p>
            <a:endParaRPr lang="en-US" sz="2400" b="0" dirty="0">
              <a:latin typeface="Times New Roman" pitchFamily="18" charset="0"/>
              <a:cs typeface="Times New Roman" pitchFamily="18" charset="0"/>
            </a:endParaRPr>
          </a:p>
          <a:p>
            <a:r>
              <a:rPr lang="en-US" sz="2400" dirty="0">
                <a:latin typeface="Times New Roman" pitchFamily="18" charset="0"/>
                <a:cs typeface="Times New Roman" pitchFamily="18" charset="0"/>
              </a:rPr>
              <a:t>Key functions:</a:t>
            </a:r>
          </a:p>
          <a:p>
            <a:endParaRPr lang="en-US" sz="2400" b="0" dirty="0">
              <a:latin typeface="Times New Roman" pitchFamily="18" charset="0"/>
              <a:cs typeface="Times New Roman" pitchFamily="18" charset="0"/>
            </a:endParaRPr>
          </a:p>
          <a:p>
            <a:r>
              <a:rPr lang="en-US" sz="2400" b="0" dirty="0">
                <a:latin typeface="Times New Roman" pitchFamily="18" charset="0"/>
                <a:cs typeface="Times New Roman" pitchFamily="18" charset="0"/>
              </a:rPr>
              <a:t>✅ </a:t>
            </a:r>
            <a:r>
              <a:rPr lang="en-US" sz="2400" dirty="0">
                <a:latin typeface="Times New Roman" pitchFamily="18" charset="0"/>
                <a:cs typeface="Times New Roman" pitchFamily="18" charset="0"/>
              </a:rPr>
              <a:t>Session Establishment</a:t>
            </a:r>
            <a:r>
              <a:rPr lang="en-US" sz="2400" b="0" dirty="0">
                <a:latin typeface="Times New Roman" pitchFamily="18" charset="0"/>
                <a:cs typeface="Times New Roman" pitchFamily="18" charset="0"/>
              </a:rPr>
              <a:t>: Authenticates and starts a session once you log in with your credentials.</a:t>
            </a:r>
          </a:p>
          <a:p>
            <a:r>
              <a:rPr lang="en-US" sz="2400" b="0" dirty="0">
                <a:latin typeface="Times New Roman" pitchFamily="18" charset="0"/>
                <a:cs typeface="Times New Roman" pitchFamily="18" charset="0"/>
              </a:rPr>
              <a:t>✅ </a:t>
            </a:r>
            <a:r>
              <a:rPr lang="en-US" sz="2400" dirty="0">
                <a:latin typeface="Times New Roman" pitchFamily="18" charset="0"/>
                <a:cs typeface="Times New Roman" pitchFamily="18" charset="0"/>
              </a:rPr>
              <a:t>Session Maintenance</a:t>
            </a:r>
            <a:r>
              <a:rPr lang="en-US" sz="2400" b="0" dirty="0">
                <a:latin typeface="Times New Roman" pitchFamily="18" charset="0"/>
                <a:cs typeface="Times New Roman" pitchFamily="18" charset="0"/>
              </a:rPr>
              <a:t>: Keeps the session active while you perform banking tasks, ensuring smooth communication.</a:t>
            </a:r>
          </a:p>
          <a:p>
            <a:r>
              <a:rPr lang="en-US" sz="2400" b="0" dirty="0">
                <a:latin typeface="Times New Roman" pitchFamily="18" charset="0"/>
                <a:cs typeface="Times New Roman" pitchFamily="18" charset="0"/>
              </a:rPr>
              <a:t>✅ </a:t>
            </a:r>
            <a:r>
              <a:rPr lang="en-US" sz="2400" dirty="0">
                <a:latin typeface="Times New Roman" pitchFamily="18" charset="0"/>
                <a:cs typeface="Times New Roman" pitchFamily="18" charset="0"/>
              </a:rPr>
              <a:t>Synchronization: </a:t>
            </a:r>
            <a:r>
              <a:rPr lang="en-US" sz="2400" b="0" dirty="0">
                <a:latin typeface="Times New Roman" pitchFamily="18" charset="0"/>
                <a:cs typeface="Times New Roman" pitchFamily="18" charset="0"/>
              </a:rPr>
              <a:t>Inserts checkpoints so that if there’s a disruption (like network failure), the session can resume from the last saved point.</a:t>
            </a:r>
          </a:p>
          <a:p>
            <a:r>
              <a:rPr lang="en-US" sz="2400" b="0" dirty="0">
                <a:latin typeface="Times New Roman" pitchFamily="18" charset="0"/>
                <a:cs typeface="Times New Roman" pitchFamily="18" charset="0"/>
              </a:rPr>
              <a:t>✅ </a:t>
            </a:r>
            <a:r>
              <a:rPr lang="en-US" sz="2400" dirty="0">
                <a:latin typeface="Times New Roman" pitchFamily="18" charset="0"/>
                <a:cs typeface="Times New Roman" pitchFamily="18" charset="0"/>
              </a:rPr>
              <a:t>Session Termination: </a:t>
            </a:r>
            <a:r>
              <a:rPr lang="en-US" sz="2400" b="0" dirty="0">
                <a:latin typeface="Times New Roman" pitchFamily="18" charset="0"/>
                <a:cs typeface="Times New Roman" pitchFamily="18" charset="0"/>
              </a:rPr>
              <a:t>Ends the session securely when you log out or after a timeout due to inactivity.</a:t>
            </a:r>
          </a:p>
          <a:p>
            <a:endParaRPr lang="en-US" sz="2400" dirty="0"/>
          </a:p>
        </p:txBody>
      </p:sp>
    </p:spTree>
  </p:cSld>
  <p:clrMapOvr>
    <a:masterClrMapping/>
  </p:clrMapOvr>
  <p:transition>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anchorCtr="0" compatLnSpc="1">
            <a:prstTxWarp prst="textNoShape">
              <a:avLst/>
            </a:prstTxWarp>
          </a:bodyPr>
          <a:lstStyle/>
          <a:p>
            <a:pPr eaLnBrk="1" hangingPunct="1">
              <a:defRPr/>
            </a:pPr>
            <a:r>
              <a:rPr lang="en-US" altLang="zh-TW" dirty="0">
                <a:effectLst>
                  <a:outerShdw blurRad="38100" dist="38100" dir="2700000" algn="tl">
                    <a:srgbClr val="C0C0C0"/>
                  </a:outerShdw>
                </a:effectLst>
              </a:rPr>
              <a:t>Layer 6: Presentation Layer</a:t>
            </a:r>
            <a:endParaRPr lang="zh-TW" altLang="en-US" dirty="0">
              <a:effectLst>
                <a:outerShdw blurRad="38100" dist="38100" dir="2700000" algn="tl">
                  <a:srgbClr val="C0C0C0"/>
                </a:outerShdw>
              </a:effectLst>
            </a:endParaRPr>
          </a:p>
        </p:txBody>
      </p:sp>
      <p:sp>
        <p:nvSpPr>
          <p:cNvPr id="20484" name="Slide Number Placeholder 3"/>
          <p:cNvSpPr>
            <a:spLocks noGrp="1"/>
          </p:cNvSpPr>
          <p:nvPr>
            <p:ph type="sldNum" sz="quarter" idx="4294967295"/>
          </p:nvPr>
        </p:nvSpPr>
        <p:spPr bwMode="auto">
          <a:xfrm>
            <a:off x="8613775" y="6305550"/>
            <a:ext cx="457200" cy="476250"/>
          </a:xfrm>
          <a:prstGeom prst="rect">
            <a:avLst/>
          </a:prstGeom>
          <a:noFill/>
          <a:ln>
            <a:miter lim="800000"/>
            <a:headEnd/>
            <a:tailEnd/>
          </a:ln>
        </p:spPr>
        <p:txBody>
          <a:bodyPr/>
          <a:lstStyle/>
          <a:p>
            <a:fld id="{C33A3DDC-835C-4EA1-BE27-06CBC24791A8}" type="slidenum">
              <a:rPr lang="zh-TW" altLang="en-US" smtClean="0"/>
              <a:pPr/>
              <a:t>72</a:t>
            </a:fld>
            <a:endParaRPr lang="zh-TW" altLang="en-US"/>
          </a:p>
        </p:txBody>
      </p:sp>
      <p:pic>
        <p:nvPicPr>
          <p:cNvPr id="6" name="Picture 5" descr="OSI Model"/>
          <p:cNvPicPr/>
          <p:nvPr/>
        </p:nvPicPr>
        <p:blipFill>
          <a:blip r:embed="rId3"/>
          <a:srcRect/>
          <a:stretch>
            <a:fillRect/>
          </a:stretch>
        </p:blipFill>
        <p:spPr bwMode="auto">
          <a:xfrm>
            <a:off x="152400" y="1524000"/>
            <a:ext cx="8839200" cy="3276600"/>
          </a:xfrm>
          <a:prstGeom prst="rect">
            <a:avLst/>
          </a:prstGeom>
          <a:noFill/>
          <a:ln w="9525">
            <a:noFill/>
            <a:miter lim="800000"/>
            <a:headEnd/>
            <a:tailEnd/>
          </a:ln>
        </p:spPr>
      </p:pic>
      <p:sp>
        <p:nvSpPr>
          <p:cNvPr id="7" name="TextBox 6"/>
          <p:cNvSpPr txBox="1"/>
          <p:nvPr/>
        </p:nvSpPr>
        <p:spPr>
          <a:xfrm>
            <a:off x="0" y="5103674"/>
            <a:ext cx="3216201" cy="1477328"/>
          </a:xfrm>
          <a:prstGeom prst="rect">
            <a:avLst/>
          </a:prstGeom>
          <a:noFill/>
        </p:spPr>
        <p:txBody>
          <a:bodyPr wrap="none" rtlCol="0">
            <a:spAutoFit/>
          </a:bodyPr>
          <a:lstStyle/>
          <a:p>
            <a:r>
              <a:rPr lang="en-US" b="1" dirty="0"/>
              <a:t>Functions of Presentation layer:</a:t>
            </a:r>
          </a:p>
          <a:p>
            <a:pPr lvl="0"/>
            <a:r>
              <a:rPr lang="en-US" dirty="0"/>
              <a:t>Translation: </a:t>
            </a:r>
          </a:p>
          <a:p>
            <a:pPr lvl="0"/>
            <a:r>
              <a:rPr lang="en-US" dirty="0"/>
              <a:t> Encryption</a:t>
            </a:r>
          </a:p>
          <a:p>
            <a:pPr lvl="0"/>
            <a:r>
              <a:rPr lang="en-US" dirty="0"/>
              <a:t>Compression: </a:t>
            </a:r>
          </a:p>
          <a:p>
            <a:endParaRPr lang="en-US" dirty="0"/>
          </a:p>
        </p:txBody>
      </p:sp>
    </p:spTree>
  </p:cSld>
  <p:clrMapOvr>
    <a:masterClrMapping/>
  </p:clrMapOvr>
  <p:transition>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3999" cy="553998"/>
          </a:xfrm>
        </p:spPr>
        <p:txBody>
          <a:bodyPr/>
          <a:lstStyle/>
          <a:p>
            <a:r>
              <a:rPr lang="en-US" sz="3600" dirty="0">
                <a:latin typeface="Times New Roman" pitchFamily="18" charset="0"/>
                <a:cs typeface="Times New Roman" pitchFamily="18" charset="0"/>
              </a:rPr>
              <a:t>Real-World Example for Presentation Layer</a:t>
            </a:r>
          </a:p>
        </p:txBody>
      </p:sp>
      <p:sp>
        <p:nvSpPr>
          <p:cNvPr id="3" name="Text Placeholder 2"/>
          <p:cNvSpPr>
            <a:spLocks noGrp="1"/>
          </p:cNvSpPr>
          <p:nvPr>
            <p:ph type="body" idx="1"/>
          </p:nvPr>
        </p:nvSpPr>
        <p:spPr>
          <a:xfrm>
            <a:off x="0" y="1524000"/>
            <a:ext cx="9144000" cy="4431983"/>
          </a:xfrm>
        </p:spPr>
        <p:txBody>
          <a:bodyPr/>
          <a:lstStyle/>
          <a:p>
            <a:r>
              <a:rPr lang="en-US" sz="2400" dirty="0">
                <a:latin typeface="Times New Roman" pitchFamily="18" charset="0"/>
                <a:cs typeface="Times New Roman" pitchFamily="18" charset="0"/>
              </a:rPr>
              <a:t>Ex: </a:t>
            </a:r>
            <a:r>
              <a:rPr lang="en-US" sz="2400" b="0" dirty="0">
                <a:latin typeface="Times New Roman" pitchFamily="18" charset="0"/>
                <a:cs typeface="Times New Roman" pitchFamily="18" charset="0"/>
              </a:rPr>
              <a:t>Accessing a Secure Website (HTTPS)</a:t>
            </a:r>
          </a:p>
          <a:p>
            <a:endParaRPr lang="en-US" sz="2400" b="0" dirty="0">
              <a:latin typeface="Times New Roman" pitchFamily="18" charset="0"/>
              <a:cs typeface="Times New Roman" pitchFamily="18" charset="0"/>
            </a:endParaRPr>
          </a:p>
          <a:p>
            <a:r>
              <a:rPr lang="en-US" sz="2400" dirty="0">
                <a:latin typeface="Times New Roman" pitchFamily="18" charset="0"/>
                <a:cs typeface="Times New Roman" pitchFamily="18" charset="0"/>
              </a:rPr>
              <a:t>Key roles:</a:t>
            </a:r>
          </a:p>
          <a:p>
            <a:endParaRPr lang="en-US" sz="2400" b="0" dirty="0">
              <a:latin typeface="Times New Roman" pitchFamily="18" charset="0"/>
              <a:cs typeface="Times New Roman" pitchFamily="18" charset="0"/>
            </a:endParaRPr>
          </a:p>
          <a:p>
            <a:r>
              <a:rPr lang="en-US" sz="2400" b="0" dirty="0">
                <a:latin typeface="Times New Roman" pitchFamily="18" charset="0"/>
                <a:cs typeface="Times New Roman" pitchFamily="18" charset="0"/>
              </a:rPr>
              <a:t>✅ </a:t>
            </a:r>
            <a:r>
              <a:rPr lang="en-US" sz="2400" dirty="0">
                <a:latin typeface="Times New Roman" pitchFamily="18" charset="0"/>
                <a:cs typeface="Times New Roman" pitchFamily="18" charset="0"/>
              </a:rPr>
              <a:t>Encryption &amp; Decryption: </a:t>
            </a:r>
            <a:r>
              <a:rPr lang="en-US" sz="2400" b="0" dirty="0">
                <a:latin typeface="Times New Roman" pitchFamily="18" charset="0"/>
                <a:cs typeface="Times New Roman" pitchFamily="18" charset="0"/>
              </a:rPr>
              <a:t>It encrypts sensitive data (like passwords and credit card numbers) before sending it and decrypts it upon receipt to ensure privacy and security.</a:t>
            </a:r>
          </a:p>
          <a:p>
            <a:r>
              <a:rPr lang="en-US" sz="2400" b="0" dirty="0">
                <a:latin typeface="Times New Roman" pitchFamily="18" charset="0"/>
                <a:cs typeface="Times New Roman" pitchFamily="18" charset="0"/>
              </a:rPr>
              <a:t>✅ </a:t>
            </a:r>
            <a:r>
              <a:rPr lang="en-US" sz="2400" dirty="0">
                <a:latin typeface="Times New Roman" pitchFamily="18" charset="0"/>
                <a:cs typeface="Times New Roman" pitchFamily="18" charset="0"/>
              </a:rPr>
              <a:t>Data Translation</a:t>
            </a:r>
            <a:r>
              <a:rPr lang="en-US" sz="2400" b="0" dirty="0">
                <a:latin typeface="Times New Roman" pitchFamily="18" charset="0"/>
                <a:cs typeface="Times New Roman" pitchFamily="18" charset="0"/>
              </a:rPr>
              <a:t>: Converts data into a standard format (e.g., from binary to readable text or vice versa) that both systems can understand.</a:t>
            </a:r>
          </a:p>
          <a:p>
            <a:r>
              <a:rPr lang="en-US" sz="2400" b="0" dirty="0">
                <a:latin typeface="Times New Roman" pitchFamily="18" charset="0"/>
                <a:cs typeface="Times New Roman" pitchFamily="18" charset="0"/>
              </a:rPr>
              <a:t>✅ </a:t>
            </a:r>
            <a:r>
              <a:rPr lang="en-US" sz="2400" dirty="0">
                <a:latin typeface="Times New Roman" pitchFamily="18" charset="0"/>
                <a:cs typeface="Times New Roman" pitchFamily="18" charset="0"/>
              </a:rPr>
              <a:t>Data Compression: </a:t>
            </a:r>
            <a:r>
              <a:rPr lang="en-US" sz="2400" b="0" dirty="0">
                <a:latin typeface="Times New Roman" pitchFamily="18" charset="0"/>
                <a:cs typeface="Times New Roman" pitchFamily="18" charset="0"/>
              </a:rPr>
              <a:t>Reduces file sizes (e.g., images, videos) for faster transmission over the network.</a:t>
            </a:r>
          </a:p>
          <a:p>
            <a:endParaRPr lang="en-US" sz="2400" b="0" dirty="0">
              <a:latin typeface="Times New Roman" pitchFamily="18" charset="0"/>
              <a:cs typeface="Times New Roman" pitchFamily="18" charset="0"/>
            </a:endParaRPr>
          </a:p>
        </p:txBody>
      </p:sp>
    </p:spTree>
  </p:cSld>
  <p:clrMapOvr>
    <a:masterClrMapping/>
  </p:clrMapOvr>
  <p:transition>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OSI Model"/>
          <p:cNvPicPr/>
          <p:nvPr/>
        </p:nvPicPr>
        <p:blipFill>
          <a:blip r:embed="rId3"/>
          <a:srcRect/>
          <a:stretch>
            <a:fillRect/>
          </a:stretch>
        </p:blipFill>
        <p:spPr bwMode="auto">
          <a:xfrm>
            <a:off x="2057400" y="3276601"/>
            <a:ext cx="7010400" cy="3581400"/>
          </a:xfrm>
          <a:prstGeom prst="rect">
            <a:avLst/>
          </a:prstGeom>
          <a:noFill/>
          <a:ln w="9525">
            <a:noFill/>
            <a:miter lim="800000"/>
            <a:headEnd/>
            <a:tailEnd/>
          </a:ln>
        </p:spPr>
      </p:pic>
      <p:sp>
        <p:nvSpPr>
          <p:cNvPr id="2" name="Title 1"/>
          <p:cNvSpPr>
            <a:spLocks noGrp="1"/>
          </p:cNvSpPr>
          <p:nvPr>
            <p:ph type="title"/>
          </p:nvPr>
        </p:nvSpPr>
        <p:spPr/>
        <p:txBody>
          <a:bodyPr vert="horz" wrap="square" lIns="91440" tIns="45720" rIns="91440" bIns="45720" numCol="1" anchorCtr="0" compatLnSpc="1">
            <a:prstTxWarp prst="textNoShape">
              <a:avLst/>
            </a:prstTxWarp>
          </a:bodyPr>
          <a:lstStyle/>
          <a:p>
            <a:pPr eaLnBrk="1" hangingPunct="1">
              <a:defRPr/>
            </a:pPr>
            <a:r>
              <a:rPr lang="en-US" altLang="zh-TW" dirty="0">
                <a:effectLst>
                  <a:outerShdw blurRad="38100" dist="38100" dir="2700000" algn="tl">
                    <a:srgbClr val="C0C0C0"/>
                  </a:outerShdw>
                </a:effectLst>
              </a:rPr>
              <a:t>Layer 7: Application Layer</a:t>
            </a:r>
            <a:endParaRPr lang="zh-TW" altLang="en-US" dirty="0">
              <a:effectLst>
                <a:outerShdw blurRad="38100" dist="38100" dir="2700000" algn="tl">
                  <a:srgbClr val="C0C0C0"/>
                </a:outerShdw>
              </a:effectLst>
            </a:endParaRPr>
          </a:p>
        </p:txBody>
      </p:sp>
      <p:sp>
        <p:nvSpPr>
          <p:cNvPr id="21508" name="Slide Number Placeholder 3"/>
          <p:cNvSpPr>
            <a:spLocks noGrp="1"/>
          </p:cNvSpPr>
          <p:nvPr>
            <p:ph type="sldNum" sz="quarter" idx="4294967295"/>
          </p:nvPr>
        </p:nvSpPr>
        <p:spPr bwMode="auto">
          <a:xfrm>
            <a:off x="8613775" y="6305550"/>
            <a:ext cx="457200" cy="476250"/>
          </a:xfrm>
          <a:prstGeom prst="rect">
            <a:avLst/>
          </a:prstGeom>
          <a:noFill/>
          <a:ln>
            <a:miter lim="800000"/>
            <a:headEnd/>
            <a:tailEnd/>
          </a:ln>
        </p:spPr>
        <p:txBody>
          <a:bodyPr/>
          <a:lstStyle/>
          <a:p>
            <a:fld id="{90BF9762-202C-4042-AA2B-6071ACE02448}" type="slidenum">
              <a:rPr lang="zh-TW" altLang="en-US" smtClean="0"/>
              <a:pPr/>
              <a:t>74</a:t>
            </a:fld>
            <a:endParaRPr lang="zh-TW" altLang="en-US"/>
          </a:p>
        </p:txBody>
      </p:sp>
      <p:sp>
        <p:nvSpPr>
          <p:cNvPr id="5" name="Text Placeholder 4"/>
          <p:cNvSpPr>
            <a:spLocks noGrp="1"/>
          </p:cNvSpPr>
          <p:nvPr>
            <p:ph type="body" idx="1"/>
          </p:nvPr>
        </p:nvSpPr>
        <p:spPr>
          <a:xfrm>
            <a:off x="0" y="1886838"/>
            <a:ext cx="8615019" cy="2154436"/>
          </a:xfrm>
        </p:spPr>
        <p:txBody>
          <a:bodyPr/>
          <a:lstStyle/>
          <a:p>
            <a:r>
              <a:rPr lang="en-US" dirty="0"/>
              <a:t>Functions of Application layer:</a:t>
            </a:r>
          </a:p>
          <a:p>
            <a:pPr lvl="0"/>
            <a:r>
              <a:rPr lang="en-US" b="0" dirty="0"/>
              <a:t>File transfer, access, and management (FTAM) .</a:t>
            </a:r>
          </a:p>
          <a:p>
            <a:pPr lvl="0"/>
            <a:r>
              <a:rPr lang="en-US" b="0" dirty="0"/>
              <a:t>Mail services </a:t>
            </a:r>
          </a:p>
          <a:p>
            <a:pPr lvl="0"/>
            <a:r>
              <a:rPr lang="en-US" b="0" dirty="0"/>
              <a:t>Directory services </a:t>
            </a:r>
          </a:p>
          <a:p>
            <a:endParaRPr lang="en-US" dirty="0"/>
          </a:p>
        </p:txBody>
      </p:sp>
    </p:spTree>
  </p:cSld>
  <p:clrMapOvr>
    <a:masterClrMapping/>
  </p:clrMapOvr>
  <p:transition>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3999" cy="553998"/>
          </a:xfrm>
        </p:spPr>
        <p:txBody>
          <a:bodyPr/>
          <a:lstStyle/>
          <a:p>
            <a:r>
              <a:rPr lang="en-US" sz="3600" dirty="0">
                <a:latin typeface="Times New Roman" pitchFamily="18" charset="0"/>
                <a:cs typeface="Times New Roman" pitchFamily="18" charset="0"/>
              </a:rPr>
              <a:t>Real-World Example for Application Layer</a:t>
            </a:r>
          </a:p>
        </p:txBody>
      </p:sp>
      <p:sp>
        <p:nvSpPr>
          <p:cNvPr id="3" name="Text Placeholder 2"/>
          <p:cNvSpPr>
            <a:spLocks noGrp="1"/>
          </p:cNvSpPr>
          <p:nvPr>
            <p:ph type="body" idx="1"/>
          </p:nvPr>
        </p:nvSpPr>
        <p:spPr>
          <a:xfrm>
            <a:off x="0" y="1524000"/>
            <a:ext cx="9144000" cy="4924425"/>
          </a:xfrm>
        </p:spPr>
        <p:txBody>
          <a:bodyPr/>
          <a:lstStyle/>
          <a:p>
            <a:r>
              <a:rPr lang="en-US" sz="2400" dirty="0">
                <a:latin typeface="Times New Roman" pitchFamily="18" charset="0"/>
                <a:cs typeface="Times New Roman" pitchFamily="18" charset="0"/>
              </a:rPr>
              <a:t>Ex: </a:t>
            </a:r>
            <a:r>
              <a:rPr lang="en-US" sz="2400" b="0" dirty="0">
                <a:latin typeface="Times New Roman" pitchFamily="18" charset="0"/>
                <a:cs typeface="Times New Roman" pitchFamily="18" charset="0"/>
              </a:rPr>
              <a:t>Sending an Email Using Gmail or Outlook</a:t>
            </a:r>
          </a:p>
          <a:p>
            <a:endParaRPr lang="en-US" sz="2400" b="0" dirty="0">
              <a:latin typeface="Times New Roman" pitchFamily="18" charset="0"/>
              <a:cs typeface="Times New Roman" pitchFamily="18" charset="0"/>
            </a:endParaRPr>
          </a:p>
          <a:p>
            <a:r>
              <a:rPr lang="en-US" sz="2400" dirty="0">
                <a:latin typeface="Times New Roman" pitchFamily="18" charset="0"/>
                <a:cs typeface="Times New Roman" pitchFamily="18" charset="0"/>
              </a:rPr>
              <a:t>Key roles:</a:t>
            </a:r>
          </a:p>
          <a:p>
            <a:endParaRPr lang="en-US" sz="2400" dirty="0">
              <a:latin typeface="Times New Roman" pitchFamily="18" charset="0"/>
              <a:cs typeface="Times New Roman" pitchFamily="18" charset="0"/>
            </a:endParaRPr>
          </a:p>
          <a:p>
            <a:r>
              <a:rPr lang="en-US" sz="2400" b="0" dirty="0">
                <a:latin typeface="Times New Roman" pitchFamily="18" charset="0"/>
                <a:cs typeface="Times New Roman" pitchFamily="18" charset="0"/>
              </a:rPr>
              <a:t>✅ </a:t>
            </a:r>
            <a:r>
              <a:rPr lang="en-US" sz="2400" dirty="0">
                <a:latin typeface="Times New Roman" pitchFamily="18" charset="0"/>
                <a:cs typeface="Times New Roman" pitchFamily="18" charset="0"/>
              </a:rPr>
              <a:t>User Interface Support: </a:t>
            </a:r>
            <a:r>
              <a:rPr lang="en-US" sz="2400" b="0" dirty="0">
                <a:latin typeface="Times New Roman" pitchFamily="18" charset="0"/>
                <a:cs typeface="Times New Roman" pitchFamily="18" charset="0"/>
              </a:rPr>
              <a:t>Provides the interface (Gmail page or Outlook app) for users to compose, send, and receive emails.</a:t>
            </a:r>
          </a:p>
          <a:p>
            <a:r>
              <a:rPr lang="en-US" sz="2400" b="0" dirty="0">
                <a:latin typeface="Times New Roman" pitchFamily="18" charset="0"/>
                <a:cs typeface="Times New Roman" pitchFamily="18" charset="0"/>
              </a:rPr>
              <a:t>✅ </a:t>
            </a:r>
            <a:r>
              <a:rPr lang="en-US" sz="2400" dirty="0">
                <a:latin typeface="Times New Roman" pitchFamily="18" charset="0"/>
                <a:cs typeface="Times New Roman" pitchFamily="18" charset="0"/>
              </a:rPr>
              <a:t>Protocol Handling: </a:t>
            </a:r>
            <a:r>
              <a:rPr lang="en-US" sz="2400" b="0" dirty="0">
                <a:latin typeface="Times New Roman" pitchFamily="18" charset="0"/>
                <a:cs typeface="Times New Roman" pitchFamily="18" charset="0"/>
              </a:rPr>
              <a:t>Uses protocols like SMTP (Simple Mail Transfer Protocol) for sending and </a:t>
            </a:r>
            <a:r>
              <a:rPr lang="en-US" sz="1800" b="0" dirty="0">
                <a:latin typeface="Times New Roman" pitchFamily="18" charset="0"/>
                <a:cs typeface="Times New Roman" pitchFamily="18" charset="0"/>
              </a:rPr>
              <a:t>IMAP(</a:t>
            </a:r>
            <a:r>
              <a:rPr lang="en-US" sz="1800" dirty="0">
                <a:latin typeface="Times New Roman" pitchFamily="18" charset="0"/>
                <a:cs typeface="Times New Roman" pitchFamily="18" charset="0"/>
              </a:rPr>
              <a:t>Internet Message Access Protocol) </a:t>
            </a:r>
            <a:r>
              <a:rPr lang="en-US" sz="2400" b="0" dirty="0">
                <a:latin typeface="Times New Roman" pitchFamily="18" charset="0"/>
                <a:cs typeface="Times New Roman" pitchFamily="18" charset="0"/>
              </a:rPr>
              <a:t>/</a:t>
            </a:r>
            <a:r>
              <a:rPr lang="en-US" sz="1800" dirty="0">
                <a:latin typeface="Times New Roman" pitchFamily="18" charset="0"/>
                <a:cs typeface="Times New Roman" pitchFamily="18" charset="0"/>
              </a:rPr>
              <a:t>POP3(Post Office Protocol version 3</a:t>
            </a:r>
            <a:r>
              <a:rPr lang="en-US" sz="2400" dirty="0"/>
              <a:t>)</a:t>
            </a:r>
            <a:r>
              <a:rPr lang="en-US" sz="2400" b="0" dirty="0">
                <a:latin typeface="Times New Roman" pitchFamily="18" charset="0"/>
                <a:cs typeface="Times New Roman" pitchFamily="18" charset="0"/>
              </a:rPr>
              <a:t> for receiving emails.</a:t>
            </a:r>
          </a:p>
          <a:p>
            <a:r>
              <a:rPr lang="en-US" sz="2400" b="0" dirty="0">
                <a:latin typeface="Times New Roman" pitchFamily="18" charset="0"/>
                <a:cs typeface="Times New Roman" pitchFamily="18" charset="0"/>
              </a:rPr>
              <a:t>✅ </a:t>
            </a:r>
            <a:r>
              <a:rPr lang="en-US" sz="2400" dirty="0">
                <a:latin typeface="Times New Roman" pitchFamily="18" charset="0"/>
                <a:cs typeface="Times New Roman" pitchFamily="18" charset="0"/>
              </a:rPr>
              <a:t>Data Handling: </a:t>
            </a:r>
            <a:r>
              <a:rPr lang="en-US" sz="2400" b="0" dirty="0">
                <a:latin typeface="Times New Roman" pitchFamily="18" charset="0"/>
                <a:cs typeface="Times New Roman" pitchFamily="18" charset="0"/>
              </a:rPr>
              <a:t>Ensures that your email, attachments, and metadata are correctly formatted and understood by both sender and recipient applications.</a:t>
            </a:r>
          </a:p>
          <a:p>
            <a:endParaRPr lang="en-US" sz="2400" b="0" dirty="0">
              <a:latin typeface="Times New Roman" pitchFamily="18" charset="0"/>
              <a:cs typeface="Times New Roman" pitchFamily="18" charset="0"/>
            </a:endParaRPr>
          </a:p>
        </p:txBody>
      </p:sp>
    </p:spTree>
  </p:cSld>
  <p:clrMapOvr>
    <a:masterClrMapping/>
  </p:clrMapOvr>
  <p:transition>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OSI Model"/>
          <p:cNvPicPr/>
          <p:nvPr/>
        </p:nvPicPr>
        <p:blipFill>
          <a:blip r:embed="rId2"/>
          <a:srcRect/>
          <a:stretch>
            <a:fillRect/>
          </a:stretch>
        </p:blipFill>
        <p:spPr bwMode="auto">
          <a:xfrm>
            <a:off x="228600" y="1600200"/>
            <a:ext cx="8763000" cy="5029200"/>
          </a:xfrm>
          <a:prstGeom prst="rect">
            <a:avLst/>
          </a:prstGeom>
          <a:noFill/>
          <a:ln w="9525">
            <a:noFill/>
            <a:miter lim="800000"/>
            <a:headEnd/>
            <a:tailEnd/>
          </a:ln>
        </p:spPr>
      </p:pic>
    </p:spTree>
  </p:cSld>
  <p:clrMapOvr>
    <a:masterClrMapping/>
  </p:clrMapOvr>
  <p:transition>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01-OSI_LAYER.gif"/>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transition>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201"/>
            <a:ext cx="9143999" cy="777799"/>
          </a:xfrm>
        </p:spPr>
        <p:txBody>
          <a:bodyPr/>
          <a:lstStyle/>
          <a:p>
            <a:r>
              <a:rPr lang="en-US" dirty="0"/>
              <a:t>Every time you make a video call:</a:t>
            </a:r>
            <a:br>
              <a:rPr lang="en-US" dirty="0"/>
            </a:br>
            <a:endParaRPr lang="en-US" dirty="0"/>
          </a:p>
        </p:txBody>
      </p:sp>
      <p:sp>
        <p:nvSpPr>
          <p:cNvPr id="3" name="Text Placeholder 2"/>
          <p:cNvSpPr>
            <a:spLocks noGrp="1"/>
          </p:cNvSpPr>
          <p:nvPr>
            <p:ph type="body" idx="1"/>
          </p:nvPr>
        </p:nvSpPr>
        <p:spPr>
          <a:xfrm>
            <a:off x="0" y="1886838"/>
            <a:ext cx="9144000" cy="4308872"/>
          </a:xfrm>
        </p:spPr>
        <p:txBody>
          <a:bodyPr/>
          <a:lstStyle/>
          <a:p>
            <a:r>
              <a:rPr lang="en-US" dirty="0">
                <a:latin typeface="Times New Roman" pitchFamily="18" charset="0"/>
                <a:cs typeface="Times New Roman" pitchFamily="18" charset="0"/>
              </a:rPr>
              <a:t>Layer 7</a:t>
            </a:r>
            <a:r>
              <a:rPr lang="en-US" b="0" dirty="0">
                <a:latin typeface="Times New Roman" pitchFamily="18" charset="0"/>
                <a:cs typeface="Times New Roman" pitchFamily="18" charset="0"/>
              </a:rPr>
              <a:t>:lets you click “Call”(Application Layer)</a:t>
            </a:r>
          </a:p>
          <a:p>
            <a:r>
              <a:rPr lang="en-US" dirty="0">
                <a:latin typeface="Times New Roman" pitchFamily="18" charset="0"/>
                <a:cs typeface="Times New Roman" pitchFamily="18" charset="0"/>
              </a:rPr>
              <a:t>Layer 6</a:t>
            </a:r>
            <a:r>
              <a:rPr lang="en-US" b="0" dirty="0">
                <a:latin typeface="Times New Roman" pitchFamily="18" charset="0"/>
                <a:cs typeface="Times New Roman" pitchFamily="18" charset="0"/>
              </a:rPr>
              <a:t>:makes sure it’s secure and compressed(Presentation Layer)</a:t>
            </a:r>
          </a:p>
          <a:p>
            <a:r>
              <a:rPr lang="en-US" dirty="0">
                <a:latin typeface="Times New Roman" pitchFamily="18" charset="0"/>
                <a:cs typeface="Times New Roman" pitchFamily="18" charset="0"/>
              </a:rPr>
              <a:t>Layer 5</a:t>
            </a:r>
            <a:r>
              <a:rPr lang="en-US" b="0" dirty="0">
                <a:latin typeface="Times New Roman" pitchFamily="18" charset="0"/>
                <a:cs typeface="Times New Roman" pitchFamily="18" charset="0"/>
              </a:rPr>
              <a:t>:keeps the call going(Session Layer)</a:t>
            </a:r>
          </a:p>
          <a:p>
            <a:r>
              <a:rPr lang="en-US" dirty="0">
                <a:latin typeface="Times New Roman" pitchFamily="18" charset="0"/>
                <a:cs typeface="Times New Roman" pitchFamily="18" charset="0"/>
              </a:rPr>
              <a:t>Layer 4</a:t>
            </a:r>
            <a:r>
              <a:rPr lang="en-US" b="0" dirty="0">
                <a:latin typeface="Times New Roman" pitchFamily="18" charset="0"/>
                <a:cs typeface="Times New Roman" pitchFamily="18" charset="0"/>
              </a:rPr>
              <a:t>:ensures smooth transmission(Transport Layer)</a:t>
            </a:r>
          </a:p>
          <a:p>
            <a:r>
              <a:rPr lang="en-US" dirty="0">
                <a:latin typeface="Times New Roman" pitchFamily="18" charset="0"/>
                <a:cs typeface="Times New Roman" pitchFamily="18" charset="0"/>
              </a:rPr>
              <a:t>Layer 3</a:t>
            </a:r>
            <a:r>
              <a:rPr lang="en-US" b="0" dirty="0">
                <a:latin typeface="Times New Roman" pitchFamily="18" charset="0"/>
                <a:cs typeface="Times New Roman" pitchFamily="18" charset="0"/>
              </a:rPr>
              <a:t>:finds the best path(Network Layer)</a:t>
            </a:r>
          </a:p>
          <a:p>
            <a:r>
              <a:rPr lang="en-US" dirty="0">
                <a:latin typeface="Times New Roman" pitchFamily="18" charset="0"/>
                <a:cs typeface="Times New Roman" pitchFamily="18" charset="0"/>
              </a:rPr>
              <a:t>Layer 2</a:t>
            </a:r>
            <a:r>
              <a:rPr lang="en-US" b="0" dirty="0">
                <a:latin typeface="Times New Roman" pitchFamily="18" charset="0"/>
                <a:cs typeface="Times New Roman" pitchFamily="18" charset="0"/>
              </a:rPr>
              <a:t>:handles local delivery(Data Link Layer)</a:t>
            </a:r>
          </a:p>
          <a:p>
            <a:r>
              <a:rPr lang="en-US" dirty="0">
                <a:latin typeface="Times New Roman" pitchFamily="18" charset="0"/>
                <a:cs typeface="Times New Roman" pitchFamily="18" charset="0"/>
              </a:rPr>
              <a:t>Layer 1</a:t>
            </a:r>
            <a:r>
              <a:rPr lang="en-US" b="0" dirty="0">
                <a:latin typeface="Times New Roman" pitchFamily="18" charset="0"/>
                <a:cs typeface="Times New Roman" pitchFamily="18" charset="0"/>
              </a:rPr>
              <a:t>:physically sends your voice and video as signals(Physical Layer)</a:t>
            </a:r>
          </a:p>
          <a:p>
            <a:endParaRPr lang="en-US" dirty="0"/>
          </a:p>
        </p:txBody>
      </p:sp>
    </p:spTree>
  </p:cSld>
  <p:clrMapOvr>
    <a:masterClrMapping/>
  </p:clrMapOvr>
  <p:transition>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anchorCtr="0" compatLnSpc="1">
            <a:prstTxWarp prst="textNoShape">
              <a:avLst/>
            </a:prstTxWarp>
          </a:bodyPr>
          <a:lstStyle/>
          <a:p>
            <a:pPr eaLnBrk="1" hangingPunct="1">
              <a:defRPr/>
            </a:pPr>
            <a:r>
              <a:rPr lang="en-US" altLang="zh-TW">
                <a:effectLst>
                  <a:outerShdw blurRad="38100" dist="38100" dir="2700000" algn="tl">
                    <a:srgbClr val="C0C0C0"/>
                  </a:outerShdw>
                </a:effectLst>
              </a:rPr>
              <a:t>Introduction TCP/IP</a:t>
            </a:r>
            <a:endParaRPr lang="zh-TW" altLang="en-US">
              <a:effectLst>
                <a:outerShdw blurRad="38100" dist="38100" dir="2700000" algn="tl">
                  <a:srgbClr val="C0C0C0"/>
                </a:outerShdw>
              </a:effectLst>
            </a:endParaRPr>
          </a:p>
        </p:txBody>
      </p:sp>
      <p:sp>
        <p:nvSpPr>
          <p:cNvPr id="25603" name="Content Placeholder 2"/>
          <p:cNvSpPr>
            <a:spLocks noGrp="1"/>
          </p:cNvSpPr>
          <p:nvPr>
            <p:ph idx="1"/>
          </p:nvPr>
        </p:nvSpPr>
        <p:spPr/>
        <p:txBody>
          <a:bodyPr/>
          <a:lstStyle/>
          <a:p>
            <a:pPr eaLnBrk="1" hangingPunct="1"/>
            <a:r>
              <a:rPr lang="en-US" altLang="zh-TW" sz="3000" b="0" dirty="0"/>
              <a:t>The Internet Protocol Suite (commonly known as TCP/IP) is the set of communications protocols used for the Internet and other similar networks. </a:t>
            </a:r>
          </a:p>
          <a:p>
            <a:pPr eaLnBrk="1" hangingPunct="1"/>
            <a:r>
              <a:rPr lang="en-US" altLang="zh-TW" sz="3000" b="0" dirty="0"/>
              <a:t>It is named from two of the most important protocols in it: </a:t>
            </a:r>
          </a:p>
          <a:p>
            <a:pPr lvl="1" eaLnBrk="1" hangingPunct="1">
              <a:buFont typeface="Arial" pitchFamily="34" charset="0"/>
              <a:buChar char="•"/>
            </a:pPr>
            <a:r>
              <a:rPr lang="en-US" altLang="zh-TW" sz="2600" dirty="0"/>
              <a:t> the Transmission Control Protocol (TCP) and</a:t>
            </a:r>
          </a:p>
          <a:p>
            <a:pPr lvl="1" eaLnBrk="1" hangingPunct="1">
              <a:buFont typeface="Arial" pitchFamily="34" charset="0"/>
              <a:buChar char="•"/>
            </a:pPr>
            <a:r>
              <a:rPr lang="en-US" altLang="zh-TW" sz="2600" dirty="0"/>
              <a:t> the Internet Protocol (IP), which were the first two networking protocols defined in this standard.</a:t>
            </a:r>
            <a:endParaRPr lang="zh-TW" altLang="en-US" sz="2600" dirty="0"/>
          </a:p>
        </p:txBody>
      </p:sp>
      <p:sp>
        <p:nvSpPr>
          <p:cNvPr id="25604" name="Slide Number Placeholder 3"/>
          <p:cNvSpPr>
            <a:spLocks noGrp="1"/>
          </p:cNvSpPr>
          <p:nvPr>
            <p:ph type="sldNum" sz="quarter" idx="4294967295"/>
          </p:nvPr>
        </p:nvSpPr>
        <p:spPr bwMode="auto">
          <a:xfrm>
            <a:off x="8613775" y="6305550"/>
            <a:ext cx="457200" cy="476250"/>
          </a:xfrm>
          <a:prstGeom prst="rect">
            <a:avLst/>
          </a:prstGeom>
          <a:noFill/>
          <a:ln>
            <a:miter lim="800000"/>
            <a:headEnd/>
            <a:tailEnd/>
          </a:ln>
        </p:spPr>
        <p:txBody>
          <a:bodyPr/>
          <a:lstStyle/>
          <a:p>
            <a:fld id="{C9F1C042-190B-4D3D-BB1E-8766EA372E03}" type="slidenum">
              <a:rPr lang="zh-TW" altLang="en-US" smtClean="0"/>
              <a:pPr/>
              <a:t>79</a:t>
            </a:fld>
            <a:endParaRPr lang="zh-TW" altLang="en-US"/>
          </a:p>
        </p:txBody>
      </p:sp>
    </p:spTree>
  </p:cSld>
  <p:clrMapOvr>
    <a:masterClrMapping/>
  </p:clrMapOvr>
  <p:transition>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anchorCtr="0" compatLnSpc="1">
            <a:prstTxWarp prst="textNoShape">
              <a:avLst/>
            </a:prstTxWarp>
          </a:bodyPr>
          <a:lstStyle/>
          <a:p>
            <a:pPr eaLnBrk="1" hangingPunct="1">
              <a:defRPr/>
            </a:pPr>
            <a:r>
              <a:rPr lang="en-US" altLang="zh-TW">
                <a:effectLst>
                  <a:outerShdw blurRad="38100" dist="38100" dir="2700000" algn="tl">
                    <a:srgbClr val="C0C0C0"/>
                  </a:outerShdw>
                </a:effectLst>
              </a:rPr>
              <a:t>TCP/IP Layers</a:t>
            </a:r>
            <a:endParaRPr lang="zh-TW" altLang="en-US">
              <a:effectLst>
                <a:outerShdw blurRad="38100" dist="38100" dir="2700000" algn="tl">
                  <a:srgbClr val="C0C0C0"/>
                </a:outerShdw>
              </a:effectLst>
            </a:endParaRPr>
          </a:p>
        </p:txBody>
      </p:sp>
      <p:graphicFrame>
        <p:nvGraphicFramePr>
          <p:cNvPr id="5" name="Content Placeholder 4"/>
          <p:cNvGraphicFramePr>
            <a:graphicFrameLocks noGrp="1"/>
          </p:cNvGraphicFramePr>
          <p:nvPr>
            <p:ph idx="1"/>
          </p:nvPr>
        </p:nvGraphicFramePr>
        <p:xfrm>
          <a:off x="381000" y="1676400"/>
          <a:ext cx="8332788" cy="3472501"/>
        </p:xfrm>
        <a:graphic>
          <a:graphicData uri="http://schemas.openxmlformats.org/drawingml/2006/table">
            <a:tbl>
              <a:tblPr/>
              <a:tblGrid>
                <a:gridCol w="4166394">
                  <a:extLst>
                    <a:ext uri="{9D8B030D-6E8A-4147-A177-3AD203B41FA5}">
                      <a16:colId xmlns:a16="http://schemas.microsoft.com/office/drawing/2014/main" val="20000"/>
                    </a:ext>
                  </a:extLst>
                </a:gridCol>
                <a:gridCol w="4166394">
                  <a:extLst>
                    <a:ext uri="{9D8B030D-6E8A-4147-A177-3AD203B41FA5}">
                      <a16:colId xmlns:a16="http://schemas.microsoft.com/office/drawing/2014/main" val="20001"/>
                    </a:ext>
                  </a:extLst>
                </a:gridCol>
              </a:tblGrid>
              <a:tr h="1444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dirty="0">
                          <a:ln>
                            <a:noFill/>
                          </a:ln>
                          <a:solidFill>
                            <a:srgbClr val="FFFFFF"/>
                          </a:solidFill>
                          <a:effectLst/>
                          <a:latin typeface="Gill Sans MT" pitchFamily="34" charset="0"/>
                          <a:ea typeface="新細明體" charset="-120"/>
                        </a:rPr>
                        <a:t>OSI</a:t>
                      </a:r>
                      <a:endParaRPr kumimoji="0" lang="zh-TW" altLang="en-US" sz="1800" b="1" i="0" u="none" strike="noStrike" cap="none" normalizeH="0" baseline="0" dirty="0">
                        <a:ln>
                          <a:noFill/>
                        </a:ln>
                        <a:solidFill>
                          <a:srgbClr val="FFFFFF"/>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a:ln>
                            <a:noFill/>
                          </a:ln>
                          <a:solidFill>
                            <a:srgbClr val="FFFFFF"/>
                          </a:solidFill>
                          <a:effectLst/>
                          <a:latin typeface="Gill Sans MT" pitchFamily="34" charset="0"/>
                          <a:ea typeface="新細明體" charset="-120"/>
                        </a:rPr>
                        <a:t>TCP/IP</a:t>
                      </a:r>
                      <a:endParaRPr kumimoji="0" lang="zh-TW" altLang="en-US" sz="1800" b="1" i="0" u="none" strike="noStrike" cap="none" normalizeH="0" baseline="0">
                        <a:ln>
                          <a:noFill/>
                        </a:ln>
                        <a:solidFill>
                          <a:srgbClr val="FFFFFF"/>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921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新細明體" charset="-120"/>
                        </a:rPr>
                        <a:t>Application Layer</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Gill Sans MT" pitchFamily="34" charset="0"/>
                          <a:ea typeface="新細明體" charset="-120"/>
                        </a:rPr>
                        <a:t>Application Layer</a:t>
                      </a:r>
                      <a:r>
                        <a:rPr kumimoji="0" lang="en-US" sz="1800" b="0" i="0" u="none" strike="noStrike" cap="none" normalizeH="0" baseline="0" dirty="0">
                          <a:ln>
                            <a:noFill/>
                          </a:ln>
                          <a:solidFill>
                            <a:srgbClr val="000000"/>
                          </a:solidFill>
                          <a:effectLst/>
                          <a:latin typeface="新細明體" charset="-120"/>
                          <a:ea typeface="新細明體" charset="-120"/>
                        </a:rPr>
                        <a:t>　</a:t>
                      </a:r>
                      <a:br>
                        <a:rPr kumimoji="0" lang="zh-TW" altLang="en-US" sz="1800" b="0" i="0" u="none" strike="noStrike" cap="none" normalizeH="0" baseline="0" dirty="0">
                          <a:ln>
                            <a:noFill/>
                          </a:ln>
                          <a:solidFill>
                            <a:srgbClr val="000000"/>
                          </a:solidFill>
                          <a:effectLst/>
                          <a:latin typeface="新細明體" charset="-120"/>
                          <a:ea typeface="微軟正黑體" pitchFamily="34" charset="-120"/>
                        </a:rPr>
                      </a:br>
                      <a:r>
                        <a:rPr kumimoji="0" lang="en-US" altLang="zh-TW" sz="1800" b="0" i="0" u="none" strike="noStrike" cap="none" normalizeH="0" baseline="0" dirty="0">
                          <a:ln>
                            <a:noFill/>
                          </a:ln>
                          <a:solidFill>
                            <a:srgbClr val="000000"/>
                          </a:solidFill>
                          <a:effectLst/>
                          <a:latin typeface="新細明體" charset="-120"/>
                          <a:ea typeface="新細明體" charset="-120"/>
                        </a:rPr>
                        <a:t>TELNET, FTP, SMTP,  DNS..</a:t>
                      </a:r>
                      <a:endParaRPr kumimoji="0" lang="en-US" altLang="zh-TW" sz="1800" b="0" i="0" u="none" strike="noStrike" cap="none" normalizeH="0" baseline="0" dirty="0">
                        <a:ln>
                          <a:noFill/>
                        </a:ln>
                        <a:solidFill>
                          <a:srgbClr val="000000"/>
                        </a:solidFill>
                        <a:effectLst/>
                        <a:latin typeface="Gill Sans MT" pitchFamily="34" charset="0"/>
                        <a:ea typeface="新細明體"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10001"/>
                  </a:ext>
                </a:extLst>
              </a:tr>
              <a:tr h="3921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新細明體" charset="-120"/>
                        </a:rPr>
                        <a:t>Presentation Layer</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vMerge="1">
                  <a:txBody>
                    <a:bodyPr/>
                    <a:lstStyle/>
                    <a:p>
                      <a:endParaRPr lang="en-US"/>
                    </a:p>
                  </a:txBody>
                  <a:tcPr/>
                </a:tc>
                <a:extLst>
                  <a:ext uri="{0D108BD9-81ED-4DB2-BD59-A6C34878D82A}">
                    <a16:rowId xmlns:a16="http://schemas.microsoft.com/office/drawing/2014/main" val="10002"/>
                  </a:ext>
                </a:extLst>
              </a:tr>
              <a:tr h="3921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新細明體" charset="-120"/>
                        </a:rPr>
                        <a:t>Session Layer</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vMerge="1">
                  <a:txBody>
                    <a:bodyPr/>
                    <a:lstStyle/>
                    <a:p>
                      <a:endParaRPr lang="en-US"/>
                    </a:p>
                  </a:txBody>
                  <a:tcPr/>
                </a:tc>
                <a:extLst>
                  <a:ext uri="{0D108BD9-81ED-4DB2-BD59-A6C34878D82A}">
                    <a16:rowId xmlns:a16="http://schemas.microsoft.com/office/drawing/2014/main" val="10003"/>
                  </a:ext>
                </a:extLst>
              </a:tr>
              <a:tr h="5730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新細明體" charset="-120"/>
                        </a:rPr>
                        <a:t> Transport Layer</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新細明體" charset="-120"/>
                        </a:rPr>
                        <a:t>Transport Layer</a:t>
                      </a:r>
                      <a:r>
                        <a:rPr kumimoji="0" lang="en-US" sz="1800" b="0" i="0" u="none" strike="noStrike" cap="none" normalizeH="0" baseline="0">
                          <a:ln>
                            <a:noFill/>
                          </a:ln>
                          <a:solidFill>
                            <a:srgbClr val="000000"/>
                          </a:solidFill>
                          <a:effectLst/>
                          <a:latin typeface="新細明體" charset="-120"/>
                          <a:ea typeface="新細明體" charset="-120"/>
                        </a:rPr>
                        <a:t>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100" b="0" i="0" u="none" strike="noStrike" cap="none" normalizeH="0" baseline="0">
                          <a:ln>
                            <a:noFill/>
                          </a:ln>
                          <a:solidFill>
                            <a:srgbClr val="000000"/>
                          </a:solidFill>
                          <a:effectLst/>
                          <a:latin typeface="新細明體" charset="-120"/>
                          <a:ea typeface="新細明體" charset="-120"/>
                        </a:rPr>
                        <a:t>TCP , UDP , ...</a:t>
                      </a:r>
                      <a:endParaRPr kumimoji="0" lang="en-US" altLang="zh-TW" sz="1800" b="0" i="0" u="none" strike="noStrike" cap="none" normalizeH="0" baseline="0">
                        <a:ln>
                          <a:noFill/>
                        </a:ln>
                        <a:solidFill>
                          <a:srgbClr val="000000"/>
                        </a:solidFill>
                        <a:effectLst/>
                        <a:latin typeface="Gill Sans MT" pitchFamily="34" charset="0"/>
                        <a:ea typeface="新細明體"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10004"/>
                  </a:ext>
                </a:extLst>
              </a:tr>
              <a:tr h="5730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新細明體" charset="-120"/>
                        </a:rPr>
                        <a:t>Network Layer</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Gill Sans MT" pitchFamily="34" charset="0"/>
                          <a:ea typeface="新細明體" charset="-120"/>
                        </a:rPr>
                        <a:t> Internet Layer</a:t>
                      </a:r>
                      <a:r>
                        <a:rPr kumimoji="0" lang="en-US" sz="1800" b="0" i="0" u="none" strike="noStrike" cap="none" normalizeH="0" baseline="0" dirty="0">
                          <a:ln>
                            <a:noFill/>
                          </a:ln>
                          <a:solidFill>
                            <a:srgbClr val="000000"/>
                          </a:solidFill>
                          <a:effectLst/>
                          <a:latin typeface="新細明體" charset="-120"/>
                          <a:ea typeface="新細明體" charset="-120"/>
                        </a:rPr>
                        <a:t>　</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TW" altLang="en-US" sz="1100" b="0" i="0" u="none" strike="noStrike" cap="none" normalizeH="0" baseline="0" dirty="0">
                          <a:ln>
                            <a:noFill/>
                          </a:ln>
                          <a:solidFill>
                            <a:srgbClr val="000000"/>
                          </a:solidFill>
                          <a:effectLst/>
                          <a:latin typeface="Times New Roman" pitchFamily="18" charset="0"/>
                          <a:ea typeface="微軟正黑體" pitchFamily="34" charset="-120"/>
                        </a:rPr>
                        <a:t> </a:t>
                      </a:r>
                      <a:r>
                        <a:rPr kumimoji="0" lang="en-US" altLang="zh-TW" sz="1100" b="0" i="0" u="none" strike="noStrike" cap="none" normalizeH="0" baseline="0" dirty="0">
                          <a:ln>
                            <a:noFill/>
                          </a:ln>
                          <a:solidFill>
                            <a:srgbClr val="000000"/>
                          </a:solidFill>
                          <a:effectLst/>
                          <a:latin typeface="Times New Roman" pitchFamily="18" charset="0"/>
                          <a:ea typeface="新細明體" charset="-120"/>
                        </a:rPr>
                        <a:t>IP  ...</a:t>
                      </a:r>
                      <a:endParaRPr kumimoji="0" lang="en-US" altLang="zh-TW" sz="1800" b="0" i="0" u="none" strike="noStrike" cap="none" normalizeH="0" baseline="0" dirty="0">
                        <a:ln>
                          <a:noFill/>
                        </a:ln>
                        <a:solidFill>
                          <a:srgbClr val="000000"/>
                        </a:solidFill>
                        <a:effectLst/>
                        <a:latin typeface="Gill Sans MT" pitchFamily="34" charset="0"/>
                        <a:ea typeface="新細明體"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extLst>
                  <a:ext uri="{0D108BD9-81ED-4DB2-BD59-A6C34878D82A}">
                    <a16:rowId xmlns:a16="http://schemas.microsoft.com/office/drawing/2014/main" val="10005"/>
                  </a:ext>
                </a:extLst>
              </a:tr>
              <a:tr h="3921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a:ln>
                            <a:noFill/>
                          </a:ln>
                          <a:solidFill>
                            <a:srgbClr val="000000"/>
                          </a:solidFill>
                          <a:effectLst/>
                          <a:latin typeface="Gill Sans MT" pitchFamily="34" charset="0"/>
                          <a:ea typeface="新細明體" charset="-120"/>
                        </a:rPr>
                        <a:t>Data Link Layer</a:t>
                      </a:r>
                      <a:endParaRPr kumimoji="0" lang="zh-TW" altLang="en-US" sz="1800" b="0" i="0" u="none" strike="noStrike" cap="none" normalizeH="0" baseline="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Gill Sans MT" pitchFamily="34" charset="0"/>
                          <a:ea typeface="新細明體" charset="-120"/>
                        </a:rPr>
                        <a:t>Host to Network Layer </a:t>
                      </a:r>
                      <a:br>
                        <a:rPr kumimoji="0" lang="zh-TW" altLang="en-US" sz="1100" b="0" i="0" u="none" strike="noStrike" cap="none" normalizeH="0" baseline="0" dirty="0">
                          <a:ln>
                            <a:noFill/>
                          </a:ln>
                          <a:solidFill>
                            <a:srgbClr val="000000"/>
                          </a:solidFill>
                          <a:effectLst/>
                          <a:latin typeface="Times New Roman" pitchFamily="18" charset="0"/>
                          <a:ea typeface="微軟正黑體" pitchFamily="34" charset="-120"/>
                        </a:rPr>
                      </a:br>
                      <a:r>
                        <a:rPr kumimoji="0" lang="en-US" altLang="zh-TW" sz="1100" b="0" i="0" u="none" strike="noStrike" cap="none" normalizeH="0" baseline="0" dirty="0">
                          <a:ln>
                            <a:noFill/>
                          </a:ln>
                          <a:solidFill>
                            <a:srgbClr val="000000"/>
                          </a:solidFill>
                          <a:effectLst/>
                          <a:latin typeface="Times New Roman" pitchFamily="18" charset="0"/>
                          <a:ea typeface="新細明體" charset="-120"/>
                        </a:rPr>
                        <a:t>Ethernet, Frames Relay, Token Ring</a:t>
                      </a:r>
                      <a:endParaRPr kumimoji="0" lang="en-US" altLang="zh-TW" sz="1800" b="0" i="0" u="none" strike="noStrike" cap="none" normalizeH="0" baseline="0" dirty="0">
                        <a:ln>
                          <a:noFill/>
                        </a:ln>
                        <a:solidFill>
                          <a:srgbClr val="000000"/>
                        </a:solidFill>
                        <a:effectLst/>
                        <a:latin typeface="Gill Sans MT" pitchFamily="34" charset="0"/>
                        <a:ea typeface="新細明體"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F1"/>
                    </a:solidFill>
                  </a:tcPr>
                </a:tc>
                <a:extLst>
                  <a:ext uri="{0D108BD9-81ED-4DB2-BD59-A6C34878D82A}">
                    <a16:rowId xmlns:a16="http://schemas.microsoft.com/office/drawing/2014/main" val="10006"/>
                  </a:ext>
                </a:extLst>
              </a:tr>
              <a:tr h="3921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00"/>
                          </a:solidFill>
                          <a:effectLst/>
                          <a:latin typeface="Gill Sans MT" pitchFamily="34" charset="0"/>
                          <a:ea typeface="新細明體" charset="-120"/>
                        </a:rPr>
                        <a:t>Physical Layer</a:t>
                      </a:r>
                      <a:endParaRPr kumimoji="0" lang="zh-TW" altLang="en-US" sz="1800" b="0" i="0" u="none" strike="noStrike" cap="none" normalizeH="0" baseline="0" dirty="0">
                        <a:ln>
                          <a:noFill/>
                        </a:ln>
                        <a:solidFill>
                          <a:srgbClr val="000000"/>
                        </a:solidFill>
                        <a:effectLst/>
                        <a:latin typeface="Gill Sans MT" pitchFamily="34" charset="0"/>
                        <a:ea typeface="微軟正黑體" pitchFamily="34" charset="-120"/>
                      </a:endParaRP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CE1"/>
                    </a:solidFill>
                  </a:tcPr>
                </a:tc>
                <a:tc vMerge="1">
                  <a:txBody>
                    <a:bodyPr/>
                    <a:lstStyle/>
                    <a:p>
                      <a:endParaRPr lang="en-US"/>
                    </a:p>
                  </a:txBody>
                  <a:tcPr/>
                </a:tc>
                <a:extLst>
                  <a:ext uri="{0D108BD9-81ED-4DB2-BD59-A6C34878D82A}">
                    <a16:rowId xmlns:a16="http://schemas.microsoft.com/office/drawing/2014/main" val="10007"/>
                  </a:ext>
                </a:extLst>
              </a:tr>
            </a:tbl>
          </a:graphicData>
        </a:graphic>
      </p:graphicFrame>
      <p:sp>
        <p:nvSpPr>
          <p:cNvPr id="26653" name="Slide Number Placeholder 3"/>
          <p:cNvSpPr>
            <a:spLocks noGrp="1"/>
          </p:cNvSpPr>
          <p:nvPr>
            <p:ph type="sldNum" sz="quarter" idx="4294967295"/>
          </p:nvPr>
        </p:nvSpPr>
        <p:spPr bwMode="auto">
          <a:xfrm>
            <a:off x="8613775" y="6305550"/>
            <a:ext cx="457200" cy="476250"/>
          </a:xfrm>
          <a:prstGeom prst="rect">
            <a:avLst/>
          </a:prstGeom>
          <a:noFill/>
          <a:ln>
            <a:miter lim="800000"/>
            <a:headEnd/>
            <a:tailEnd/>
          </a:ln>
        </p:spPr>
        <p:txBody>
          <a:bodyPr/>
          <a:lstStyle/>
          <a:p>
            <a:fld id="{C12DA6BF-7CBF-44B4-B9AD-259AB9C90C40}" type="slidenum">
              <a:rPr lang="zh-TW" altLang="en-US" smtClean="0"/>
              <a:pPr/>
              <a:t>80</a:t>
            </a:fld>
            <a:endParaRPr lang="zh-TW" altLang="en-US"/>
          </a:p>
        </p:txBody>
      </p:sp>
    </p:spTree>
  </p:cSld>
  <p:clrMapOvr>
    <a:masterClrMapping/>
  </p:clrMapOvr>
  <p:transition>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D552E-1BDC-421A-5EB8-77DD915015AD}"/>
              </a:ext>
            </a:extLst>
          </p:cNvPr>
          <p:cNvSpPr>
            <a:spLocks noGrp="1"/>
          </p:cNvSpPr>
          <p:nvPr>
            <p:ph type="title"/>
          </p:nvPr>
        </p:nvSpPr>
        <p:spPr/>
        <p:txBody>
          <a:bodyPr/>
          <a:lstStyle/>
          <a:p>
            <a:r>
              <a:rPr lang="en-IN" dirty="0"/>
              <a:t>Connection Oriented N/W</a:t>
            </a:r>
          </a:p>
        </p:txBody>
      </p:sp>
      <p:sp>
        <p:nvSpPr>
          <p:cNvPr id="3" name="Text Placeholder 2">
            <a:extLst>
              <a:ext uri="{FF2B5EF4-FFF2-40B4-BE49-F238E27FC236}">
                <a16:creationId xmlns:a16="http://schemas.microsoft.com/office/drawing/2014/main" id="{73552B81-839F-7078-57B8-7B3B9FB94CDE}"/>
              </a:ext>
            </a:extLst>
          </p:cNvPr>
          <p:cNvSpPr>
            <a:spLocks noGrp="1"/>
          </p:cNvSpPr>
          <p:nvPr>
            <p:ph type="body" idx="1"/>
          </p:nvPr>
        </p:nvSpPr>
        <p:spPr>
          <a:xfrm>
            <a:off x="0" y="1886838"/>
            <a:ext cx="9144000" cy="4308872"/>
          </a:xfrm>
        </p:spPr>
        <p:txBody>
          <a:bodyPr/>
          <a:lstStyle/>
          <a:p>
            <a:pPr marL="457200" indent="-457200">
              <a:buFont typeface="Arial" panose="020B0604020202020204" pitchFamily="34" charset="0"/>
              <a:buChar char="•"/>
            </a:pPr>
            <a:r>
              <a:rPr lang="en-US" b="0" dirty="0"/>
              <a:t>In a connection-oriented communication model, a dedicated path or virtual circuit is established between the sender and the receiver before any data is transmitted. </a:t>
            </a:r>
          </a:p>
          <a:p>
            <a:pPr marL="457200" indent="-457200">
              <a:buFont typeface="Arial" panose="020B0604020202020204" pitchFamily="34" charset="0"/>
              <a:buChar char="•"/>
            </a:pPr>
            <a:r>
              <a:rPr lang="en-US" b="0" dirty="0"/>
              <a:t>Only after the connection is established can data be sent. </a:t>
            </a:r>
          </a:p>
          <a:p>
            <a:pPr marL="457200" indent="-457200">
              <a:buFont typeface="Arial" panose="020B0604020202020204" pitchFamily="34" charset="0"/>
              <a:buChar char="•"/>
            </a:pPr>
            <a:r>
              <a:rPr lang="en-US" b="0" dirty="0"/>
              <a:t>Once the communication is complete, the connection is terminated.</a:t>
            </a:r>
          </a:p>
          <a:p>
            <a:pPr marL="457200" indent="-457200">
              <a:buFont typeface="Arial" panose="020B0604020202020204" pitchFamily="34" charset="0"/>
              <a:buChar char="•"/>
            </a:pPr>
            <a:r>
              <a:rPr lang="en-US" b="0" dirty="0"/>
              <a:t>Ex: TCP,SMTP, FTP, HTTP</a:t>
            </a:r>
          </a:p>
          <a:p>
            <a:endParaRPr lang="en-IN" dirty="0"/>
          </a:p>
        </p:txBody>
      </p:sp>
    </p:spTree>
    <p:extLst>
      <p:ext uri="{BB962C8B-B14F-4D97-AF65-F5344CB8AC3E}">
        <p14:creationId xmlns:p14="http://schemas.microsoft.com/office/powerpoint/2010/main" val="1608337673"/>
      </p:ext>
    </p:extLst>
  </p:cSld>
  <p:clrMapOvr>
    <a:masterClrMapping/>
  </p:clrMapOvr>
  <p:transition>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ABC2E-36B7-DAB9-1178-0887A0585899}"/>
              </a:ext>
            </a:extLst>
          </p:cNvPr>
          <p:cNvSpPr>
            <a:spLocks noGrp="1"/>
          </p:cNvSpPr>
          <p:nvPr>
            <p:ph type="title"/>
          </p:nvPr>
        </p:nvSpPr>
        <p:spPr/>
        <p:txBody>
          <a:bodyPr/>
          <a:lstStyle/>
          <a:p>
            <a:r>
              <a:rPr lang="en-IN" dirty="0"/>
              <a:t>TCP Process:</a:t>
            </a:r>
          </a:p>
        </p:txBody>
      </p:sp>
      <p:sp>
        <p:nvSpPr>
          <p:cNvPr id="4" name="Rectangle 1">
            <a:extLst>
              <a:ext uri="{FF2B5EF4-FFF2-40B4-BE49-F238E27FC236}">
                <a16:creationId xmlns:a16="http://schemas.microsoft.com/office/drawing/2014/main" id="{6A714F19-F738-82D3-6E59-D290F5BCAC8F}"/>
              </a:ext>
            </a:extLst>
          </p:cNvPr>
          <p:cNvSpPr>
            <a:spLocks noGrp="1" noChangeArrowheads="1"/>
          </p:cNvSpPr>
          <p:nvPr>
            <p:ph type="body" idx="1"/>
          </p:nvPr>
        </p:nvSpPr>
        <p:spPr bwMode="auto">
          <a:xfrm>
            <a:off x="38099" y="1600200"/>
            <a:ext cx="90678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Connection Setup (Three-Way Handshake):</a:t>
            </a:r>
            <a:r>
              <a:rPr kumimoji="0" lang="en-US" altLang="en-US" sz="1800" b="0" i="0" u="none" strike="noStrike" cap="none" normalizeH="0" baseline="0" dirty="0">
                <a:ln>
                  <a:noFill/>
                </a:ln>
                <a:solidFill>
                  <a:schemeClr val="tx1"/>
                </a:solidFill>
                <a:effectLst/>
                <a:latin typeface="Arial" panose="020B0604020202020204" pitchFamily="34" charset="0"/>
              </a:rPr>
              <a:t> Before sending data, a three-way</a:t>
            </a:r>
          </a:p>
          <a:p>
            <a:pPr marL="0" marR="0" lvl="0" indent="0" algn="l" defTabSz="914400" rtl="0" eaLnBrk="0" fontAlgn="base" latinLnBrk="0" hangingPunct="0">
              <a:lnSpc>
                <a:spcPct val="100000"/>
              </a:lnSpc>
              <a:spcBef>
                <a:spcPct val="0"/>
              </a:spcBef>
              <a:spcAft>
                <a:spcPct val="0"/>
              </a:spcAft>
              <a:buClrTx/>
              <a:buSzTx/>
              <a:tabLst/>
            </a:pPr>
            <a:r>
              <a:rPr lang="en-US" altLang="en-US" sz="1800" b="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handshake is done to establish the connection.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Transfer:</a:t>
            </a:r>
            <a:r>
              <a:rPr kumimoji="0" lang="en-US" altLang="en-US" sz="1800" b="0" i="0" u="none" strike="noStrike" cap="none" normalizeH="0" baseline="0" dirty="0">
                <a:ln>
                  <a:noFill/>
                </a:ln>
                <a:solidFill>
                  <a:schemeClr val="tx1"/>
                </a:solidFill>
                <a:effectLst/>
                <a:latin typeface="Arial" panose="020B0604020202020204" pitchFamily="34" charset="0"/>
              </a:rPr>
              <a:t> Data is sent, and retransmissions are requested if packets are lost.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Connection Termination:</a:t>
            </a:r>
            <a:r>
              <a:rPr kumimoji="0" lang="en-US" altLang="en-US" sz="1800" b="0" i="0" u="none" strike="noStrike" cap="none" normalizeH="0" baseline="0" dirty="0">
                <a:ln>
                  <a:noFill/>
                </a:ln>
                <a:solidFill>
                  <a:schemeClr val="tx1"/>
                </a:solidFill>
                <a:effectLst/>
                <a:latin typeface="Arial" panose="020B0604020202020204" pitchFamily="34" charset="0"/>
              </a:rPr>
              <a:t> The connection is closed after the transfer.</a:t>
            </a:r>
          </a:p>
        </p:txBody>
      </p:sp>
    </p:spTree>
    <p:extLst>
      <p:ext uri="{BB962C8B-B14F-4D97-AF65-F5344CB8AC3E}">
        <p14:creationId xmlns:p14="http://schemas.microsoft.com/office/powerpoint/2010/main" val="2126093347"/>
      </p:ext>
    </p:extLst>
  </p:cSld>
  <p:clrMapOvr>
    <a:masterClrMapping/>
  </p:clrMapOvr>
  <p:transition>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43673-5AC6-15AE-D282-6E4D747EA403}"/>
              </a:ext>
            </a:extLst>
          </p:cNvPr>
          <p:cNvSpPr>
            <a:spLocks noGrp="1"/>
          </p:cNvSpPr>
          <p:nvPr>
            <p:ph type="title"/>
          </p:nvPr>
        </p:nvSpPr>
        <p:spPr/>
        <p:txBody>
          <a:bodyPr/>
          <a:lstStyle/>
          <a:p>
            <a:r>
              <a:rPr lang="en-IN" dirty="0"/>
              <a:t>Key Characteristics:</a:t>
            </a:r>
          </a:p>
        </p:txBody>
      </p:sp>
      <p:sp>
        <p:nvSpPr>
          <p:cNvPr id="4" name="Rectangle 1">
            <a:extLst>
              <a:ext uri="{FF2B5EF4-FFF2-40B4-BE49-F238E27FC236}">
                <a16:creationId xmlns:a16="http://schemas.microsoft.com/office/drawing/2014/main" id="{C1C71B2A-ABA9-F13E-5817-3A4D882347D4}"/>
              </a:ext>
            </a:extLst>
          </p:cNvPr>
          <p:cNvSpPr>
            <a:spLocks noGrp="1" noChangeArrowheads="1"/>
          </p:cNvSpPr>
          <p:nvPr>
            <p:ph type="body" idx="1"/>
          </p:nvPr>
        </p:nvSpPr>
        <p:spPr bwMode="auto">
          <a:xfrm>
            <a:off x="0" y="2163373"/>
            <a:ext cx="911658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Reliability:</a:t>
            </a:r>
            <a:r>
              <a:rPr kumimoji="0" lang="en-US" altLang="en-US" sz="1800" b="0" i="0" u="none" strike="noStrike" cap="none" normalizeH="0" baseline="0" dirty="0">
                <a:ln>
                  <a:noFill/>
                </a:ln>
                <a:solidFill>
                  <a:schemeClr val="tx1"/>
                </a:solidFill>
                <a:effectLst/>
                <a:latin typeface="Arial" panose="020B0604020202020204" pitchFamily="34" charset="0"/>
              </a:rPr>
              <a:t> There is a guarantee that data will be delivered correctly and in order.</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Error Recovery:</a:t>
            </a:r>
            <a:r>
              <a:rPr kumimoji="0" lang="en-US" altLang="en-US" sz="1800" b="0" i="0" u="none" strike="noStrike" cap="none" normalizeH="0" baseline="0" dirty="0">
                <a:ln>
                  <a:noFill/>
                </a:ln>
                <a:solidFill>
                  <a:schemeClr val="tx1"/>
                </a:solidFill>
                <a:effectLst/>
                <a:latin typeface="Arial" panose="020B0604020202020204" pitchFamily="34" charset="0"/>
              </a:rPr>
              <a:t> Lost or corrupted packets are retransmitted.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Flow Control:</a:t>
            </a:r>
            <a:r>
              <a:rPr kumimoji="0" lang="en-US" altLang="en-US" sz="1800" b="0" i="0" u="none" strike="noStrike" cap="none" normalizeH="0" baseline="0" dirty="0">
                <a:ln>
                  <a:noFill/>
                </a:ln>
                <a:solidFill>
                  <a:schemeClr val="tx1"/>
                </a:solidFill>
                <a:effectLst/>
                <a:latin typeface="Arial" panose="020B0604020202020204" pitchFamily="34" charset="0"/>
              </a:rPr>
              <a:t> Mechanisms are in place to prevent the receiver from being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overwhelmed with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Session Establishment:</a:t>
            </a:r>
            <a:r>
              <a:rPr kumimoji="0" lang="en-US" altLang="en-US" sz="1800" b="0" i="0" u="none" strike="noStrike" cap="none" normalizeH="0" baseline="0" dirty="0">
                <a:ln>
                  <a:noFill/>
                </a:ln>
                <a:solidFill>
                  <a:schemeClr val="tx1"/>
                </a:solidFill>
                <a:effectLst/>
                <a:latin typeface="Arial" panose="020B0604020202020204" pitchFamily="34" charset="0"/>
              </a:rPr>
              <a:t> The devices first communicate to establish the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Session and decide on parameters like the data transfer rate,                                                                                                     			maximum size of packets, etc.</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Termination:</a:t>
            </a:r>
            <a:r>
              <a:rPr kumimoji="0" lang="en-US" altLang="en-US" sz="1800" b="0" i="0" u="none" strike="noStrike" cap="none" normalizeH="0" baseline="0" dirty="0">
                <a:ln>
                  <a:noFill/>
                </a:ln>
                <a:solidFill>
                  <a:schemeClr val="tx1"/>
                </a:solidFill>
                <a:effectLst/>
                <a:latin typeface="Arial" panose="020B0604020202020204" pitchFamily="34" charset="0"/>
              </a:rPr>
              <a:t> The session is explicitly terminated once the data transfer is complete.</a:t>
            </a:r>
          </a:p>
        </p:txBody>
      </p:sp>
    </p:spTree>
    <p:extLst>
      <p:ext uri="{BB962C8B-B14F-4D97-AF65-F5344CB8AC3E}">
        <p14:creationId xmlns:p14="http://schemas.microsoft.com/office/powerpoint/2010/main" val="3231141106"/>
      </p:ext>
    </p:extLst>
  </p:cSld>
  <p:clrMapOvr>
    <a:masterClrMapping/>
  </p:clrMapOvr>
  <p:transition>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2FBA8-CD9D-9732-D374-22AEE4F90521}"/>
              </a:ext>
            </a:extLst>
          </p:cNvPr>
          <p:cNvSpPr>
            <a:spLocks noGrp="1"/>
          </p:cNvSpPr>
          <p:nvPr>
            <p:ph type="title"/>
          </p:nvPr>
        </p:nvSpPr>
        <p:spPr>
          <a:xfrm>
            <a:off x="76200" y="365201"/>
            <a:ext cx="8915399" cy="777799"/>
          </a:xfrm>
        </p:spPr>
        <p:txBody>
          <a:bodyPr/>
          <a:lstStyle/>
          <a:p>
            <a:r>
              <a:rPr lang="en-IN" dirty="0"/>
              <a:t>Connectionless Communication</a:t>
            </a:r>
          </a:p>
        </p:txBody>
      </p:sp>
      <p:sp>
        <p:nvSpPr>
          <p:cNvPr id="3" name="Text Placeholder 2">
            <a:extLst>
              <a:ext uri="{FF2B5EF4-FFF2-40B4-BE49-F238E27FC236}">
                <a16:creationId xmlns:a16="http://schemas.microsoft.com/office/drawing/2014/main" id="{869E6071-DD66-DF6E-A079-7FBFDFA4E79E}"/>
              </a:ext>
            </a:extLst>
          </p:cNvPr>
          <p:cNvSpPr>
            <a:spLocks noGrp="1"/>
          </p:cNvSpPr>
          <p:nvPr>
            <p:ph type="body" idx="1"/>
          </p:nvPr>
        </p:nvSpPr>
        <p:spPr>
          <a:xfrm>
            <a:off x="528980" y="1886838"/>
            <a:ext cx="8086039" cy="3447098"/>
          </a:xfrm>
        </p:spPr>
        <p:txBody>
          <a:bodyPr/>
          <a:lstStyle/>
          <a:p>
            <a:pPr marL="457200" indent="-457200">
              <a:buFont typeface="Arial" panose="020B0604020202020204" pitchFamily="34" charset="0"/>
              <a:buChar char="•"/>
            </a:pPr>
            <a:r>
              <a:rPr lang="en-US" dirty="0"/>
              <a:t>In a connectionless communication model, there is no need for an established connection before data transmission.</a:t>
            </a:r>
          </a:p>
          <a:p>
            <a:r>
              <a:rPr lang="en-US" dirty="0"/>
              <a:t> </a:t>
            </a:r>
          </a:p>
          <a:p>
            <a:pPr marL="457200" indent="-457200">
              <a:buFont typeface="Arial" panose="020B0604020202020204" pitchFamily="34" charset="0"/>
              <a:buChar char="•"/>
            </a:pPr>
            <a:r>
              <a:rPr lang="en-US" dirty="0"/>
              <a:t>Each data packet is sent independently, and there is no guarantee of delivery or order. </a:t>
            </a:r>
          </a:p>
          <a:p>
            <a:endParaRPr lang="en-US" dirty="0"/>
          </a:p>
          <a:p>
            <a:pPr marL="457200" indent="-457200">
              <a:buFont typeface="Arial" panose="020B0604020202020204" pitchFamily="34" charset="0"/>
              <a:buChar char="•"/>
            </a:pPr>
            <a:r>
              <a:rPr lang="en-US" dirty="0"/>
              <a:t>Ex: UDP(User Data Gram Protocol)</a:t>
            </a:r>
            <a:endParaRPr lang="en-IN" dirty="0"/>
          </a:p>
        </p:txBody>
      </p:sp>
    </p:spTree>
    <p:extLst>
      <p:ext uri="{BB962C8B-B14F-4D97-AF65-F5344CB8AC3E}">
        <p14:creationId xmlns:p14="http://schemas.microsoft.com/office/powerpoint/2010/main" val="2700860229"/>
      </p:ext>
    </p:extLst>
  </p:cSld>
  <p:clrMapOvr>
    <a:masterClrMapping/>
  </p:clrMapOvr>
  <p:transition>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47296-773F-09EC-6B03-B61A61BB1354}"/>
              </a:ext>
            </a:extLst>
          </p:cNvPr>
          <p:cNvSpPr>
            <a:spLocks noGrp="1"/>
          </p:cNvSpPr>
          <p:nvPr>
            <p:ph type="title"/>
          </p:nvPr>
        </p:nvSpPr>
        <p:spPr/>
        <p:txBody>
          <a:bodyPr/>
          <a:lstStyle/>
          <a:p>
            <a:r>
              <a:rPr lang="en-IN" dirty="0"/>
              <a:t>UDP Process:</a:t>
            </a:r>
          </a:p>
        </p:txBody>
      </p:sp>
      <p:sp>
        <p:nvSpPr>
          <p:cNvPr id="4" name="Rectangle 1">
            <a:extLst>
              <a:ext uri="{FF2B5EF4-FFF2-40B4-BE49-F238E27FC236}">
                <a16:creationId xmlns:a16="http://schemas.microsoft.com/office/drawing/2014/main" id="{9A3BECB5-1692-A90A-1DE7-1D2B1F4599F3}"/>
              </a:ext>
            </a:extLst>
          </p:cNvPr>
          <p:cNvSpPr>
            <a:spLocks noGrp="1" noChangeArrowheads="1"/>
          </p:cNvSpPr>
          <p:nvPr>
            <p:ph type="body" idx="1"/>
          </p:nvPr>
        </p:nvSpPr>
        <p:spPr bwMode="auto">
          <a:xfrm>
            <a:off x="528980" y="3132867"/>
            <a:ext cx="801052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 Setup:</a:t>
            </a:r>
            <a:r>
              <a:rPr kumimoji="0" lang="en-US" altLang="en-US" sz="1800" b="0" i="0" u="none" strike="noStrike" cap="none" normalizeH="0" baseline="0" dirty="0">
                <a:ln>
                  <a:noFill/>
                </a:ln>
                <a:solidFill>
                  <a:schemeClr val="tx1"/>
                </a:solidFill>
                <a:effectLst/>
                <a:latin typeface="Arial" panose="020B0604020202020204" pitchFamily="34" charset="0"/>
              </a:rPr>
              <a:t> Data is sent without any handshake.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 Acknowledgment:</a:t>
            </a:r>
            <a:r>
              <a:rPr kumimoji="0" lang="en-US" altLang="en-US" sz="1800" b="0" i="0" u="none" strike="noStrike" cap="none" normalizeH="0" baseline="0" dirty="0">
                <a:ln>
                  <a:noFill/>
                </a:ln>
                <a:solidFill>
                  <a:schemeClr val="tx1"/>
                </a:solidFill>
                <a:effectLst/>
                <a:latin typeface="Arial" panose="020B0604020202020204" pitchFamily="34" charset="0"/>
              </a:rPr>
              <a:t> The sender does not wait for confirmation of receipt.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 Error Recovery:</a:t>
            </a:r>
            <a:r>
              <a:rPr kumimoji="0" lang="en-US" altLang="en-US" sz="1800" b="0" i="0" u="none" strike="noStrike" cap="none" normalizeH="0" baseline="0" dirty="0">
                <a:ln>
                  <a:noFill/>
                </a:ln>
                <a:solidFill>
                  <a:schemeClr val="tx1"/>
                </a:solidFill>
                <a:effectLst/>
                <a:latin typeface="Arial" panose="020B0604020202020204" pitchFamily="34" charset="0"/>
              </a:rPr>
              <a:t> Lost packets are not retransmitted automatically.</a:t>
            </a:r>
          </a:p>
        </p:txBody>
      </p:sp>
    </p:spTree>
    <p:extLst>
      <p:ext uri="{BB962C8B-B14F-4D97-AF65-F5344CB8AC3E}">
        <p14:creationId xmlns:p14="http://schemas.microsoft.com/office/powerpoint/2010/main" val="2334627757"/>
      </p:ext>
    </p:extLst>
  </p:cSld>
  <p:clrMapOvr>
    <a:masterClrMapping/>
  </p:clrMapOvr>
  <p:transition>
    <p:wipe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0AB0B-8271-1020-EB8B-730CADBAD5E6}"/>
              </a:ext>
            </a:extLst>
          </p:cNvPr>
          <p:cNvSpPr>
            <a:spLocks noGrp="1"/>
          </p:cNvSpPr>
          <p:nvPr>
            <p:ph type="title"/>
          </p:nvPr>
        </p:nvSpPr>
        <p:spPr/>
        <p:txBody>
          <a:bodyPr/>
          <a:lstStyle/>
          <a:p>
            <a:r>
              <a:rPr lang="en-IN" dirty="0"/>
              <a:t>Key Characteristics:</a:t>
            </a:r>
          </a:p>
        </p:txBody>
      </p:sp>
      <p:sp>
        <p:nvSpPr>
          <p:cNvPr id="4" name="Rectangle 1">
            <a:extLst>
              <a:ext uri="{FF2B5EF4-FFF2-40B4-BE49-F238E27FC236}">
                <a16:creationId xmlns:a16="http://schemas.microsoft.com/office/drawing/2014/main" id="{6E53A277-097D-E2EF-E917-F91349B0A821}"/>
              </a:ext>
            </a:extLst>
          </p:cNvPr>
          <p:cNvSpPr>
            <a:spLocks noGrp="1" noChangeArrowheads="1"/>
          </p:cNvSpPr>
          <p:nvPr>
            <p:ph type="body" idx="1"/>
          </p:nvPr>
        </p:nvSpPr>
        <p:spPr bwMode="auto">
          <a:xfrm>
            <a:off x="528980" y="2163374"/>
            <a:ext cx="841768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 Setup or Termination:</a:t>
            </a:r>
            <a:r>
              <a:rPr kumimoji="0" lang="en-US" altLang="en-US" sz="1800" b="0" i="0" u="none" strike="noStrike" cap="none" normalizeH="0" baseline="0" dirty="0">
                <a:ln>
                  <a:noFill/>
                </a:ln>
                <a:solidFill>
                  <a:schemeClr val="tx1"/>
                </a:solidFill>
                <a:effectLst/>
                <a:latin typeface="Arial" panose="020B0604020202020204" pitchFamily="34" charset="0"/>
              </a:rPr>
              <a:t> Data can be sent immediately without the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overhead of establishing or terminating a connection.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Unreliable:</a:t>
            </a:r>
            <a:r>
              <a:rPr kumimoji="0" lang="en-US" altLang="en-US" sz="1800" b="0" i="0" u="none" strike="noStrike" cap="none" normalizeH="0" baseline="0" dirty="0">
                <a:ln>
                  <a:noFill/>
                </a:ln>
                <a:solidFill>
                  <a:schemeClr val="tx1"/>
                </a:solidFill>
                <a:effectLst/>
                <a:latin typeface="Arial" panose="020B0604020202020204" pitchFamily="34" charset="0"/>
              </a:rPr>
              <a:t> There is no guarantee that the data will reach the destination.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Lost packets are not retransmitted automatically.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 Flow Control or Error Recovery:</a:t>
            </a:r>
            <a:r>
              <a:rPr kumimoji="0" lang="en-US" altLang="en-US" sz="1800" b="0" i="0" u="none" strike="noStrike" cap="none" normalizeH="0" baseline="0" dirty="0">
                <a:ln>
                  <a:noFill/>
                </a:ln>
                <a:solidFill>
                  <a:schemeClr val="tx1"/>
                </a:solidFill>
                <a:effectLst/>
                <a:latin typeface="Arial" panose="020B0604020202020204" pitchFamily="34" charset="0"/>
              </a:rPr>
              <a:t> The sender does not wait for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acknowledgment from the receiver </a:t>
            </a:r>
          </a:p>
          <a:p>
            <a:pPr marL="0" marR="0" lvl="0" indent="0" algn="l" defTabSz="914400" rtl="0" eaLnBrk="0" fontAlgn="base" latinLnBrk="0" hangingPunct="0">
              <a:lnSpc>
                <a:spcPct val="100000"/>
              </a:lnSpc>
              <a:spcBef>
                <a:spcPct val="0"/>
              </a:spcBef>
              <a:spcAft>
                <a:spcPct val="0"/>
              </a:spcAft>
              <a:buClrTx/>
              <a:buSzTx/>
              <a:tabLst/>
            </a:pPr>
            <a:r>
              <a:rPr lang="en-US" altLang="en-US" sz="1800" b="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before sending more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Packet-Based:</a:t>
            </a:r>
            <a:r>
              <a:rPr kumimoji="0" lang="en-US" altLang="en-US" sz="1800" b="0" i="0" u="none" strike="noStrike" cap="none" normalizeH="0" baseline="0" dirty="0">
                <a:ln>
                  <a:noFill/>
                </a:ln>
                <a:solidFill>
                  <a:schemeClr val="tx1"/>
                </a:solidFill>
                <a:effectLst/>
                <a:latin typeface="Arial" panose="020B0604020202020204" pitchFamily="34" charset="0"/>
              </a:rPr>
              <a:t> Each packet is independent, with the destination information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included in the packet itself</a:t>
            </a:r>
          </a:p>
        </p:txBody>
      </p:sp>
    </p:spTree>
    <p:extLst>
      <p:ext uri="{BB962C8B-B14F-4D97-AF65-F5344CB8AC3E}">
        <p14:creationId xmlns:p14="http://schemas.microsoft.com/office/powerpoint/2010/main" val="1755579449"/>
      </p:ext>
    </p:extLst>
  </p:cSld>
  <p:clrMapOvr>
    <a:masterClrMapping/>
  </p:clrMapOvr>
  <p:transition>
    <p:wipe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771</TotalTime>
  <Words>3526</Words>
  <Application>Microsoft Office PowerPoint</Application>
  <PresentationFormat>On-screen Show (4:3)</PresentationFormat>
  <Paragraphs>581</Paragraphs>
  <Slides>86</Slides>
  <Notes>12</Notes>
  <HiddenSlides>0</HiddenSlides>
  <MMClips>1</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86</vt:i4>
      </vt:variant>
    </vt:vector>
  </HeadingPairs>
  <TitlesOfParts>
    <vt:vector size="99" baseType="lpstr">
      <vt:lpstr>PMingLiU</vt:lpstr>
      <vt:lpstr>Arial</vt:lpstr>
      <vt:lpstr>Arial MT</vt:lpstr>
      <vt:lpstr>Calibri</vt:lpstr>
      <vt:lpstr>Courier New</vt:lpstr>
      <vt:lpstr>Gill Sans MT</vt:lpstr>
      <vt:lpstr>Microsoft Sans Serif</vt:lpstr>
      <vt:lpstr>Segoe UI</vt:lpstr>
      <vt:lpstr>Times New Roman</vt:lpstr>
      <vt:lpstr>Trebuchet MS</vt:lpstr>
      <vt:lpstr>Wingdings</vt:lpstr>
      <vt:lpstr>Wingdings 2</vt:lpstr>
      <vt:lpstr>Office Theme</vt:lpstr>
      <vt:lpstr>COMPUTER NETWORKS(A8519)</vt:lpstr>
      <vt:lpstr>Unit 1 Syllabus</vt:lpstr>
      <vt:lpstr>Unit 1 Overview</vt:lpstr>
      <vt:lpstr>Contd..</vt:lpstr>
      <vt:lpstr>Contd..</vt:lpstr>
      <vt:lpstr>Contd…</vt:lpstr>
      <vt:lpstr>PowerPoint Presentation</vt:lpstr>
      <vt:lpstr>DEFINTION &amp; APPLICATIONS</vt:lpstr>
      <vt:lpstr>USE OF COMPUTER  NETWORK</vt:lpstr>
      <vt:lpstr>APPLICATIONS OF COMPUTER  NETWORK</vt:lpstr>
      <vt:lpstr>APPLICATIONS OF COMPUTER  NETWORK</vt:lpstr>
      <vt:lpstr>COMPONENTS OF COMPUTER  NETWORK</vt:lpstr>
      <vt:lpstr>BENEFITS OF COMPUTER  NETWORK</vt:lpstr>
      <vt:lpstr>DISADVATAGES OF NETWORKS</vt:lpstr>
      <vt:lpstr>CLASSIFICATION COMPUTER NETWORK</vt:lpstr>
      <vt:lpstr>PERSONAL AREA NETWORK(PAN)</vt:lpstr>
      <vt:lpstr>LOCAL AREA NETWORK(LAN)</vt:lpstr>
      <vt:lpstr>WIDE AREA NETWORK(WAN)</vt:lpstr>
      <vt:lpstr>METROPOLITAN AREA NETWORK(MAN)</vt:lpstr>
      <vt:lpstr>PowerPoint Presentation</vt:lpstr>
      <vt:lpstr>DISTINGUISH BETWEEN LAN,WAN,MAN</vt:lpstr>
      <vt:lpstr>Characteristics of Computer N/W</vt:lpstr>
      <vt:lpstr>Fault tolerance</vt:lpstr>
      <vt:lpstr>Scalability</vt:lpstr>
      <vt:lpstr>Quality of services</vt:lpstr>
      <vt:lpstr>Security</vt:lpstr>
      <vt:lpstr> Data Communication</vt:lpstr>
      <vt:lpstr>PowerPoint Presentation</vt:lpstr>
      <vt:lpstr>TOPOLOGY</vt:lpstr>
      <vt:lpstr>TOPOLOGY</vt:lpstr>
      <vt:lpstr>TOPOLOGY</vt:lpstr>
      <vt:lpstr>TOPOLOGY</vt:lpstr>
      <vt:lpstr>NETWORK CLASSIFICATION BY THEIR  COMPONENT ROLE</vt:lpstr>
      <vt:lpstr>PEER TO PEER NETWORK</vt:lpstr>
      <vt:lpstr>ADVANTAGES &amp; DISADVANTAGES  OF PEER TO PEER NETWORK</vt:lpstr>
      <vt:lpstr>CLIENT/SERVER NETWORK</vt:lpstr>
      <vt:lpstr>ADVANTAGES AND DISADVANTAGES  OF CLIENT-SERVER NETWORK</vt:lpstr>
      <vt:lpstr>PowerPoint Presentation</vt:lpstr>
      <vt:lpstr>PowerPoint Presentation</vt:lpstr>
      <vt:lpstr>PowerPoint Presentation</vt:lpstr>
      <vt:lpstr>PowerPoint Presentation</vt:lpstr>
      <vt:lpstr>Message encoding</vt:lpstr>
      <vt:lpstr>Message formatting and encapsulation </vt:lpstr>
      <vt:lpstr>PowerPoint Presentation</vt:lpstr>
      <vt:lpstr>Classification Of Transmission Media: </vt:lpstr>
      <vt:lpstr>TRANMISSION MEDIA</vt:lpstr>
      <vt:lpstr>TRANMISSION MEDIA</vt:lpstr>
      <vt:lpstr>TRANMISSION MEDIA</vt:lpstr>
      <vt:lpstr>TRANMISSION MEDIA</vt:lpstr>
      <vt:lpstr>TRANMISSION MEDIA</vt:lpstr>
      <vt:lpstr>TRANMISSION MEDIA</vt:lpstr>
      <vt:lpstr>HARDWARE DEVICES</vt:lpstr>
      <vt:lpstr>HARDWARE DEVICES</vt:lpstr>
      <vt:lpstr>HARDWARE DEVICES</vt:lpstr>
      <vt:lpstr>HARDWARE DEVICES</vt:lpstr>
      <vt:lpstr>HARDWARE DEVICES</vt:lpstr>
      <vt:lpstr>REFERNCE MODELS</vt:lpstr>
      <vt:lpstr>Out Line</vt:lpstr>
      <vt:lpstr>Introduction OSI </vt:lpstr>
      <vt:lpstr>OSI Layers</vt:lpstr>
      <vt:lpstr>PowerPoint Presentation</vt:lpstr>
      <vt:lpstr>Layer1: Physical Layer</vt:lpstr>
      <vt:lpstr>Real-World Example for Physical Layer  </vt:lpstr>
      <vt:lpstr>Layer 2: Data Link Layer</vt:lpstr>
      <vt:lpstr>Real-World Example for Data Link Layer  </vt:lpstr>
      <vt:lpstr>Layer 3: Network Layer</vt:lpstr>
      <vt:lpstr>Real-World Example for Network Layer</vt:lpstr>
      <vt:lpstr>Layer 4: Transport Layer</vt:lpstr>
      <vt:lpstr>Real-World Example for Transport Layer</vt:lpstr>
      <vt:lpstr>Layer 5: Session Layer</vt:lpstr>
      <vt:lpstr>Real-World Example for Session Layer</vt:lpstr>
      <vt:lpstr>Layer 6: Presentation Layer</vt:lpstr>
      <vt:lpstr>Real-World Example for Presentation Layer</vt:lpstr>
      <vt:lpstr>Layer 7: Application Layer</vt:lpstr>
      <vt:lpstr>Real-World Example for Application Layer</vt:lpstr>
      <vt:lpstr>PowerPoint Presentation</vt:lpstr>
      <vt:lpstr>PowerPoint Presentation</vt:lpstr>
      <vt:lpstr>Every time you make a video call: </vt:lpstr>
      <vt:lpstr>Introduction TCP/IP</vt:lpstr>
      <vt:lpstr>TCP/IP Layers</vt:lpstr>
      <vt:lpstr>Connection Oriented N/W</vt:lpstr>
      <vt:lpstr>TCP Process:</vt:lpstr>
      <vt:lpstr>Key Characteristics:</vt:lpstr>
      <vt:lpstr>Connectionless Communication</vt:lpstr>
      <vt:lpstr>UDP Process:</vt:lpstr>
      <vt:lpstr>Key Characteristics: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 OF NETWORK</dc:title>
  <dc:creator>Ashita Agrawal</dc:creator>
  <cp:lastModifiedBy>k.shashank sharma</cp:lastModifiedBy>
  <cp:revision>97</cp:revision>
  <dcterms:created xsi:type="dcterms:W3CDTF">2024-07-29T12:25:10Z</dcterms:created>
  <dcterms:modified xsi:type="dcterms:W3CDTF">2025-07-03T15:02:45Z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2015-10-21T00:00:00Z</vt:filetime>
  </property>
  <property fmtid="{D5CDD505-2E9C-101B-9397-08002B2CF9AE}" pid="3" name="Creator">
    <vt:lpwstr>Microsoft® Office PowerPoint® 2007</vt:lpwstr>
  </property>
  <property fmtid="{D5CDD505-2E9C-101B-9397-08002B2CF9AE}" pid="4" name="LastSaved">
    <vt:filetime>2024-07-29T00:00:00Z</vt:filetime>
  </property>
</Properties>
</file>